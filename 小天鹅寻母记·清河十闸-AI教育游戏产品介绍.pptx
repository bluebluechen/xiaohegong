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slides/slide13.xml" Type="http://schemas.openxmlformats.org/officeDocument/2006/relationships/slide"/><Relationship Id="rId22" Target="slides/slide14.xml" Type="http://schemas.openxmlformats.org/officeDocument/2006/relationships/slide"/><Relationship Id="rId23" Target="slides/slide15.xml" Type="http://schemas.openxmlformats.org/officeDocument/2006/relationships/slide"/><Relationship Id="rId24" Target="slides/slide16.xml" Type="http://schemas.openxmlformats.org/officeDocument/2006/relationships/slide"/><Relationship Id="rId25" Target="slides/slide17.xml" Type="http://schemas.openxmlformats.org/officeDocument/2006/relationships/slide"/><Relationship Id="rId26" Target="notesSlides/notesSlide1.xml" Type="http://schemas.openxmlformats.org/officeDocument/2006/relationships/notesSlide"/><Relationship Id="rId27" Target="notesSlides/notesSlide2.xml" Type="http://schemas.openxmlformats.org/officeDocument/2006/relationships/notesSlide"/><Relationship Id="rId28" Target="notesSlides/notesSlide3.xml" Type="http://schemas.openxmlformats.org/officeDocument/2006/relationships/notesSlide"/><Relationship Id="rId29" Target="notesSlides/notesSlide4.xml" Type="http://schemas.openxmlformats.org/officeDocument/2006/relationships/notesSlide"/><Relationship Id="rId3" Target="presProps.xml" Type="http://schemas.openxmlformats.org/officeDocument/2006/relationships/presProps"/><Relationship Id="rId30" Target="notesSlides/notesSlide5.xml" Type="http://schemas.openxmlformats.org/officeDocument/2006/relationships/notesSlide"/><Relationship Id="rId31" Target="notesSlides/notesSlide6.xml" Type="http://schemas.openxmlformats.org/officeDocument/2006/relationships/notesSlide"/><Relationship Id="rId32" Target="notesSlides/notesSlide7.xml" Type="http://schemas.openxmlformats.org/officeDocument/2006/relationships/notesSlide"/><Relationship Id="rId33" Target="notesSlides/notesSlide8.xml" Type="http://schemas.openxmlformats.org/officeDocument/2006/relationships/notesSlide"/><Relationship Id="rId34" Target="notesSlides/notesSlide9.xml" Type="http://schemas.openxmlformats.org/officeDocument/2006/relationships/notesSlide"/><Relationship Id="rId35" Target="notesSlides/notesSlide10.xml" Type="http://schemas.openxmlformats.org/officeDocument/2006/relationships/notesSlide"/><Relationship Id="rId36" Target="notesSlides/notesSlide11.xml" Type="http://schemas.openxmlformats.org/officeDocument/2006/relationships/notesSlide"/><Relationship Id="rId37" Target="notesSlides/notesSlide12.xml" Type="http://schemas.openxmlformats.org/officeDocument/2006/relationships/notesSlide"/><Relationship Id="rId38" Target="notesSlides/notesSlide13.xml" Type="http://schemas.openxmlformats.org/officeDocument/2006/relationships/notesSlide"/><Relationship Id="rId39" Target="notesSlides/notesSlide14.xml" Type="http://schemas.openxmlformats.org/officeDocument/2006/relationships/notesSlide"/><Relationship Id="rId4" Target="slideMasters/slideMaster1.xml" Type="http://schemas.openxmlformats.org/officeDocument/2006/relationships/slideMaster"/><Relationship Id="rId40" Target="notesSlides/notesSlide15.xml" Type="http://schemas.openxmlformats.org/officeDocument/2006/relationships/notesSlide"/><Relationship Id="rId41" Target="notesSlides/notesSlide16.xml" Type="http://schemas.openxmlformats.org/officeDocument/2006/relationships/notesSlide"/><Relationship Id="rId42" Target="notesSlides/notesSlide17.xml" Type="http://schemas.openxmlformats.org/officeDocument/2006/relationships/notesSlide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各位领导好，今天汇报的是我们为清河之洲策划的一款 AI+教育游戏——《小天鹅寻母记》。孩子将扮演一只顺河而下寻找妈妈的小天鹅，沿清河穿过十座真实水闸，答对闸名与知识才能开闸。这是一个"产品形态"的介绍，其中包含一个可交互的 Demo。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汇报分五个部分：先讲为什么做，再讲产品怎么设计，然后现场演示 Demo，接着说明题库与 AI 能力，最后是多端产品形态、教育价值和落地路线。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清河全长 23.6 公里，上世纪 60 年代起建有十座水闸。清河之洲作为先行示范段 2023 年开园，日均客流 3000 到 5000、节假日峰值超 4 万，还获得了 2026 伦敦设计奖金奖。水鸟鱼类回归、活动不断，但游客看过即走，文化和生态没有沉淀下来——这正是我们做 AI 教育游戏的机会。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一句话定位：以小天鹅寻母为主线、沿清河十闸答题闯关的 AI 教育游戏。四个设计原则：地图即关卡，用真实的清河地图和水闸；剧情即动力，用寻母故事牵引；知识即答案，答题才能开闸；AI 即老师，全程陪伴并自适应难度。目标用户是 6 到 14 岁亲子家庭、中小学研学和景区游客。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故事分四幕：启程——小天鹅原本和妈妈生活在西山碧云寺脚下；变故——妈妈不见了，小天鹅猜她往东看海去了；闯关——顺河穿过十闸，答对闸名才能开闸；重逢——温榆河口母子相会，再向东就是大运河和大海。关键设计是：孩子不是在刷题，而是在帮小天鹅找妈妈，题目就是剧情的下一站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玩法是一个五步闭环：先看闸口自述（先学后答），再作答闸名，答对播放开闸动画，知识卡自动入图鉴，然后解锁下一关。答错不惩罚，AI 向导先给位置线索、再给字形线索，引导孩子自己答对。配套激励有进度、道具、图鉴、称号和排行榜。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是十闸关卡总表。每关包含位置、闸型特征和核心考点，比如安河闸是"清0"起点、树村闸闸上带楼、外环跌水闸是唯一拦水坝、沙子营闸翻板式可当桥。孩子的任务不是背答案，而是在游戏中把每座闸的位置和故事对上号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这是 Demo 的起始页。打开后是一张手绘清河地图，河流西起西山碧云寺、东至温榆河口，十座水闸按真实顺序排列在河上。只有第一关安河闸金色高亮，其他关卡锁定，引导孩子从起点开始。顶部常驻闯关进度和 AI 向导入口。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点开水闸后先看到闸口自述，比如安河闸会讲自己在京密引水渠东岸、旁边有"清0"石碑，答案线索就藏在叙述里。孩子四选一作答，也可以语音回答。答错不扣分，AI 向导给出分层提示；答对播放开闸动画，知识卡和道具入图鉴。整体是鼓励式设计，让孩子自己答对。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十闸全部通过后进入结局：小天鹅在温榆河口找到妈妈，点题"向东看海"。页面给出成绩单——通关数、图鉴数、答对题数和用时，授予"清河小卫士"称号，还能一键生成研学证书分享。图鉴可以回看，AI 每次复游还能生成新题，保证复玩价值。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题库分四大知识域：水闸工程，讲年代、闸型、启闭和功能；历史遗产，覆盖广济桥、清河古城、詹天佑火车站等六处古迹；三山五园文化，包括圆明园景观、乾隆诗、碧云寺和京密引水；生态科普，讲天鹅、鱼类鸟类和岸坡之变。题型有选择、判断、连线、语音问答，AI 可持续生成新题。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AI 架构分三层：底层是清河知识图谱，沉淀十闸、古迹、三山五园和生态数据；中间是教育大模型，通过 RAG 检索清河知识，完成出题、难度自适应和语音识别；上层直接体现在游戏体验里。落地为五大能力：出题组卷、天鹅向导对话、语音交互、AI 讲解和学习画像。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产品有四种形态：小程序和 H5 解决线上触达和分享；景区互动大屏放在清河之洲现场，开屏即玩、聚人气；线下 AR 打卡引导游客走到闸口实地，扫码看 AR 开闸；研学课程版支持班级组队、教师后台和自动报告。同一套账号、进度和图鉴，四端无缝衔接。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教育价值分三层目标：知识上，掌握清河流向、十闸水利、古迹和生态常识；能力上，锻炼观察、探究、解决问题和表达；情感上，理解人水和谐、认同家乡文化。每关都是一个"前置学习—现场探究—总结表达"的研学单元。交付物有通关证书、AI 研学报告和配套研学手册。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运营上靠节庆赛季、图鉴收集和社交组队持续拉动复游，同时联动景区现有的天鹅拿铁、天鹅杯等文创。商业化有四条路径：游戏奖励给景区二销导流；研学课程和教师后台面向学校机构做 B 端；关卡冠名和赛季赞助引入品牌合作；长期用会员体系沉淀用户。一句话：游戏做入口，研学做基本盘，文创做闭环。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落地分三期。一期 1–2 个月，十闸主线小程序/H5 上线，100+ 题库，在清河之洲铺二维码试点。二期 3–6 个月，加语音、大屏和 AR 实地打卡，做多语种和节庆赛季。三期 6–12 个月，推出研学课程版和教师后台，扩展到温榆河流域，建会员体系。每期都能独立交付，节奏可按预算调整。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用一句话收束：让孩子在游戏中，读懂一条河。小天鹅的旅程，就是清河的故事。这是为海淀文旅集团清河之洲打造的 AI+教育游戏，感谢聆听，欢迎现场扫码体验 Demo。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5.xml" Type="http://schemas.openxmlformats.org/officeDocument/2006/relationships/notesSlid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7.png" Type="http://schemas.openxmlformats.org/officeDocument/2006/relationships/image"/><Relationship Id="rId3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8.png" Type="http://schemas.openxmlformats.org/officeDocument/2006/relationships/image"/><Relationship Id="rId3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9.png" Type="http://schemas.openxmlformats.org/officeDocument/2006/relationships/image"/><Relationship Id="rId3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11.xml" Type="http://schemas.openxmlformats.org/officeDocument/2006/relationships/notesSlide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20.png" Type="http://schemas.openxmlformats.org/officeDocument/2006/relationships/image"/><Relationship Id="rId5" Target="../media/image21.sv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30.png" Type="http://schemas.openxmlformats.org/officeDocument/2006/relationships/image"/><Relationship Id="rId11" Target="../media/image31.svg" Type="http://schemas.openxmlformats.org/officeDocument/2006/relationships/image"/><Relationship Id="rId12" Target="../notesSlides/notesSlide12.xml" Type="http://schemas.openxmlformats.org/officeDocument/2006/relationships/notesSlide"/><Relationship Id="rId2" Target="../media/image24.png" Type="http://schemas.openxmlformats.org/officeDocument/2006/relationships/image"/><Relationship Id="rId3" Target="../media/image25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26.png" Type="http://schemas.openxmlformats.org/officeDocument/2006/relationships/image"/><Relationship Id="rId7" Target="../media/image27.svg" Type="http://schemas.openxmlformats.org/officeDocument/2006/relationships/image"/><Relationship Id="rId8" Target="../media/image28.png" Type="http://schemas.openxmlformats.org/officeDocument/2006/relationships/image"/><Relationship Id="rId9" Target="../media/image29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13.xml" Type="http://schemas.openxmlformats.org/officeDocument/2006/relationships/notesSlide"/><Relationship Id="rId2" Target="../media/image32.png" Type="http://schemas.openxmlformats.org/officeDocument/2006/relationships/image"/><Relationship Id="rId3" Target="../media/image33.svg" Type="http://schemas.openxmlformats.org/officeDocument/2006/relationships/image"/><Relationship Id="rId4" Target="../media/image34.png" Type="http://schemas.openxmlformats.org/officeDocument/2006/relationships/image"/><Relationship Id="rId5" Target="../media/image35.svg" Type="http://schemas.openxmlformats.org/officeDocument/2006/relationships/image"/><Relationship Id="rId6" Target="../media/image36.png" Type="http://schemas.openxmlformats.org/officeDocument/2006/relationships/image"/><Relationship Id="rId7" Target="../media/image37.svg" Type="http://schemas.openxmlformats.org/officeDocument/2006/relationships/image"/><Relationship Id="rId8" Target="../media/image38.png" Type="http://schemas.openxmlformats.org/officeDocument/2006/relationships/image"/><Relationship Id="rId9" Target="../media/image39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46.svg" Type="http://schemas.openxmlformats.org/officeDocument/2006/relationships/image"/><Relationship Id="rId11" Target="../media/image30.png" Type="http://schemas.openxmlformats.org/officeDocument/2006/relationships/image"/><Relationship Id="rId12" Target="../media/image31.svg" Type="http://schemas.openxmlformats.org/officeDocument/2006/relationships/image"/><Relationship Id="rId13" Target="../media/image47.png" Type="http://schemas.openxmlformats.org/officeDocument/2006/relationships/image"/><Relationship Id="rId14" Target="../media/image48.svg" Type="http://schemas.openxmlformats.org/officeDocument/2006/relationships/image"/><Relationship Id="rId15" Target="../notesSlides/notesSlide14.xml" Type="http://schemas.openxmlformats.org/officeDocument/2006/relationships/notesSlide"/><Relationship Id="rId2" Target="../media/image40.png" Type="http://schemas.openxmlformats.org/officeDocument/2006/relationships/image"/><Relationship Id="rId3" Target="../media/image41.svg" Type="http://schemas.openxmlformats.org/officeDocument/2006/relationships/image"/><Relationship Id="rId4" Target="../media/image42.png" Type="http://schemas.openxmlformats.org/officeDocument/2006/relationships/image"/><Relationship Id="rId5" Target="../media/image43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44.jpeg" Type="http://schemas.openxmlformats.org/officeDocument/2006/relationships/image"/><Relationship Id="rId9" Target="../media/image45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9.png" Type="http://schemas.openxmlformats.org/officeDocument/2006/relationships/image"/><Relationship Id="rId3" Target="../media/image50.svg" Type="http://schemas.openxmlformats.org/officeDocument/2006/relationships/image"/><Relationship Id="rId4" Target="../media/image30.png" Type="http://schemas.openxmlformats.org/officeDocument/2006/relationships/image"/><Relationship Id="rId5" Target="../media/image31.svg" Type="http://schemas.openxmlformats.org/officeDocument/2006/relationships/image"/><Relationship Id="rId6" Target="../notesSlides/notesSlide15.xml" Type="http://schemas.openxmlformats.org/officeDocument/2006/relationships/notesSlide"/></Relationships>
</file>

<file path=ppt/slides/_rels/slide1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6.xml" Type="http://schemas.openxmlformats.org/officeDocument/2006/relationships/notesSlide"/></Relationships>
</file>

<file path=ppt/slides/_rels/slide1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51.png" Type="http://schemas.openxmlformats.org/officeDocument/2006/relationships/image"/><Relationship Id="rId3" Target="../media/image52.svg" Type="http://schemas.openxmlformats.org/officeDocument/2006/relationships/image"/><Relationship Id="rId4" Target="../notesSlides/notesSlide17.xml" Type="http://schemas.openxmlformats.org/officeDocument/2006/relationships/notesSlide"/><Relationship Id="rId5" Target="../media/image5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7812" b="7812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073036">
                  <a:alpha val="88000"/>
                </a:srgbClr>
              </a:gs>
              <a:gs pos="52000">
                <a:srgbClr val="0A3F45">
                  <a:alpha val="62000"/>
                </a:srgbClr>
              </a:gs>
              <a:gs pos="100000">
                <a:srgbClr val="0E5C63">
                  <a:alpha val="30000"/>
                </a:srgbClr>
              </a:gs>
            </a:gsLst>
            <a:lin ang="270000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812800" y="812800"/>
            <a:ext cx="457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E4C987"/>
                </a:solidFill>
                <a:latin typeface="Noto Sans SC"/>
                <a:ea typeface="Noto Sans SC"/>
                <a:cs typeface="Noto Sans SC"/>
                <a:sym typeface="Noto Sans SC"/>
              </a:rPr>
              <a:t>AI + 教育游戏 · 产品介绍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63654" flipH="false" flipV="false">
            <a:off x="812859" y="1365250"/>
            <a:ext cx="685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C9A24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6" id="6"/>
          <p:cNvSpPr txBox="true"/>
          <p:nvPr/>
        </p:nvSpPr>
        <p:spPr>
          <a:xfrm rot="0" flipH="false" flipV="false">
            <a:off x="762000" y="3530600"/>
            <a:ext cx="10668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5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小天鹅寻母记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812800" y="4699000"/>
            <a:ext cx="8890000" cy="533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300">
                <a:solidFill>
                  <a:srgbClr val="E4C987"/>
                </a:solidFill>
                <a:latin typeface="Noto Sans SC"/>
                <a:ea typeface="Noto Sans SC"/>
                <a:cs typeface="Noto Sans SC"/>
                <a:sym typeface="Noto Sans SC"/>
              </a:rPr>
              <a:t>清河十闸 · 闯关东游记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4131" flipH="false" flipV="false">
            <a:off x="812804" y="59880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2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 txBox="true"/>
          <p:nvPr/>
        </p:nvSpPr>
        <p:spPr>
          <a:xfrm rot="0" flipH="false" flipV="false">
            <a:off x="812800" y="6121400"/>
            <a:ext cx="533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DCE6E4"/>
                </a:solidFill>
                <a:latin typeface="Noto Sans SC"/>
                <a:ea typeface="Noto Sans SC"/>
                <a:cs typeface="Noto Sans SC"/>
                <a:sym typeface="Noto Sans SC"/>
              </a:rPr>
              <a:t>海淀文旅集团 · 清河之洲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8890000" y="6121400"/>
            <a:ext cx="24892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DCE6E4"/>
                </a:solidFill>
                <a:latin typeface="Noto Sans SC"/>
                <a:ea typeface="Noto Sans SC"/>
                <a:cs typeface="Noto Sans SC"/>
                <a:sym typeface="Noto Sans SC"/>
              </a:rPr>
              <a:t>2026 年 10 月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6F3EB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812800" y="1905000"/>
            <a:ext cx="3048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400">
                <a:solidFill>
                  <a:srgbClr val="0A3F45"/>
                </a:solidFill>
                <a:latin typeface="Noto Sans SC"/>
                <a:ea typeface="Noto Sans SC"/>
                <a:cs typeface="Noto Sans SC"/>
                <a:sym typeface="Noto Sans SC"/>
              </a:rPr>
              <a:t>目录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838200" y="2844800"/>
            <a:ext cx="3048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A6802D"/>
                </a:solidFill>
                <a:latin typeface="Noto Sans SC"/>
                <a:ea typeface="Noto Sans SC"/>
                <a:cs typeface="Noto Sans SC"/>
                <a:sym typeface="Noto Sans SC"/>
              </a:rPr>
              <a:t>CONTENTS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66102" flipH="false" flipV="false">
            <a:off x="838261" y="3321050"/>
            <a:ext cx="660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C9A24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5" id="5"/>
          <p:cNvSpPr txBox="true"/>
          <p:nvPr/>
        </p:nvSpPr>
        <p:spPr>
          <a:xfrm rot="0" flipH="false" flipV="false">
            <a:off x="838200" y="3657600"/>
            <a:ext cx="3302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50000"/>
              </a:lnSpc>
              <a:defRPr/>
            </a:pPr>
            <a:r>
              <a:rPr lang="en-US" b="false" i="false" strike="noStrike" u="none" sz="1300">
                <a:solidFill>
                  <a:srgbClr val="8A9695"/>
                </a:solidFill>
                <a:latin typeface="Noto Sans SC"/>
                <a:ea typeface="Noto Sans SC"/>
                <a:cs typeface="Noto Sans SC"/>
                <a:sym typeface="Noto Sans SC"/>
              </a:rPr>
              <a:t>清河之洲 AI+教育游戏</a:t>
            </a:r>
            <a:endParaRPr lang="en-US" sz="1100"/>
          </a:p>
          <a:p>
            <a:pPr algn="l" marL="0" indent="0">
              <a:lnSpc>
                <a:spcPct val="150000"/>
              </a:lnSpc>
            </a:pPr>
            <a:r>
              <a:rPr lang="en-US" b="false" i="false" strike="noStrike" u="none" sz="1300">
                <a:solidFill>
                  <a:srgbClr val="8A9695"/>
                </a:solidFill>
                <a:latin typeface="Noto Sans SC"/>
                <a:ea typeface="Noto Sans SC"/>
                <a:cs typeface="Noto Sans SC"/>
                <a:sym typeface="Noto Sans SC"/>
              </a:rPr>
              <a:t>产品形态介绍</a:t>
            </a:r>
          </a:p>
        </p:txBody>
      </p:sp>
      <p:cxnSp>
        <p:nvCxnSpPr>
          <p:cNvPr name="Connector 6" id="6"/>
          <p:cNvCxnSpPr/>
          <p:nvPr/>
        </p:nvCxnSpPr>
        <p:spPr>
          <a:xfrm rot="5389707" flipH="false" flipV="false">
            <a:off x="2705100" y="3333760"/>
            <a:ext cx="4241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8E0D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 txBox="true"/>
          <p:nvPr/>
        </p:nvSpPr>
        <p:spPr>
          <a:xfrm rot="0" flipH="false" flipV="false">
            <a:off x="5232400" y="1168400"/>
            <a:ext cx="889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A6802D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6121400" y="1168400"/>
            <a:ext cx="508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900">
                <a:solidFill>
                  <a:srgbClr val="0A3F45"/>
                </a:solidFill>
                <a:latin typeface="Noto Sans SC"/>
                <a:ea typeface="Noto Sans SC"/>
                <a:cs typeface="Noto Sans SC"/>
                <a:sym typeface="Noto Sans SC"/>
              </a:rPr>
              <a:t>背景与机会</a:t>
            </a:r>
            <a:endParaRPr lang="en-US" sz="1100"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6121400" y="1536700"/>
            <a:ext cx="5334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8A9695"/>
                </a:solidFill>
                <a:latin typeface="Noto Sans SC"/>
                <a:ea typeface="Noto Sans SC"/>
                <a:cs typeface="Noto Sans SC"/>
                <a:sym typeface="Noto Sans SC"/>
              </a:rPr>
              <a:t>清河之洲的流量基础与数字化缺口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5232400" y="2133600"/>
            <a:ext cx="889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A6802D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6121400" y="2133600"/>
            <a:ext cx="508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900">
                <a:solidFill>
                  <a:srgbClr val="0A3F45"/>
                </a:solidFill>
                <a:latin typeface="Noto Sans SC"/>
                <a:ea typeface="Noto Sans SC"/>
                <a:cs typeface="Noto Sans SC"/>
                <a:sym typeface="Noto Sans SC"/>
              </a:rPr>
              <a:t>产品设计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6121400" y="2501900"/>
            <a:ext cx="5334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8A9695"/>
                </a:solidFill>
                <a:latin typeface="Noto Sans SC"/>
                <a:ea typeface="Noto Sans SC"/>
                <a:cs typeface="Noto Sans SC"/>
                <a:sym typeface="Noto Sans SC"/>
              </a:rPr>
              <a:t>定位 · 故事主线 · 核心玩法 · 关卡设计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5232400" y="3098800"/>
            <a:ext cx="889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A6802D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6121400" y="3098800"/>
            <a:ext cx="508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900">
                <a:solidFill>
                  <a:srgbClr val="0A3F45"/>
                </a:solidFill>
                <a:latin typeface="Noto Sans SC"/>
                <a:ea typeface="Noto Sans SC"/>
                <a:cs typeface="Noto Sans SC"/>
                <a:sym typeface="Noto Sans SC"/>
              </a:rPr>
              <a:t>Demo 演示</a:t>
            </a:r>
            <a:endParaRPr lang="en-US" sz="1100"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6121400" y="3467100"/>
            <a:ext cx="5334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8A9695"/>
                </a:solidFill>
                <a:latin typeface="Noto Sans SC"/>
                <a:ea typeface="Noto Sans SC"/>
                <a:cs typeface="Noto Sans SC"/>
                <a:sym typeface="Noto Sans SC"/>
              </a:rPr>
              <a:t>路线图 · 答题闯关 · 通关结局</a:t>
            </a:r>
            <a:endParaRPr lang="en-US" sz="1100"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5232400" y="4064000"/>
            <a:ext cx="889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A6802D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6121400" y="4064000"/>
            <a:ext cx="508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900">
                <a:solidFill>
                  <a:srgbClr val="0A3F45"/>
                </a:solidFill>
                <a:latin typeface="Noto Sans SC"/>
                <a:ea typeface="Noto Sans SC"/>
                <a:cs typeface="Noto Sans SC"/>
                <a:sym typeface="Noto Sans SC"/>
              </a:rPr>
              <a:t>知识与 AI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0" flipH="false" flipV="false">
            <a:off x="6121400" y="4432300"/>
            <a:ext cx="5334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8A9695"/>
                </a:solidFill>
                <a:latin typeface="Noto Sans SC"/>
                <a:ea typeface="Noto Sans SC"/>
                <a:cs typeface="Noto Sans SC"/>
                <a:sym typeface="Noto Sans SC"/>
              </a:rPr>
              <a:t>题库体系与 AI 能力架构</a:t>
            </a:r>
            <a:endParaRPr lang="en-US" sz="1100"/>
          </a:p>
        </p:txBody>
      </p:sp>
      <p:sp>
        <p:nvSpPr>
          <p:cNvPr name="AutoShape 19" id="19"/>
          <p:cNvSpPr txBox="true"/>
          <p:nvPr/>
        </p:nvSpPr>
        <p:spPr>
          <a:xfrm rot="0" flipH="false" flipV="false">
            <a:off x="5232400" y="5029200"/>
            <a:ext cx="889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A6802D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</p:txBody>
      </p:sp>
      <p:sp>
        <p:nvSpPr>
          <p:cNvPr name="AutoShape 20" id="20"/>
          <p:cNvSpPr txBox="true"/>
          <p:nvPr/>
        </p:nvSpPr>
        <p:spPr>
          <a:xfrm rot="0" flipH="false" flipV="false">
            <a:off x="6121400" y="5029200"/>
            <a:ext cx="508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900">
                <a:solidFill>
                  <a:srgbClr val="0A3F45"/>
                </a:solidFill>
                <a:latin typeface="Noto Sans SC"/>
                <a:ea typeface="Noto Sans SC"/>
                <a:cs typeface="Noto Sans SC"/>
                <a:sym typeface="Noto Sans SC"/>
              </a:rPr>
              <a:t>形态与落地</a:t>
            </a:r>
            <a:endParaRPr lang="en-US" sz="1100"/>
          </a:p>
        </p:txBody>
      </p:sp>
      <p:sp>
        <p:nvSpPr>
          <p:cNvPr name="AutoShape 21" id="21"/>
          <p:cNvSpPr txBox="true"/>
          <p:nvPr/>
        </p:nvSpPr>
        <p:spPr>
          <a:xfrm rot="0" flipH="false" flipV="false">
            <a:off x="6121400" y="5397500"/>
            <a:ext cx="5334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8A9695"/>
                </a:solidFill>
                <a:latin typeface="Noto Sans SC"/>
                <a:ea typeface="Noto Sans SC"/>
                <a:cs typeface="Noto Sans SC"/>
                <a:sym typeface="Noto Sans SC"/>
              </a:rPr>
              <a:t>多端形态 · 教育价值 · 运营规划与路线图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711200" y="558800"/>
            <a:ext cx="1041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0A3F45"/>
                </a:solidFill>
                <a:latin typeface="Noto Sans SC"/>
                <a:ea typeface="Noto Sans SC"/>
                <a:cs typeface="Noto Sans SC"/>
                <a:sym typeface="Noto Sans SC"/>
              </a:rPr>
              <a:t>清河之洲：海淀“金腰带”上的顶流公园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66102" flipH="false" flipV="false">
            <a:off x="711261" y="1162050"/>
            <a:ext cx="660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C9A24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4" id="4"/>
          <p:cNvSpPr txBox="true"/>
          <p:nvPr/>
        </p:nvSpPr>
        <p:spPr>
          <a:xfrm rot="0" flipH="false" flipV="false">
            <a:off x="711200" y="1676400"/>
            <a:ext cx="27940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0E5C63"/>
                </a:solidFill>
                <a:latin typeface="Noto Sans SC"/>
                <a:ea typeface="Noto Sans SC"/>
                <a:cs typeface="Noto Sans SC"/>
                <a:sym typeface="Noto Sans SC"/>
              </a:rPr>
              <a:t>23.6 公里</a:t>
            </a:r>
            <a:endParaRPr lang="en-US" sz="1100"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736600" y="2413000"/>
            <a:ext cx="3048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8A9695"/>
                </a:solidFill>
                <a:latin typeface="Noto Sans SC"/>
                <a:ea typeface="Noto Sans SC"/>
                <a:cs typeface="Noto Sans SC"/>
                <a:sym typeface="Noto Sans SC"/>
              </a:rPr>
              <a:t>清河全长，流经海淀、朝阳、昌平、顺义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3810000" y="1676400"/>
            <a:ext cx="27940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0E5C63"/>
                </a:solidFill>
                <a:latin typeface="Noto Sans SC"/>
                <a:ea typeface="Noto Sans SC"/>
                <a:cs typeface="Noto Sans SC"/>
                <a:sym typeface="Noto Sans SC"/>
              </a:rPr>
              <a:t>10 座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3835400" y="2413000"/>
            <a:ext cx="3048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8A9695"/>
                </a:solidFill>
                <a:latin typeface="Noto Sans SC"/>
                <a:ea typeface="Noto Sans SC"/>
                <a:cs typeface="Noto Sans SC"/>
                <a:sym typeface="Noto Sans SC"/>
              </a:rPr>
              <a:t>高标准水闸，1960 年代起陆续建成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711200" y="3200400"/>
            <a:ext cx="30480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0E5C63"/>
                </a:solidFill>
                <a:latin typeface="Noto Sans SC"/>
                <a:ea typeface="Noto Sans SC"/>
                <a:cs typeface="Noto Sans SC"/>
                <a:sym typeface="Noto Sans SC"/>
              </a:rPr>
              <a:t>3000–5000</a:t>
            </a:r>
            <a:endParaRPr lang="en-US" sz="1100"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736600" y="3937000"/>
            <a:ext cx="3048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8A9695"/>
                </a:solidFill>
                <a:latin typeface="Noto Sans SC"/>
                <a:ea typeface="Noto Sans SC"/>
                <a:cs typeface="Noto Sans SC"/>
                <a:sym typeface="Noto Sans SC"/>
              </a:rPr>
              <a:t>公园日均客流（人次）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3810000" y="3200400"/>
            <a:ext cx="30480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0E5C63"/>
                </a:solidFill>
                <a:latin typeface="Noto Sans SC"/>
                <a:ea typeface="Noto Sans SC"/>
                <a:cs typeface="Noto Sans SC"/>
                <a:sym typeface="Noto Sans SC"/>
              </a:rPr>
              <a:t>4 万+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3835400" y="3937000"/>
            <a:ext cx="3048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8A9695"/>
                </a:solidFill>
                <a:latin typeface="Noto Sans SC"/>
                <a:ea typeface="Noto Sans SC"/>
                <a:cs typeface="Noto Sans SC"/>
                <a:sym typeface="Noto Sans SC"/>
              </a:rPr>
              <a:t>节假日单日客流峰值</a:t>
            </a:r>
            <a:endParaRPr lang="en-US" sz="1100"/>
          </a:p>
        </p:txBody>
      </p:sp>
      <p:cxnSp>
        <p:nvCxnSpPr>
          <p:cNvPr name="Connector 12" id="12"/>
          <p:cNvCxnSpPr/>
          <p:nvPr/>
        </p:nvCxnSpPr>
        <p:spPr>
          <a:xfrm rot="-7408" flipH="false" flipV="false">
            <a:off x="711207" y="4718050"/>
            <a:ext cx="589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8E0D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3" id="13"/>
          <p:cNvSpPr txBox="true"/>
          <p:nvPr/>
        </p:nvSpPr>
        <p:spPr>
          <a:xfrm rot="0" flipH="false" flipV="false">
            <a:off x="711200" y="4902200"/>
            <a:ext cx="5969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false" i="false" strike="noStrike" u="none" sz="1400">
                <a:solidFill>
                  <a:srgbClr val="465554"/>
                </a:solidFill>
                <a:latin typeface="Noto Sans SC"/>
                <a:ea typeface="Noto Sans SC"/>
                <a:cs typeface="Noto Sans SC"/>
                <a:sym typeface="Noto Sans SC"/>
              </a:rPr>
              <a:t>公园 2023 年 10 月开园，国风游园、骑行观鸟等活动四季不断。</a:t>
            </a:r>
            <a:endParaRPr lang="en-US" sz="1100"/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400">
                <a:solidFill>
                  <a:srgbClr val="465554"/>
                </a:solidFill>
                <a:latin typeface="Noto Sans SC"/>
                <a:ea typeface="Noto Sans SC"/>
                <a:cs typeface="Noto Sans SC"/>
                <a:sym typeface="Noto Sans SC"/>
              </a:rPr>
              <a:t>但游客多“看过即走”：清河的历史与生态，缺少能被孩子带走、被家庭传播的数字载体。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2"/>
          <a:srcRect l="95" r="95" t="0" b="0"/>
          <a:stretch>
            <a:fillRect/>
          </a:stretch>
        </p:blipFill>
        <p:spPr>
          <a:xfrm rot="0" flipH="false" flipV="false">
            <a:off x="7315200" y="1473200"/>
            <a:ext cx="4165600" cy="27813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5" id="15"/>
          <p:cNvSpPr txBox="true"/>
          <p:nvPr/>
        </p:nvSpPr>
        <p:spPr>
          <a:xfrm rot="0" flipH="false" flipV="false">
            <a:off x="7315200" y="4343400"/>
            <a:ext cx="41910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50000"/>
              </a:lnSpc>
              <a:defRPr/>
            </a:pPr>
            <a:r>
              <a:rPr lang="en-US" b="true" i="false" strike="noStrike" u="none" sz="1300">
                <a:solidFill>
                  <a:srgbClr val="465554"/>
                </a:solidFill>
                <a:latin typeface="Noto Sans SC"/>
                <a:ea typeface="Noto Sans SC"/>
                <a:cs typeface="Noto Sans SC"/>
                <a:sym typeface="Noto Sans SC"/>
              </a:rPr>
              <a:t>2026 伦敦设计奖金奖</a:t>
            </a:r>
            <a:r>
              <a:rPr lang="en-US" b="false" i="false" strike="noStrike" u="none" sz="1300">
                <a:solidFill>
                  <a:srgbClr val="465554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50000"/>
              </a:lnSpc>
            </a:pPr>
            <a:r>
              <a:rPr lang="en-US" b="false" i="false" strike="noStrike" u="none" sz="1300">
                <a:solidFill>
                  <a:srgbClr val="465554"/>
                </a:solidFill>
                <a:latin typeface="Noto Sans SC"/>
                <a:ea typeface="Noto Sans SC"/>
                <a:cs typeface="Noto Sans SC"/>
                <a:sym typeface="Noto Sans SC"/>
              </a:rPr>
              <a:t>水质稳定三类，观测到 30 多种鱼类、90 多种鸟类，含七八种国家一、二级保护动物</a:t>
            </a:r>
          </a:p>
        </p:txBody>
      </p:sp>
      <p:cxnSp>
        <p:nvCxnSpPr>
          <p:cNvPr name="Connector 16" id="16"/>
          <p:cNvCxnSpPr/>
          <p:nvPr/>
        </p:nvCxnSpPr>
        <p:spPr>
          <a:xfrm rot="-4053" flipH="false" flipV="false">
            <a:off x="711204" y="62928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8E0D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7" id="17"/>
          <p:cNvSpPr txBox="true"/>
          <p:nvPr/>
        </p:nvSpPr>
        <p:spPr>
          <a:xfrm rot="0" flipH="false" flipV="false">
            <a:off x="711200" y="6400800"/>
            <a:ext cx="381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8A9695"/>
                </a:solidFill>
                <a:latin typeface="Noto Sans SC"/>
                <a:ea typeface="Noto Sans SC"/>
                <a:cs typeface="Noto Sans SC"/>
                <a:sym typeface="Noto Sans SC"/>
              </a:rPr>
              <a:t>清河之洲 · AI+教育游戏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0" flipH="false" flipV="false">
            <a:off x="8255000" y="6400800"/>
            <a:ext cx="32258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8A9695"/>
                </a:solidFill>
                <a:latin typeface="Noto Sans SC"/>
                <a:ea typeface="Noto Sans SC"/>
                <a:cs typeface="Noto Sans SC"/>
                <a:sym typeface="Noto Sans SC"/>
              </a:rPr>
              <a:t>01 背景与机会 · 03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711200" y="558800"/>
            <a:ext cx="1041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0A3F45"/>
                </a:solidFill>
                <a:latin typeface="Noto Sans SC"/>
                <a:ea typeface="Noto Sans SC"/>
                <a:cs typeface="Noto Sans SC"/>
                <a:sym typeface="Noto Sans SC"/>
              </a:rPr>
              <a:t>产品定位：把清河变成一条可以“玩”的研学路线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66102" flipH="false" flipV="false">
            <a:off x="711261" y="1162050"/>
            <a:ext cx="660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C9A24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4" id="4"/>
          <p:cNvSpPr/>
          <p:nvPr/>
        </p:nvSpPr>
        <p:spPr>
          <a:xfrm rot="0" flipH="false" flipV="false">
            <a:off x="711200" y="1625600"/>
            <a:ext cx="76200" cy="1168400"/>
          </a:xfrm>
          <a:prstGeom prst="roundRect">
            <a:avLst>
              <a:gd name="adj" fmla="val 0"/>
            </a:avLst>
          </a:prstGeom>
          <a:solidFill>
            <a:srgbClr val="C9A24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1066800" y="1625600"/>
            <a:ext cx="10363200" cy="1168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2600">
                <a:solidFill>
                  <a:srgbClr val="0A3F45"/>
                </a:solidFill>
                <a:latin typeface="Noto Sans SC"/>
                <a:ea typeface="Noto Sans SC"/>
                <a:cs typeface="Noto Sans SC"/>
                <a:sym typeface="Noto Sans SC"/>
              </a:rPr>
              <a:t>一款以“小天鹅寻母”为主线、沿清河十闸答题闯关的 AI 教育游戏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711200" y="3378200"/>
            <a:ext cx="1016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A6802D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711200" y="3784600"/>
            <a:ext cx="2540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E5C63"/>
                </a:solidFill>
                <a:latin typeface="Noto Sans SC"/>
                <a:ea typeface="Noto Sans SC"/>
                <a:cs typeface="Noto Sans SC"/>
                <a:sym typeface="Noto Sans SC"/>
              </a:rPr>
              <a:t>地图即关卡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711200" y="4140200"/>
            <a:ext cx="24892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false" i="false" strike="noStrike" u="none" sz="1250">
                <a:solidFill>
                  <a:srgbClr val="465554"/>
                </a:solidFill>
                <a:latin typeface="Noto Sans SC"/>
                <a:ea typeface="Noto Sans SC"/>
                <a:cs typeface="Noto Sans SC"/>
                <a:sym typeface="Noto Sans SC"/>
              </a:rPr>
              <a:t>一张清河路线图，十座真实水闸，按真实顺序排布、逐关解锁</a:t>
            </a:r>
            <a:endParaRPr lang="en-US" sz="1100"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3403600" y="3378200"/>
            <a:ext cx="1016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A6802D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3403600" y="3784600"/>
            <a:ext cx="2540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E5C63"/>
                </a:solidFill>
                <a:latin typeface="Noto Sans SC"/>
                <a:ea typeface="Noto Sans SC"/>
                <a:cs typeface="Noto Sans SC"/>
                <a:sym typeface="Noto Sans SC"/>
              </a:rPr>
              <a:t>剧情即动力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3403600" y="4140200"/>
            <a:ext cx="24892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false" i="false" strike="noStrike" u="none" sz="1250">
                <a:solidFill>
                  <a:srgbClr val="465554"/>
                </a:solidFill>
                <a:latin typeface="Noto Sans SC"/>
                <a:ea typeface="Noto Sans SC"/>
                <a:cs typeface="Noto Sans SC"/>
                <a:sym typeface="Noto Sans SC"/>
              </a:rPr>
              <a:t>天鹅寻母、一路向东，用情感故事驱动孩子主动学下去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6096000" y="3378200"/>
            <a:ext cx="1016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A6802D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6096000" y="3784600"/>
            <a:ext cx="2540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E5C63"/>
                </a:solidFill>
                <a:latin typeface="Noto Sans SC"/>
                <a:ea typeface="Noto Sans SC"/>
                <a:cs typeface="Noto Sans SC"/>
                <a:sym typeface="Noto Sans SC"/>
              </a:rPr>
              <a:t>知识即答案</a:t>
            </a:r>
            <a:endParaRPr lang="en-US" sz="1100"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6096000" y="4140200"/>
            <a:ext cx="24892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false" i="false" strike="noStrike" u="none" sz="1250">
                <a:solidFill>
                  <a:srgbClr val="465554"/>
                </a:solidFill>
                <a:latin typeface="Noto Sans SC"/>
                <a:ea typeface="Noto Sans SC"/>
                <a:cs typeface="Noto Sans SC"/>
                <a:sym typeface="Noto Sans SC"/>
              </a:rPr>
              <a:t>水闸、古迹、三山五园、生态科普，答中即可开闸</a:t>
            </a:r>
            <a:endParaRPr lang="en-US" sz="1100"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8788400" y="3378200"/>
            <a:ext cx="1016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A6802D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8788400" y="3784600"/>
            <a:ext cx="2540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E5C63"/>
                </a:solidFill>
                <a:latin typeface="Noto Sans SC"/>
                <a:ea typeface="Noto Sans SC"/>
                <a:cs typeface="Noto Sans SC"/>
                <a:sym typeface="Noto Sans SC"/>
              </a:rPr>
              <a:t>AI 即老师</a:t>
            </a:r>
            <a:endParaRPr lang="en-US" sz="1100"/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8788400" y="4140200"/>
            <a:ext cx="26924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false" i="false" strike="noStrike" u="none" sz="1250">
                <a:solidFill>
                  <a:srgbClr val="465554"/>
                </a:solidFill>
                <a:latin typeface="Noto Sans SC"/>
                <a:ea typeface="Noto Sans SC"/>
                <a:cs typeface="Noto Sans SC"/>
                <a:sym typeface="Noto Sans SC"/>
              </a:rPr>
              <a:t>AI 天鹅向导陪伴出题、讲解、鼓励，难度因人而异</a:t>
            </a:r>
            <a:endParaRPr lang="en-US" sz="1100"/>
          </a:p>
        </p:txBody>
      </p:sp>
      <p:cxnSp>
        <p:nvCxnSpPr>
          <p:cNvPr name="Connector 18" id="18"/>
          <p:cNvCxnSpPr/>
          <p:nvPr/>
        </p:nvCxnSpPr>
        <p:spPr>
          <a:xfrm rot="-4053" flipH="false" flipV="false">
            <a:off x="711204" y="54546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8E0D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19" id="19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711200" y="5715000"/>
            <a:ext cx="279400" cy="279400"/>
          </a:xfrm>
          <a:prstGeom prst="rect">
            <a:avLst/>
          </a:prstGeom>
        </p:spPr>
      </p:pic>
      <p:sp>
        <p:nvSpPr>
          <p:cNvPr name="AutoShape 20" id="20"/>
          <p:cNvSpPr txBox="true"/>
          <p:nvPr/>
        </p:nvSpPr>
        <p:spPr>
          <a:xfrm rot="0" flipH="false" flipV="false">
            <a:off x="1117600" y="5689600"/>
            <a:ext cx="7620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465554"/>
                </a:solidFill>
                <a:latin typeface="Noto Sans SC"/>
                <a:ea typeface="Noto Sans SC"/>
                <a:cs typeface="Noto Sans SC"/>
                <a:sym typeface="Noto Sans SC"/>
              </a:rPr>
              <a:t>目标用户：</a:t>
            </a:r>
            <a:r>
              <a:rPr lang="en-US" b="false" i="false" strike="noStrike" u="none" sz="1400">
                <a:solidFill>
                  <a:srgbClr val="465554"/>
                </a:solidFill>
                <a:latin typeface="Noto Sans SC"/>
                <a:ea typeface="Noto Sans SC"/>
                <a:cs typeface="Noto Sans SC"/>
                <a:sym typeface="Noto Sans SC"/>
              </a:rPr>
              <a:t>6–14 岁亲子家庭 · 中小学研学 · 景区游客</a:t>
            </a:r>
            <a:endParaRPr lang="en-US" sz="1100"/>
          </a:p>
        </p:txBody>
      </p:sp>
      <p:cxnSp>
        <p:nvCxnSpPr>
          <p:cNvPr name="Connector 21" id="21"/>
          <p:cNvCxnSpPr/>
          <p:nvPr/>
        </p:nvCxnSpPr>
        <p:spPr>
          <a:xfrm rot="-4053" flipH="false" flipV="false">
            <a:off x="711204" y="62928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8E0D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2" id="22"/>
          <p:cNvSpPr txBox="true"/>
          <p:nvPr/>
        </p:nvSpPr>
        <p:spPr>
          <a:xfrm rot="0" flipH="false" flipV="false">
            <a:off x="711200" y="6400800"/>
            <a:ext cx="381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8A9695"/>
                </a:solidFill>
                <a:latin typeface="Noto Sans SC"/>
                <a:ea typeface="Noto Sans SC"/>
                <a:cs typeface="Noto Sans SC"/>
                <a:sym typeface="Noto Sans SC"/>
              </a:rPr>
              <a:t>清河之洲 · AI+教育游戏</a:t>
            </a:r>
            <a:endParaRPr lang="en-US" sz="1100"/>
          </a:p>
        </p:txBody>
      </p:sp>
      <p:sp>
        <p:nvSpPr>
          <p:cNvPr name="AutoShape 23" id="23"/>
          <p:cNvSpPr txBox="true"/>
          <p:nvPr/>
        </p:nvSpPr>
        <p:spPr>
          <a:xfrm rot="0" flipH="false" flipV="false">
            <a:off x="8255000" y="6400800"/>
            <a:ext cx="32258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8A9695"/>
                </a:solidFill>
                <a:latin typeface="Noto Sans SC"/>
                <a:ea typeface="Noto Sans SC"/>
                <a:cs typeface="Noto Sans SC"/>
                <a:sym typeface="Noto Sans SC"/>
              </a:rPr>
              <a:t>02 产品设计 · 04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711200" y="5588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0A3F45"/>
                </a:solidFill>
                <a:latin typeface="Noto Sans SC"/>
                <a:ea typeface="Noto Sans SC"/>
                <a:cs typeface="Noto Sans SC"/>
                <a:sym typeface="Noto Sans SC"/>
              </a:rPr>
              <a:t>故事主线：一只小天鹅的 23.6 公里寻母之旅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66102" flipH="false" flipV="false">
            <a:off x="711261" y="1162050"/>
            <a:ext cx="660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C9A24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name="Connector 4" id="4"/>
          <p:cNvCxnSpPr/>
          <p:nvPr/>
        </p:nvCxnSpPr>
        <p:spPr>
          <a:xfrm rot="-19532" flipH="false" flipV="false">
            <a:off x="1803418" y="3168650"/>
            <a:ext cx="2235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E5C63">
                <a:alpha val="35000"/>
              </a:srgbClr>
            </a:solidFill>
            <a:prstDash val="dash"/>
            <a:round/>
            <a:headEnd type="none" w="lg" len="lg"/>
            <a:tailEnd type="none" w="lg" len="lg"/>
          </a:ln>
        </p:spPr>
      </p:cxnSp>
      <p:cxnSp>
        <p:nvCxnSpPr>
          <p:cNvPr name="Connector 5" id="5"/>
          <p:cNvCxnSpPr/>
          <p:nvPr/>
        </p:nvCxnSpPr>
        <p:spPr>
          <a:xfrm rot="-19532" flipH="false" flipV="false">
            <a:off x="4851418" y="3168650"/>
            <a:ext cx="2235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E5C63">
                <a:alpha val="35000"/>
              </a:srgbClr>
            </a:solidFill>
            <a:prstDash val="dash"/>
            <a:round/>
            <a:headEnd type="none" w="lg" len="lg"/>
            <a:tailEnd type="none" w="lg" len="lg"/>
          </a:ln>
        </p:spPr>
      </p:cxnSp>
      <p:cxnSp>
        <p:nvCxnSpPr>
          <p:cNvPr name="Connector 6" id="6"/>
          <p:cNvCxnSpPr/>
          <p:nvPr/>
        </p:nvCxnSpPr>
        <p:spPr>
          <a:xfrm rot="-19532" flipH="false" flipV="false">
            <a:off x="7899418" y="3168650"/>
            <a:ext cx="2235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E5C63">
                <a:alpha val="35000"/>
              </a:srgbClr>
            </a:solidFill>
            <a:prstDash val="dash"/>
            <a:round/>
            <a:headEnd type="none" w="lg" len="lg"/>
            <a:tailEnd type="arrow" w="lg" len="lg"/>
          </a:ln>
        </p:spPr>
      </p:cxnSp>
      <p:sp>
        <p:nvSpPr>
          <p:cNvPr name="AutoShape 7" id="7"/>
          <p:cNvSpPr txBox="true"/>
          <p:nvPr/>
        </p:nvSpPr>
        <p:spPr>
          <a:xfrm rot="0" flipH="false" flipV="false">
            <a:off x="762000" y="2286000"/>
            <a:ext cx="127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A6802D"/>
                </a:solidFill>
                <a:latin typeface="Noto Sans SC"/>
                <a:ea typeface="Noto Sans SC"/>
                <a:cs typeface="Noto Sans SC"/>
                <a:sym typeface="Noto Sans SC"/>
              </a:rPr>
              <a:t>启程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2794000"/>
            <a:ext cx="762000" cy="762000"/>
          </a:xfrm>
          <a:prstGeom prst="ellipse">
            <a:avLst/>
          </a:prstGeom>
          <a:solidFill>
            <a:srgbClr val="0E5C63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206500" y="2984500"/>
            <a:ext cx="381000" cy="381000"/>
          </a:xfrm>
          <a:prstGeom prst="rect">
            <a:avLst/>
          </a:prstGeom>
        </p:spPr>
      </p:pic>
      <p:sp>
        <p:nvSpPr>
          <p:cNvPr name="AutoShape 10" id="10"/>
          <p:cNvSpPr txBox="true"/>
          <p:nvPr/>
        </p:nvSpPr>
        <p:spPr>
          <a:xfrm rot="0" flipH="false" flipV="false">
            <a:off x="508000" y="3759200"/>
            <a:ext cx="1778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41666"/>
              </a:lnSpc>
              <a:defRPr/>
            </a:pPr>
            <a:r>
              <a:rPr lang="en-US" b="false" i="false" strike="noStrike" u="none" sz="1250">
                <a:solidFill>
                  <a:srgbClr val="465554"/>
                </a:solidFill>
                <a:latin typeface="Noto Sans SC"/>
                <a:ea typeface="Noto Sans SC"/>
                <a:cs typeface="Noto Sans SC"/>
                <a:sym typeface="Noto Sans SC"/>
              </a:rPr>
              <a:t>西山碧云寺脚下的水边，小天鹅和妈妈原本的家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3810000" y="2286000"/>
            <a:ext cx="127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A6802D"/>
                </a:solidFill>
                <a:latin typeface="Noto Sans SC"/>
                <a:ea typeface="Noto Sans SC"/>
                <a:cs typeface="Noto Sans SC"/>
                <a:sym typeface="Noto Sans SC"/>
              </a:rPr>
              <a:t>变故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064000" y="2794000"/>
            <a:ext cx="762000" cy="762000"/>
          </a:xfrm>
          <a:prstGeom prst="ellipse">
            <a:avLst/>
          </a:prstGeom>
          <a:solidFill>
            <a:srgbClr val="0E5C63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254500" y="2984500"/>
            <a:ext cx="381000" cy="381000"/>
          </a:xfrm>
          <a:prstGeom prst="rect">
            <a:avLst/>
          </a:prstGeom>
        </p:spPr>
      </p:pic>
      <p:sp>
        <p:nvSpPr>
          <p:cNvPr name="AutoShape 14" id="14"/>
          <p:cNvSpPr txBox="true"/>
          <p:nvPr/>
        </p:nvSpPr>
        <p:spPr>
          <a:xfrm rot="0" flipH="false" flipV="false">
            <a:off x="3556000" y="3759200"/>
            <a:ext cx="1778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41666"/>
              </a:lnSpc>
              <a:defRPr/>
            </a:pPr>
            <a:r>
              <a:rPr lang="en-US" b="false" i="false" strike="noStrike" u="none" sz="1250">
                <a:solidFill>
                  <a:srgbClr val="465554"/>
                </a:solidFill>
                <a:latin typeface="Noto Sans SC"/>
                <a:ea typeface="Noto Sans SC"/>
                <a:cs typeface="Noto Sans SC"/>
                <a:sym typeface="Noto Sans SC"/>
              </a:rPr>
              <a:t>妈妈不见了，小天鹅想：她一定往东看海去了</a:t>
            </a:r>
            <a:endParaRPr lang="en-US" sz="1100"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6858000" y="2286000"/>
            <a:ext cx="127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A6802D"/>
                </a:solidFill>
                <a:latin typeface="Noto Sans SC"/>
                <a:ea typeface="Noto Sans SC"/>
                <a:cs typeface="Noto Sans SC"/>
                <a:sym typeface="Noto Sans SC"/>
              </a:rPr>
              <a:t>闯关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112000" y="2794000"/>
            <a:ext cx="762000" cy="762000"/>
          </a:xfrm>
          <a:prstGeom prst="ellipse">
            <a:avLst/>
          </a:prstGeom>
          <a:solidFill>
            <a:srgbClr val="0E5C63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7302500" y="2984500"/>
            <a:ext cx="381000" cy="381000"/>
          </a:xfrm>
          <a:prstGeom prst="rect">
            <a:avLst/>
          </a:prstGeom>
        </p:spPr>
      </p:pic>
      <p:sp>
        <p:nvSpPr>
          <p:cNvPr name="AutoShape 18" id="18"/>
          <p:cNvSpPr txBox="true"/>
          <p:nvPr/>
        </p:nvSpPr>
        <p:spPr>
          <a:xfrm rot="0" flipH="false" flipV="false">
            <a:off x="6604000" y="3759200"/>
            <a:ext cx="1778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41666"/>
              </a:lnSpc>
              <a:defRPr/>
            </a:pPr>
            <a:r>
              <a:rPr lang="en-US" b="false" i="false" strike="noStrike" u="none" sz="1250">
                <a:solidFill>
                  <a:srgbClr val="465554"/>
                </a:solidFill>
                <a:latin typeface="Noto Sans SC"/>
                <a:ea typeface="Noto Sans SC"/>
                <a:cs typeface="Noto Sans SC"/>
                <a:sym typeface="Noto Sans SC"/>
              </a:rPr>
              <a:t>顺河而下穿过十座水闸，答对闸名才能开闸</a:t>
            </a:r>
            <a:endParaRPr lang="en-US" sz="1100"/>
          </a:p>
        </p:txBody>
      </p:sp>
      <p:sp>
        <p:nvSpPr>
          <p:cNvPr name="AutoShape 19" id="19"/>
          <p:cNvSpPr txBox="true"/>
          <p:nvPr/>
        </p:nvSpPr>
        <p:spPr>
          <a:xfrm rot="0" flipH="false" flipV="false">
            <a:off x="9906000" y="2286000"/>
            <a:ext cx="127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A6802D"/>
                </a:solidFill>
                <a:latin typeface="Noto Sans SC"/>
                <a:ea typeface="Noto Sans SC"/>
                <a:cs typeface="Noto Sans SC"/>
                <a:sym typeface="Noto Sans SC"/>
              </a:rPr>
              <a:t>重逢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10160000" y="2794000"/>
            <a:ext cx="762000" cy="762000"/>
          </a:xfrm>
          <a:prstGeom prst="ellipse">
            <a:avLst/>
          </a:prstGeom>
          <a:solidFill>
            <a:srgbClr val="C9A24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10350500" y="2984500"/>
            <a:ext cx="381000" cy="381000"/>
          </a:xfrm>
          <a:prstGeom prst="rect">
            <a:avLst/>
          </a:prstGeom>
        </p:spPr>
      </p:pic>
      <p:sp>
        <p:nvSpPr>
          <p:cNvPr name="AutoShape 22" id="22"/>
          <p:cNvSpPr txBox="true"/>
          <p:nvPr/>
        </p:nvSpPr>
        <p:spPr>
          <a:xfrm rot="0" flipH="false" flipV="false">
            <a:off x="9652000" y="3759200"/>
            <a:ext cx="1778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41666"/>
              </a:lnSpc>
              <a:defRPr/>
            </a:pPr>
            <a:r>
              <a:rPr lang="en-US" b="false" i="false" strike="noStrike" u="none" sz="1250">
                <a:solidFill>
                  <a:srgbClr val="465554"/>
                </a:solidFill>
                <a:latin typeface="Noto Sans SC"/>
                <a:ea typeface="Noto Sans SC"/>
                <a:cs typeface="Noto Sans SC"/>
                <a:sym typeface="Noto Sans SC"/>
              </a:rPr>
              <a:t>温榆河口母子重逢，再向东便是大运河与大海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711200" y="5334000"/>
            <a:ext cx="10769600" cy="660400"/>
          </a:xfrm>
          <a:prstGeom prst="roundRect">
            <a:avLst>
              <a:gd name="adj" fmla="val 0"/>
            </a:avLst>
          </a:prstGeom>
          <a:solidFill>
            <a:srgbClr val="EAF1E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 txBox="true"/>
          <p:nvPr/>
        </p:nvSpPr>
        <p:spPr>
          <a:xfrm rot="0" flipH="false" flipV="false">
            <a:off x="1016000" y="5334000"/>
            <a:ext cx="10160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500">
                <a:solidFill>
                  <a:srgbClr val="0A3F45"/>
                </a:solidFill>
                <a:latin typeface="Noto Sans SC"/>
                <a:ea typeface="Noto Sans SC"/>
                <a:cs typeface="Noto Sans SC"/>
                <a:sym typeface="Noto Sans SC"/>
              </a:rPr>
              <a:t>设计要点：孩子不是在“刷题”，而是在</a:t>
            </a:r>
            <a:r>
              <a:rPr lang="en-US" b="true" i="false" strike="noStrike" u="none" sz="1500">
                <a:solidFill>
                  <a:srgbClr val="0A3F45"/>
                </a:solidFill>
                <a:latin typeface="Noto Sans SC"/>
                <a:ea typeface="Noto Sans SC"/>
                <a:cs typeface="Noto Sans SC"/>
                <a:sym typeface="Noto Sans SC"/>
              </a:rPr>
              <a:t>帮小天鹅找妈妈</a:t>
            </a:r>
            <a:r>
              <a:rPr lang="en-US" b="false" i="false" strike="noStrike" u="none" sz="1500">
                <a:solidFill>
                  <a:srgbClr val="0A3F45"/>
                </a:solidFill>
                <a:latin typeface="Noto Sans SC"/>
                <a:ea typeface="Noto Sans SC"/>
                <a:cs typeface="Noto Sans SC"/>
                <a:sym typeface="Noto Sans SC"/>
              </a:rPr>
              <a:t>——每一道题，都是剧情的下一站。</a:t>
            </a:r>
            <a:endParaRPr lang="en-US" sz="1100"/>
          </a:p>
        </p:txBody>
      </p:sp>
      <p:cxnSp>
        <p:nvCxnSpPr>
          <p:cNvPr name="Connector 25" id="25"/>
          <p:cNvCxnSpPr/>
          <p:nvPr/>
        </p:nvCxnSpPr>
        <p:spPr>
          <a:xfrm rot="-4053" flipH="false" flipV="false">
            <a:off x="711204" y="62928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8E0D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6" id="26"/>
          <p:cNvSpPr txBox="true"/>
          <p:nvPr/>
        </p:nvSpPr>
        <p:spPr>
          <a:xfrm rot="0" flipH="false" flipV="false">
            <a:off x="711200" y="6400800"/>
            <a:ext cx="381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8A9695"/>
                </a:solidFill>
                <a:latin typeface="Noto Sans SC"/>
                <a:ea typeface="Noto Sans SC"/>
                <a:cs typeface="Noto Sans SC"/>
                <a:sym typeface="Noto Sans SC"/>
              </a:rPr>
              <a:t>清河之洲 · AI+教育游戏</a:t>
            </a:r>
            <a:endParaRPr lang="en-US" sz="1100"/>
          </a:p>
        </p:txBody>
      </p:sp>
      <p:sp>
        <p:nvSpPr>
          <p:cNvPr name="AutoShape 27" id="27"/>
          <p:cNvSpPr txBox="true"/>
          <p:nvPr/>
        </p:nvSpPr>
        <p:spPr>
          <a:xfrm rot="0" flipH="false" flipV="false">
            <a:off x="8255000" y="6400800"/>
            <a:ext cx="32258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8A9695"/>
                </a:solidFill>
                <a:latin typeface="Noto Sans SC"/>
                <a:ea typeface="Noto Sans SC"/>
                <a:cs typeface="Noto Sans SC"/>
                <a:sym typeface="Noto Sans SC"/>
              </a:rPr>
              <a:t>02 产品设计 · 05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711200" y="5588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0A3F45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核心玩法：先学后答、答错有提示、答对即开闸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66102" flipH="false" flipV="false">
            <a:off x="711261" y="1162050"/>
            <a:ext cx="660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C9A24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4" id="4"/>
          <p:cNvSpPr/>
          <p:nvPr/>
        </p:nvSpPr>
        <p:spPr>
          <a:xfrm rot="0" flipH="false" flipV="false">
            <a:off x="1041400" y="2159000"/>
            <a:ext cx="711200" cy="711200"/>
          </a:xfrm>
          <a:prstGeom prst="ellipse">
            <a:avLst/>
          </a:prstGeom>
          <a:solidFill>
            <a:srgbClr val="0E5C63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1041400" y="2159000"/>
            <a:ext cx="7112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1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508000" y="3022600"/>
            <a:ext cx="1778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0A3F45"/>
                </a:solidFill>
                <a:latin typeface="Noto Sans SC"/>
                <a:ea typeface="Noto Sans SC"/>
                <a:cs typeface="Noto Sans SC"/>
                <a:sym typeface="Noto Sans SC"/>
              </a:rPr>
              <a:t>看剧情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381000" y="3352800"/>
            <a:ext cx="203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33333"/>
              </a:lnSpc>
              <a:defRPr/>
            </a:pPr>
            <a:r>
              <a:rPr lang="en-US" b="false" i="false" strike="noStrike" u="none" sz="1150">
                <a:solidFill>
                  <a:srgbClr val="8A9695"/>
                </a:solidFill>
                <a:latin typeface="Noto Sans SC"/>
                <a:ea typeface="Noto Sans SC"/>
                <a:cs typeface="Noto Sans SC"/>
                <a:sym typeface="Noto Sans SC"/>
              </a:rPr>
              <a:t>先读闸口自述，带着线索作答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3200400" y="2159000"/>
            <a:ext cx="711200" cy="711200"/>
          </a:xfrm>
          <a:prstGeom prst="ellipse">
            <a:avLst/>
          </a:prstGeom>
          <a:solidFill>
            <a:srgbClr val="0E5C63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3200400" y="2159000"/>
            <a:ext cx="7112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2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2667000" y="3022600"/>
            <a:ext cx="1778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0A3F45"/>
                </a:solidFill>
                <a:latin typeface="Noto Sans SC"/>
                <a:ea typeface="Noto Sans SC"/>
                <a:cs typeface="Noto Sans SC"/>
                <a:sym typeface="Noto Sans SC"/>
              </a:rPr>
              <a:t>作答闸名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2616200" y="3352800"/>
            <a:ext cx="18796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33333"/>
              </a:lnSpc>
              <a:defRPr/>
            </a:pPr>
            <a:r>
              <a:rPr lang="en-US" b="false" i="false" strike="noStrike" u="none" sz="1150">
                <a:solidFill>
                  <a:srgbClr val="8A9695"/>
                </a:solidFill>
                <a:latin typeface="Noto Sans SC"/>
                <a:ea typeface="Noto Sans SC"/>
                <a:cs typeface="Noto Sans SC"/>
                <a:sym typeface="Noto Sans SC"/>
              </a:rPr>
              <a:t>四选一点选，支持语音作答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5359400" y="2159000"/>
            <a:ext cx="711200" cy="711200"/>
          </a:xfrm>
          <a:prstGeom prst="ellipse">
            <a:avLst/>
          </a:prstGeom>
          <a:solidFill>
            <a:srgbClr val="0E5C63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5359400" y="2159000"/>
            <a:ext cx="7112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3</a:t>
            </a:r>
            <a:endParaRPr lang="en-US" sz="1100"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4826000" y="3022600"/>
            <a:ext cx="1778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0A3F45"/>
                </a:solidFill>
                <a:latin typeface="Noto Sans SC"/>
                <a:ea typeface="Noto Sans SC"/>
                <a:cs typeface="Noto Sans SC"/>
                <a:sym typeface="Noto Sans SC"/>
              </a:rPr>
              <a:t>开闸通过</a:t>
            </a:r>
            <a:endParaRPr lang="en-US" sz="1100"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4699000" y="3352800"/>
            <a:ext cx="203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33333"/>
              </a:lnSpc>
              <a:defRPr/>
            </a:pPr>
            <a:r>
              <a:rPr lang="en-US" b="false" i="false" strike="noStrike" u="none" sz="1150">
                <a:solidFill>
                  <a:srgbClr val="8A9695"/>
                </a:solidFill>
                <a:latin typeface="Noto Sans SC"/>
                <a:ea typeface="Noto Sans SC"/>
                <a:cs typeface="Noto Sans SC"/>
                <a:sym typeface="Noto Sans SC"/>
              </a:rPr>
              <a:t>闸门开启动画，小天鹅继续东游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518400" y="2159000"/>
            <a:ext cx="711200" cy="711200"/>
          </a:xfrm>
          <a:prstGeom prst="ellipse">
            <a:avLst/>
          </a:prstGeom>
          <a:solidFill>
            <a:srgbClr val="0E5C63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7518400" y="2159000"/>
            <a:ext cx="7112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4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0" flipH="false" flipV="false">
            <a:off x="6985000" y="3022600"/>
            <a:ext cx="1778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0A3F45"/>
                </a:solidFill>
                <a:latin typeface="Noto Sans SC"/>
                <a:ea typeface="Noto Sans SC"/>
                <a:cs typeface="Noto Sans SC"/>
                <a:sym typeface="Noto Sans SC"/>
              </a:rPr>
              <a:t>收知识卡</a:t>
            </a:r>
            <a:endParaRPr lang="en-US" sz="1100"/>
          </a:p>
        </p:txBody>
      </p:sp>
      <p:sp>
        <p:nvSpPr>
          <p:cNvPr name="AutoShape 19" id="19"/>
          <p:cNvSpPr txBox="true"/>
          <p:nvPr/>
        </p:nvSpPr>
        <p:spPr>
          <a:xfrm rot="0" flipH="false" flipV="false">
            <a:off x="6934200" y="3352800"/>
            <a:ext cx="18796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33333"/>
              </a:lnSpc>
              <a:defRPr/>
            </a:pPr>
            <a:r>
              <a:rPr lang="en-US" b="false" i="false" strike="noStrike" u="none" sz="1150">
                <a:solidFill>
                  <a:srgbClr val="8A9695"/>
                </a:solidFill>
                <a:latin typeface="Noto Sans SC"/>
                <a:ea typeface="Noto Sans SC"/>
                <a:cs typeface="Noto Sans SC"/>
                <a:sym typeface="Noto Sans SC"/>
              </a:rPr>
              <a:t>知识点与道具自动收入图鉴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9677400" y="2159000"/>
            <a:ext cx="711200" cy="711200"/>
          </a:xfrm>
          <a:prstGeom prst="ellipse">
            <a:avLst/>
          </a:prstGeom>
          <a:solidFill>
            <a:srgbClr val="C9A24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 txBox="true"/>
          <p:nvPr/>
        </p:nvSpPr>
        <p:spPr>
          <a:xfrm rot="0" flipH="false" flipV="false">
            <a:off x="9677400" y="2159000"/>
            <a:ext cx="7112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5</a:t>
            </a:r>
            <a:endParaRPr lang="en-US" sz="1100"/>
          </a:p>
        </p:txBody>
      </p:sp>
      <p:sp>
        <p:nvSpPr>
          <p:cNvPr name="AutoShape 22" id="22"/>
          <p:cNvSpPr txBox="true"/>
          <p:nvPr/>
        </p:nvSpPr>
        <p:spPr>
          <a:xfrm rot="0" flipH="false" flipV="false">
            <a:off x="9144000" y="3022600"/>
            <a:ext cx="1778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0A3F45"/>
                </a:solidFill>
                <a:latin typeface="Noto Sans SC"/>
                <a:ea typeface="Noto Sans SC"/>
                <a:cs typeface="Noto Sans SC"/>
                <a:sym typeface="Noto Sans SC"/>
              </a:rPr>
              <a:t>解锁下一关</a:t>
            </a:r>
            <a:endParaRPr lang="en-US" sz="1100"/>
          </a:p>
        </p:txBody>
      </p:sp>
      <p:sp>
        <p:nvSpPr>
          <p:cNvPr name="AutoShape 23" id="23"/>
          <p:cNvSpPr txBox="true"/>
          <p:nvPr/>
        </p:nvSpPr>
        <p:spPr>
          <a:xfrm rot="0" flipH="false" flipV="false">
            <a:off x="9093200" y="3352800"/>
            <a:ext cx="18796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33333"/>
              </a:lnSpc>
              <a:defRPr/>
            </a:pPr>
            <a:r>
              <a:rPr lang="en-US" b="false" i="false" strike="noStrike" u="none" sz="1150">
                <a:solidFill>
                  <a:srgbClr val="8A9695"/>
                </a:solidFill>
                <a:latin typeface="Noto Sans SC"/>
                <a:ea typeface="Noto Sans SC"/>
                <a:cs typeface="Noto Sans SC"/>
                <a:sym typeface="Noto Sans SC"/>
              </a:rPr>
              <a:t>小天鹅前进，下一闸亮起</a:t>
            </a:r>
            <a:endParaRPr lang="en-US" sz="1100"/>
          </a:p>
        </p:txBody>
      </p:sp>
      <p:cxnSp>
        <p:nvCxnSpPr>
          <p:cNvPr name="Connector 24" id="24"/>
          <p:cNvCxnSpPr/>
          <p:nvPr/>
        </p:nvCxnSpPr>
        <p:spPr>
          <a:xfrm rot="-31830" flipH="false" flipV="false">
            <a:off x="1778029" y="2508250"/>
            <a:ext cx="1371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C9A24B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cxnSp>
        <p:nvCxnSpPr>
          <p:cNvPr name="Connector 25" id="25"/>
          <p:cNvCxnSpPr/>
          <p:nvPr/>
        </p:nvCxnSpPr>
        <p:spPr>
          <a:xfrm rot="-31830" flipH="false" flipV="false">
            <a:off x="3937029" y="2508250"/>
            <a:ext cx="1371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C9A24B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cxnSp>
        <p:nvCxnSpPr>
          <p:cNvPr name="Connector 26" id="26"/>
          <p:cNvCxnSpPr/>
          <p:nvPr/>
        </p:nvCxnSpPr>
        <p:spPr>
          <a:xfrm rot="-31830" flipH="false" flipV="false">
            <a:off x="6096029" y="2508250"/>
            <a:ext cx="1371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C9A24B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cxnSp>
        <p:nvCxnSpPr>
          <p:cNvPr name="Connector 27" id="27"/>
          <p:cNvCxnSpPr/>
          <p:nvPr/>
        </p:nvCxnSpPr>
        <p:spPr>
          <a:xfrm rot="-31830" flipH="false" flipV="false">
            <a:off x="8255029" y="2508250"/>
            <a:ext cx="1371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C9A24B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cxnSp>
        <p:nvCxnSpPr>
          <p:cNvPr name="Connector 28" id="28"/>
          <p:cNvCxnSpPr/>
          <p:nvPr/>
        </p:nvCxnSpPr>
        <p:spPr>
          <a:xfrm rot="-4053" flipH="false" flipV="false">
            <a:off x="711204" y="44640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8E0D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29" id="29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711200" y="4749800"/>
            <a:ext cx="279400" cy="279400"/>
          </a:xfrm>
          <a:prstGeom prst="rect">
            <a:avLst/>
          </a:prstGeom>
        </p:spPr>
      </p:pic>
      <p:sp>
        <p:nvSpPr>
          <p:cNvPr name="AutoShape 30" id="30"/>
          <p:cNvSpPr txBox="true"/>
          <p:nvPr/>
        </p:nvSpPr>
        <p:spPr>
          <a:xfrm rot="0" flipH="false" flipV="false">
            <a:off x="1117600" y="4724400"/>
            <a:ext cx="4826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0A3F45"/>
                </a:solidFill>
                <a:latin typeface="Noto Sans SC"/>
                <a:ea typeface="Noto Sans SC"/>
                <a:cs typeface="Noto Sans SC"/>
                <a:sym typeface="Noto Sans SC"/>
              </a:rPr>
              <a:t>答错不惩罚，AI 向导分层提示</a:t>
            </a:r>
            <a:endParaRPr lang="en-US" sz="1100"/>
          </a:p>
        </p:txBody>
      </p:sp>
      <p:sp>
        <p:nvSpPr>
          <p:cNvPr name="AutoShape 31" id="31"/>
          <p:cNvSpPr txBox="true"/>
          <p:nvPr/>
        </p:nvSpPr>
        <p:spPr>
          <a:xfrm rot="0" flipH="false" flipV="false">
            <a:off x="1117600" y="5105400"/>
            <a:ext cx="482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false" i="false" strike="noStrike" u="none" sz="1200">
                <a:solidFill>
                  <a:srgbClr val="465554"/>
                </a:solidFill>
                <a:latin typeface="Noto Sans SC"/>
                <a:ea typeface="Noto Sans SC"/>
                <a:cs typeface="Noto Sans SC"/>
                <a:sym typeface="Noto Sans SC"/>
              </a:rPr>
              <a:t>先给位置线索，再给字形线索，引导孩子自己答对，保护探索欲与自信心</a:t>
            </a:r>
            <a:endParaRPr lang="en-US" sz="1100"/>
          </a:p>
        </p:txBody>
      </p:sp>
      <p:cxnSp>
        <p:nvCxnSpPr>
          <p:cNvPr name="Connector 32" id="32"/>
          <p:cNvCxnSpPr/>
          <p:nvPr/>
        </p:nvCxnSpPr>
        <p:spPr>
          <a:xfrm rot="5366297" flipH="false" flipV="false">
            <a:off x="5448300" y="5314981"/>
            <a:ext cx="1295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8E0D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33" id="33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350000" y="4749800"/>
            <a:ext cx="279400" cy="279400"/>
          </a:xfrm>
          <a:prstGeom prst="rect">
            <a:avLst/>
          </a:prstGeom>
        </p:spPr>
      </p:pic>
      <p:sp>
        <p:nvSpPr>
          <p:cNvPr name="AutoShape 34" id="34"/>
          <p:cNvSpPr txBox="true"/>
          <p:nvPr/>
        </p:nvSpPr>
        <p:spPr>
          <a:xfrm rot="0" flipH="false" flipV="false">
            <a:off x="6756400" y="4724400"/>
            <a:ext cx="4826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0A3F45"/>
                </a:solidFill>
                <a:latin typeface="Noto Sans SC"/>
                <a:ea typeface="Noto Sans SC"/>
                <a:cs typeface="Noto Sans SC"/>
                <a:sym typeface="Noto Sans SC"/>
              </a:rPr>
              <a:t>激励体系：进度、图鉴、称号、排行</a:t>
            </a:r>
            <a:endParaRPr lang="en-US" sz="1100"/>
          </a:p>
        </p:txBody>
      </p:sp>
      <p:sp>
        <p:nvSpPr>
          <p:cNvPr name="AutoShape 35" id="35"/>
          <p:cNvSpPr txBox="true"/>
          <p:nvPr/>
        </p:nvSpPr>
        <p:spPr>
          <a:xfrm rot="0" flipH="false" flipV="false">
            <a:off x="6756400" y="5105400"/>
            <a:ext cx="47244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false" i="false" strike="noStrike" u="none" sz="1200">
                <a:solidFill>
                  <a:srgbClr val="465554"/>
                </a:solidFill>
                <a:latin typeface="Noto Sans SC"/>
                <a:ea typeface="Noto Sans SC"/>
                <a:cs typeface="Noto Sans SC"/>
                <a:sym typeface="Noto Sans SC"/>
              </a:rPr>
              <a:t>闯关进度 0/10、道具奖励、知识图鉴、通关称号与好友排行榜</a:t>
            </a:r>
            <a:endParaRPr lang="en-US" sz="1100"/>
          </a:p>
        </p:txBody>
      </p:sp>
      <p:cxnSp>
        <p:nvCxnSpPr>
          <p:cNvPr name="Connector 36" id="36"/>
          <p:cNvCxnSpPr/>
          <p:nvPr/>
        </p:nvCxnSpPr>
        <p:spPr>
          <a:xfrm rot="-4053" flipH="false" flipV="false">
            <a:off x="711204" y="62928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8E0D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37" id="37"/>
          <p:cNvSpPr txBox="true"/>
          <p:nvPr/>
        </p:nvSpPr>
        <p:spPr>
          <a:xfrm rot="0" flipH="false" flipV="false">
            <a:off x="711200" y="6400800"/>
            <a:ext cx="381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8A9695"/>
                </a:solidFill>
                <a:latin typeface="Noto Sans SC"/>
                <a:ea typeface="Noto Sans SC"/>
                <a:cs typeface="Noto Sans SC"/>
                <a:sym typeface="Noto Sans SC"/>
              </a:rPr>
              <a:t>清河之洲 · AI+教育游戏</a:t>
            </a:r>
            <a:endParaRPr lang="en-US" sz="1100"/>
          </a:p>
        </p:txBody>
      </p:sp>
      <p:sp>
        <p:nvSpPr>
          <p:cNvPr name="AutoShape 38" id="38"/>
          <p:cNvSpPr txBox="true"/>
          <p:nvPr/>
        </p:nvSpPr>
        <p:spPr>
          <a:xfrm rot="0" flipH="false" flipV="false">
            <a:off x="8255000" y="6400800"/>
            <a:ext cx="32258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8A9695"/>
                </a:solidFill>
                <a:latin typeface="Noto Sans SC"/>
                <a:ea typeface="Noto Sans SC"/>
                <a:cs typeface="Noto Sans SC"/>
                <a:sym typeface="Noto Sans SC"/>
              </a:rPr>
              <a:t>02 产品设计 · 06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6F3EB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711200" y="5588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0A3F45"/>
                </a:solidFill>
                <a:latin typeface="Noto Sans SC"/>
                <a:ea typeface="Noto Sans SC"/>
                <a:cs typeface="Noto Sans SC"/>
                <a:sym typeface="Noto Sans SC"/>
              </a:rPr>
              <a:t>关卡设计：十座真实水闸，闸闸有故事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66102" flipH="false" flipV="false">
            <a:off x="711261" y="1162050"/>
            <a:ext cx="660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C9A24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508000" y="1422400"/>
          <a:ext cx="11176000" cy="4191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635000"/>
                <a:gridCol w="1397000"/>
                <a:gridCol w="4826000"/>
                <a:gridCol w="4318000"/>
              </a:tblGrid>
              <a:tr h="3810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#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5C63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水闸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5C63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位置 · 特征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5C63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核心考点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5C63">
                        <a:alpha val="100000"/>
                      </a:srgbClr>
                    </a:solidFill>
                  </a:tcPr>
                </a:tc>
              </a:tr>
              <a:tr h="3810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0A3F4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0A3F4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安河闸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46555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京密引水渠东岸，南距颐和园约 1 公里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46555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“清0”起点；1965 年建；双孔钢闸泄洪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810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0A3F4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0A3F4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肖家河闸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46555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肖家河桥西，上距安河闸 1.6 公里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46555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彩虹桥地标；河道曲折优美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810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0A3F4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3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0A3F4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树村闸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46555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圆明园正北，上距肖家河闸 1.9 公里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46555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闸上带楼；闸桥一体；远眺西山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810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0A3F4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4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0A3F4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京包闸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46555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京包铁路西侧，上距树村闸 1.7 公里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46555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箭亭立交；万泉河口；汇芳桥乾隆诗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810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0A3F4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5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0A3F4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清河闸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46555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清河大桥西侧，上距京包闸 2.4 公里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46555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小月河口；广济桥；沿岸六处古迹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810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0A3F4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6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0A3F4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下清河闸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46555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奥森北围墙外，上距清河闸 2.6 公里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46555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闸桥一体，仅步行与骑行通过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810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0A3F4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7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0A3F4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羊坊闸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46555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立水桥西南约 600 米，上距下清河闸 2.9 公里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46555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两岸土坡之始；清洋河入河口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810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0A3F4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8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0A3F4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外环跌水闸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46555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地铁 13 号线外约 150 米，上距羊坊闸 1.4 公里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46555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十闸中唯一的拦水坝（跌水）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810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0A3F4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9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0A3F4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沈家闸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46555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温榆河公园西部，上距外环跌水闸 4.3 公里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46555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最远闸距；立水桥东滨水慢行系统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810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0A3F4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10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0A3F4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沙子营闸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46555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清河尾端，距入温榆河口约 300 米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46555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唯一翻板式钢闸，开启可平卧当桥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name="Connector 5" id="5"/>
          <p:cNvCxnSpPr/>
          <p:nvPr/>
        </p:nvCxnSpPr>
        <p:spPr>
          <a:xfrm rot="-4053" flipH="false" flipV="false">
            <a:off x="711204" y="62928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8E0D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6" id="6"/>
          <p:cNvSpPr txBox="true"/>
          <p:nvPr/>
        </p:nvSpPr>
        <p:spPr>
          <a:xfrm rot="0" flipH="false" flipV="false">
            <a:off x="711200" y="6400800"/>
            <a:ext cx="381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8A9695"/>
                </a:solidFill>
                <a:latin typeface="Noto Sans SC"/>
                <a:ea typeface="Noto Sans SC"/>
                <a:cs typeface="Noto Sans SC"/>
                <a:sym typeface="Noto Sans SC"/>
              </a:rPr>
              <a:t>清河之洲 · AI+教育游戏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8255000" y="6400800"/>
            <a:ext cx="32258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8A9695"/>
                </a:solidFill>
                <a:latin typeface="Noto Sans SC"/>
                <a:ea typeface="Noto Sans SC"/>
                <a:cs typeface="Noto Sans SC"/>
                <a:sym typeface="Noto Sans SC"/>
              </a:rPr>
              <a:t>02 产品设计 · 07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711200" y="5588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0A3F45"/>
                </a:solidFill>
                <a:latin typeface="Noto Sans SC"/>
                <a:ea typeface="Noto Sans SC"/>
                <a:cs typeface="Noto Sans SC"/>
                <a:sym typeface="Noto Sans SC"/>
              </a:rPr>
              <a:t>Demo 01 · 起始页：一张会讲故事的清河地图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66102" flipH="false" flipV="false">
            <a:off x="711261" y="1162050"/>
            <a:ext cx="660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C9A24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rcRect l="0" r="0" t="38" b="38"/>
          <a:stretch>
            <a:fillRect/>
          </a:stretch>
        </p:blipFill>
        <p:spPr>
          <a:xfrm rot="0" flipH="false" flipV="false">
            <a:off x="508000" y="1422400"/>
            <a:ext cx="7366000" cy="41402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5" id="5"/>
          <p:cNvSpPr txBox="true"/>
          <p:nvPr/>
        </p:nvSpPr>
        <p:spPr>
          <a:xfrm rot="0" flipH="false" flipV="false">
            <a:off x="8432800" y="1524000"/>
            <a:ext cx="88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A6802D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8966200" y="1524000"/>
            <a:ext cx="2667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0A3F45"/>
                </a:solidFill>
                <a:latin typeface="Noto Sans SC"/>
                <a:ea typeface="Noto Sans SC"/>
                <a:cs typeface="Noto Sans SC"/>
                <a:sym typeface="Noto Sans SC"/>
              </a:rPr>
              <a:t>起点与终点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8966200" y="1879600"/>
            <a:ext cx="26162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false" i="false" strike="noStrike" u="none" sz="1200">
                <a:solidFill>
                  <a:srgbClr val="465554"/>
                </a:solidFill>
                <a:latin typeface="Noto Sans SC"/>
                <a:ea typeface="Noto Sans SC"/>
                <a:cs typeface="Noto Sans SC"/>
                <a:sym typeface="Noto Sans SC"/>
              </a:rPr>
              <a:t>西起西山碧云寺（天鹅的家），东至温榆河口（通向大运河与大海）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13861" flipH="false" flipV="false">
            <a:off x="8432813" y="2762250"/>
            <a:ext cx="314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8E0D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 txBox="true"/>
          <p:nvPr/>
        </p:nvSpPr>
        <p:spPr>
          <a:xfrm rot="0" flipH="false" flipV="false">
            <a:off x="8432800" y="2946400"/>
            <a:ext cx="88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A6802D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8966200" y="2946400"/>
            <a:ext cx="2667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0A3F45"/>
                </a:solidFill>
                <a:latin typeface="Noto Sans SC"/>
                <a:ea typeface="Noto Sans SC"/>
                <a:cs typeface="Noto Sans SC"/>
                <a:sym typeface="Noto Sans SC"/>
              </a:rPr>
              <a:t>逐关解锁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8966200" y="3302000"/>
            <a:ext cx="26162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false" i="false" strike="noStrike" u="none" sz="1200">
                <a:solidFill>
                  <a:srgbClr val="465554"/>
                </a:solidFill>
                <a:latin typeface="Noto Sans SC"/>
                <a:ea typeface="Noto Sans SC"/>
                <a:cs typeface="Noto Sans SC"/>
                <a:sym typeface="Noto Sans SC"/>
              </a:rPr>
              <a:t>十座水闸按真实顺序排布，当前闸金色高亮，不可跳关</a:t>
            </a:r>
            <a:endParaRPr lang="en-US" sz="1100"/>
          </a:p>
        </p:txBody>
      </p:sp>
      <p:cxnSp>
        <p:nvCxnSpPr>
          <p:cNvPr name="Connector 12" id="12"/>
          <p:cNvCxnSpPr/>
          <p:nvPr/>
        </p:nvCxnSpPr>
        <p:spPr>
          <a:xfrm rot="-13861" flipH="false" flipV="false">
            <a:off x="8432813" y="4184650"/>
            <a:ext cx="314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8E0D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3" id="13"/>
          <p:cNvSpPr txBox="true"/>
          <p:nvPr/>
        </p:nvSpPr>
        <p:spPr>
          <a:xfrm rot="0" flipH="false" flipV="false">
            <a:off x="8432800" y="4368800"/>
            <a:ext cx="88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A6802D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8966200" y="4368800"/>
            <a:ext cx="2667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0A3F45"/>
                </a:solidFill>
                <a:latin typeface="Noto Sans SC"/>
                <a:ea typeface="Noto Sans SC"/>
                <a:cs typeface="Noto Sans SC"/>
                <a:sym typeface="Noto Sans SC"/>
              </a:rPr>
              <a:t>进度与 AI 常驻</a:t>
            </a:r>
            <a:endParaRPr lang="en-US" sz="1100"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8966200" y="4724400"/>
            <a:ext cx="26162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false" i="false" strike="noStrike" u="none" sz="1200">
                <a:solidFill>
                  <a:srgbClr val="465554"/>
                </a:solidFill>
                <a:latin typeface="Noto Sans SC"/>
                <a:ea typeface="Noto Sans SC"/>
                <a:cs typeface="Noto Sans SC"/>
                <a:sym typeface="Noto Sans SC"/>
              </a:rPr>
              <a:t>顶部显示“已开闸 0/10”，AI 天鹅向导随时待命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432800" y="5689600"/>
            <a:ext cx="3149600" cy="381000"/>
          </a:xfrm>
          <a:prstGeom prst="roundRect">
            <a:avLst>
              <a:gd name="adj" fmla="val 0"/>
            </a:avLst>
          </a:prstGeom>
          <a:solidFill>
            <a:srgbClr val="EAF1E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8432800" y="5689600"/>
            <a:ext cx="31496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0A3F45"/>
                </a:solidFill>
                <a:latin typeface="Noto Sans SC"/>
                <a:ea typeface="Noto Sans SC"/>
                <a:cs typeface="Noto Sans SC"/>
                <a:sym typeface="Noto Sans SC"/>
              </a:rPr>
              <a:t>现场可扫码体验完整可交互 Demo</a:t>
            </a:r>
            <a:endParaRPr lang="en-US" sz="1100"/>
          </a:p>
        </p:txBody>
      </p:sp>
      <p:cxnSp>
        <p:nvCxnSpPr>
          <p:cNvPr name="Connector 18" id="18"/>
          <p:cNvCxnSpPr/>
          <p:nvPr/>
        </p:nvCxnSpPr>
        <p:spPr>
          <a:xfrm rot="-4053" flipH="false" flipV="false">
            <a:off x="711204" y="62928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8E0D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9" id="19"/>
          <p:cNvSpPr txBox="true"/>
          <p:nvPr/>
        </p:nvSpPr>
        <p:spPr>
          <a:xfrm rot="0" flipH="false" flipV="false">
            <a:off x="711200" y="6400800"/>
            <a:ext cx="381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8A9695"/>
                </a:solidFill>
                <a:latin typeface="Noto Sans SC"/>
                <a:ea typeface="Noto Sans SC"/>
                <a:cs typeface="Noto Sans SC"/>
                <a:sym typeface="Noto Sans SC"/>
              </a:rPr>
              <a:t>清河之洲 · AI+教育游戏</a:t>
            </a:r>
            <a:endParaRPr lang="en-US" sz="1100"/>
          </a:p>
        </p:txBody>
      </p:sp>
      <p:sp>
        <p:nvSpPr>
          <p:cNvPr name="AutoShape 20" id="20"/>
          <p:cNvSpPr txBox="true"/>
          <p:nvPr/>
        </p:nvSpPr>
        <p:spPr>
          <a:xfrm rot="0" flipH="false" flipV="false">
            <a:off x="8255000" y="6400800"/>
            <a:ext cx="32258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8A9695"/>
                </a:solidFill>
                <a:latin typeface="Noto Sans SC"/>
                <a:ea typeface="Noto Sans SC"/>
                <a:cs typeface="Noto Sans SC"/>
                <a:sym typeface="Noto Sans SC"/>
              </a:rPr>
              <a:t>03 Demo 演示 · 08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711200" y="5588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0A3F45"/>
                </a:solidFill>
                <a:latin typeface="Noto Sans SC"/>
                <a:ea typeface="Noto Sans SC"/>
                <a:cs typeface="Noto Sans SC"/>
                <a:sym typeface="Noto Sans SC"/>
              </a:rPr>
              <a:t>Demo 02 · 答题：先学后答，答错由 AI 引导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66102" flipH="false" flipV="false">
            <a:off x="711261" y="1162050"/>
            <a:ext cx="660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C9A24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rcRect l="0" r="0" t="38" b="38"/>
          <a:stretch>
            <a:fillRect/>
          </a:stretch>
        </p:blipFill>
        <p:spPr>
          <a:xfrm rot="0" flipH="false" flipV="false">
            <a:off x="508000" y="1422400"/>
            <a:ext cx="7366000" cy="41402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5" id="5"/>
          <p:cNvSpPr txBox="true"/>
          <p:nvPr/>
        </p:nvSpPr>
        <p:spPr>
          <a:xfrm rot="0" flipH="false" flipV="false">
            <a:off x="8432800" y="1524000"/>
            <a:ext cx="88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A6802D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8966200" y="1524000"/>
            <a:ext cx="2667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0A3F45"/>
                </a:solidFill>
                <a:latin typeface="Noto Sans SC"/>
                <a:ea typeface="Noto Sans SC"/>
                <a:cs typeface="Noto Sans SC"/>
                <a:sym typeface="Noto Sans SC"/>
              </a:rPr>
              <a:t>闸口自述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8966200" y="1879600"/>
            <a:ext cx="26162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false" i="false" strike="noStrike" u="none" sz="1200">
                <a:solidFill>
                  <a:srgbClr val="465554"/>
                </a:solidFill>
                <a:latin typeface="Noto Sans SC"/>
                <a:ea typeface="Noto Sans SC"/>
                <a:cs typeface="Noto Sans SC"/>
                <a:sym typeface="Noto Sans SC"/>
              </a:rPr>
              <a:t>每座闸先用第一人称讲自己的位置与故事，先学后答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13861" flipH="false" flipV="false">
            <a:off x="8432813" y="2762250"/>
            <a:ext cx="314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8E0D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 txBox="true"/>
          <p:nvPr/>
        </p:nvSpPr>
        <p:spPr>
          <a:xfrm rot="0" flipH="false" flipV="false">
            <a:off x="8432800" y="2946400"/>
            <a:ext cx="88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A6802D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8966200" y="2946400"/>
            <a:ext cx="2667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0A3F45"/>
                </a:solidFill>
                <a:latin typeface="Noto Sans SC"/>
                <a:ea typeface="Noto Sans SC"/>
                <a:cs typeface="Noto Sans SC"/>
                <a:sym typeface="Noto Sans SC"/>
              </a:rPr>
              <a:t>作答与 AI 提示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8966200" y="3302000"/>
            <a:ext cx="26162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false" i="false" strike="noStrike" u="none" sz="1200">
                <a:solidFill>
                  <a:srgbClr val="465554"/>
                </a:solidFill>
                <a:latin typeface="Noto Sans SC"/>
                <a:ea typeface="Noto Sans SC"/>
                <a:cs typeface="Noto Sans SC"/>
                <a:sym typeface="Noto Sans SC"/>
              </a:rPr>
              <a:t>四选一点选或语音作答；答错不扣分，AI 给出分层提示</a:t>
            </a:r>
            <a:endParaRPr lang="en-US" sz="1100"/>
          </a:p>
        </p:txBody>
      </p:sp>
      <p:cxnSp>
        <p:nvCxnSpPr>
          <p:cNvPr name="Connector 12" id="12"/>
          <p:cNvCxnSpPr/>
          <p:nvPr/>
        </p:nvCxnSpPr>
        <p:spPr>
          <a:xfrm rot="-13861" flipH="false" flipV="false">
            <a:off x="8432813" y="4184650"/>
            <a:ext cx="314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8E0D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3" id="13"/>
          <p:cNvSpPr txBox="true"/>
          <p:nvPr/>
        </p:nvSpPr>
        <p:spPr>
          <a:xfrm rot="0" flipH="false" flipV="false">
            <a:off x="8432800" y="4368800"/>
            <a:ext cx="88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A6802D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8966200" y="4368800"/>
            <a:ext cx="2667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0A3F45"/>
                </a:solidFill>
                <a:latin typeface="Noto Sans SC"/>
                <a:ea typeface="Noto Sans SC"/>
                <a:cs typeface="Noto Sans SC"/>
                <a:sym typeface="Noto Sans SC"/>
              </a:rPr>
              <a:t>开闸入图鉴</a:t>
            </a:r>
            <a:endParaRPr lang="en-US" sz="1100"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8966200" y="4724400"/>
            <a:ext cx="26162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false" i="false" strike="noStrike" u="none" sz="1200">
                <a:solidFill>
                  <a:srgbClr val="465554"/>
                </a:solidFill>
                <a:latin typeface="Noto Sans SC"/>
                <a:ea typeface="Noto Sans SC"/>
                <a:cs typeface="Noto Sans SC"/>
                <a:sym typeface="Noto Sans SC"/>
              </a:rPr>
              <a:t>答对即播放开闸动画，知识卡与道具自动收入图鉴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432800" y="5689600"/>
            <a:ext cx="3149600" cy="381000"/>
          </a:xfrm>
          <a:prstGeom prst="roundRect">
            <a:avLst>
              <a:gd name="adj" fmla="val 0"/>
            </a:avLst>
          </a:prstGeom>
          <a:solidFill>
            <a:srgbClr val="EAF1E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8432800" y="5689600"/>
            <a:ext cx="31496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0A3F45"/>
                </a:solidFill>
                <a:latin typeface="Noto Sans SC"/>
                <a:ea typeface="Noto Sans SC"/>
                <a:cs typeface="Noto Sans SC"/>
                <a:sym typeface="Noto Sans SC"/>
              </a:rPr>
              <a:t>鼓励式设计：让孩子自己答对，而非被告诉答案</a:t>
            </a:r>
            <a:endParaRPr lang="en-US" sz="1100"/>
          </a:p>
        </p:txBody>
      </p:sp>
      <p:cxnSp>
        <p:nvCxnSpPr>
          <p:cNvPr name="Connector 18" id="18"/>
          <p:cNvCxnSpPr/>
          <p:nvPr/>
        </p:nvCxnSpPr>
        <p:spPr>
          <a:xfrm rot="-4053" flipH="false" flipV="false">
            <a:off x="711204" y="62928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8E0D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9" id="19"/>
          <p:cNvSpPr txBox="true"/>
          <p:nvPr/>
        </p:nvSpPr>
        <p:spPr>
          <a:xfrm rot="0" flipH="false" flipV="false">
            <a:off x="711200" y="6400800"/>
            <a:ext cx="381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8A9695"/>
                </a:solidFill>
                <a:latin typeface="Noto Sans SC"/>
                <a:ea typeface="Noto Sans SC"/>
                <a:cs typeface="Noto Sans SC"/>
                <a:sym typeface="Noto Sans SC"/>
              </a:rPr>
              <a:t>清河之洲 · AI+教育游戏</a:t>
            </a:r>
            <a:endParaRPr lang="en-US" sz="1100"/>
          </a:p>
        </p:txBody>
      </p:sp>
      <p:sp>
        <p:nvSpPr>
          <p:cNvPr name="AutoShape 20" id="20"/>
          <p:cNvSpPr txBox="true"/>
          <p:nvPr/>
        </p:nvSpPr>
        <p:spPr>
          <a:xfrm rot="0" flipH="false" flipV="false">
            <a:off x="8255000" y="6400800"/>
            <a:ext cx="32258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8A9695"/>
                </a:solidFill>
                <a:latin typeface="Noto Sans SC"/>
                <a:ea typeface="Noto Sans SC"/>
                <a:cs typeface="Noto Sans SC"/>
                <a:sym typeface="Noto Sans SC"/>
              </a:rPr>
              <a:t>03 Demo 演示 · 09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711200" y="5588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0A3F45"/>
                </a:solidFill>
                <a:latin typeface="Noto Sans SC"/>
                <a:ea typeface="Noto Sans SC"/>
                <a:cs typeface="Noto Sans SC"/>
                <a:sym typeface="Noto Sans SC"/>
              </a:rPr>
              <a:t>Demo 03 · 通关：母子重逢，收获研学证书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66102" flipH="false" flipV="false">
            <a:off x="711261" y="1162050"/>
            <a:ext cx="660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C9A24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rcRect l="0" r="0" t="38" b="38"/>
          <a:stretch>
            <a:fillRect/>
          </a:stretch>
        </p:blipFill>
        <p:spPr>
          <a:xfrm rot="0" flipH="false" flipV="false">
            <a:off x="508000" y="1422400"/>
            <a:ext cx="7366000" cy="41402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5" id="5"/>
          <p:cNvSpPr txBox="true"/>
          <p:nvPr/>
        </p:nvSpPr>
        <p:spPr>
          <a:xfrm rot="0" flipH="false" flipV="false">
            <a:off x="8432800" y="1524000"/>
            <a:ext cx="88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A6802D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8966200" y="1524000"/>
            <a:ext cx="2667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0A3F45"/>
                </a:solidFill>
                <a:latin typeface="Noto Sans SC"/>
                <a:ea typeface="Noto Sans SC"/>
                <a:cs typeface="Noto Sans SC"/>
                <a:sym typeface="Noto Sans SC"/>
              </a:rPr>
              <a:t>河口重逢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8966200" y="1879600"/>
            <a:ext cx="26162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false" i="false" strike="noStrike" u="none" sz="1200">
                <a:solidFill>
                  <a:srgbClr val="465554"/>
                </a:solidFill>
                <a:latin typeface="Noto Sans SC"/>
                <a:ea typeface="Noto Sans SC"/>
                <a:cs typeface="Noto Sans SC"/>
                <a:sym typeface="Noto Sans SC"/>
              </a:rPr>
              <a:t>小天鹅在温榆河口找到妈妈，温暖收尾，呼应“向东看海”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13861" flipH="false" flipV="false">
            <a:off x="8432813" y="2762250"/>
            <a:ext cx="314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8E0D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 txBox="true"/>
          <p:nvPr/>
        </p:nvSpPr>
        <p:spPr>
          <a:xfrm rot="0" flipH="false" flipV="false">
            <a:off x="8432800" y="2946400"/>
            <a:ext cx="88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A6802D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8966200" y="2946400"/>
            <a:ext cx="2667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0A3F45"/>
                </a:solidFill>
                <a:latin typeface="Noto Sans SC"/>
                <a:ea typeface="Noto Sans SC"/>
                <a:cs typeface="Noto Sans SC"/>
                <a:sym typeface="Noto Sans SC"/>
              </a:rPr>
              <a:t>闯关成绩单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8966200" y="3302000"/>
            <a:ext cx="26162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false" i="false" strike="noStrike" u="none" sz="1200">
                <a:solidFill>
                  <a:srgbClr val="465554"/>
                </a:solidFill>
                <a:latin typeface="Noto Sans SC"/>
                <a:ea typeface="Noto Sans SC"/>
                <a:cs typeface="Noto Sans SC"/>
                <a:sym typeface="Noto Sans SC"/>
              </a:rPr>
              <a:t>水闸通关、知识图鉴、答对题数、闯关用时一目了然</a:t>
            </a:r>
            <a:endParaRPr lang="en-US" sz="1100"/>
          </a:p>
        </p:txBody>
      </p:sp>
      <p:cxnSp>
        <p:nvCxnSpPr>
          <p:cNvPr name="Connector 12" id="12"/>
          <p:cNvCxnSpPr/>
          <p:nvPr/>
        </p:nvCxnSpPr>
        <p:spPr>
          <a:xfrm rot="-13861" flipH="false" flipV="false">
            <a:off x="8432813" y="4184650"/>
            <a:ext cx="314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8E0D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3" id="13"/>
          <p:cNvSpPr txBox="true"/>
          <p:nvPr/>
        </p:nvSpPr>
        <p:spPr>
          <a:xfrm rot="0" flipH="false" flipV="false">
            <a:off x="8432800" y="4368800"/>
            <a:ext cx="88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A6802D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8966200" y="4368800"/>
            <a:ext cx="2667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0A3F45"/>
                </a:solidFill>
                <a:latin typeface="Noto Sans SC"/>
                <a:ea typeface="Noto Sans SC"/>
                <a:cs typeface="Noto Sans SC"/>
                <a:sym typeface="Noto Sans SC"/>
              </a:rPr>
              <a:t>称号与证书</a:t>
            </a:r>
            <a:endParaRPr lang="en-US" sz="1100"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8966200" y="4724400"/>
            <a:ext cx="26162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false" i="false" strike="noStrike" u="none" sz="1200">
                <a:solidFill>
                  <a:srgbClr val="465554"/>
                </a:solidFill>
                <a:latin typeface="Noto Sans SC"/>
                <a:ea typeface="Noto Sans SC"/>
                <a:cs typeface="Noto Sans SC"/>
                <a:sym typeface="Noto Sans SC"/>
              </a:rPr>
              <a:t>获“清河小卫士”称号，一键生成可分享的研学证书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432800" y="5689600"/>
            <a:ext cx="3149600" cy="381000"/>
          </a:xfrm>
          <a:prstGeom prst="roundRect">
            <a:avLst>
              <a:gd name="adj" fmla="val 0"/>
            </a:avLst>
          </a:prstGeom>
          <a:solidFill>
            <a:srgbClr val="EAF1E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8432800" y="5689600"/>
            <a:ext cx="31496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0A3F45"/>
                </a:solidFill>
                <a:latin typeface="Noto Sans SC"/>
                <a:ea typeface="Noto Sans SC"/>
                <a:cs typeface="Noto Sans SC"/>
                <a:sym typeface="Noto Sans SC"/>
              </a:rPr>
              <a:t>图鉴可回看、成绩可分享、复游有新题</a:t>
            </a:r>
            <a:endParaRPr lang="en-US" sz="1100"/>
          </a:p>
        </p:txBody>
      </p:sp>
      <p:cxnSp>
        <p:nvCxnSpPr>
          <p:cNvPr name="Connector 18" id="18"/>
          <p:cNvCxnSpPr/>
          <p:nvPr/>
        </p:nvCxnSpPr>
        <p:spPr>
          <a:xfrm rot="-4053" flipH="false" flipV="false">
            <a:off x="711204" y="62928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8E0D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9" id="19"/>
          <p:cNvSpPr txBox="true"/>
          <p:nvPr/>
        </p:nvSpPr>
        <p:spPr>
          <a:xfrm rot="0" flipH="false" flipV="false">
            <a:off x="711200" y="6400800"/>
            <a:ext cx="381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8A9695"/>
                </a:solidFill>
                <a:latin typeface="Noto Sans SC"/>
                <a:ea typeface="Noto Sans SC"/>
                <a:cs typeface="Noto Sans SC"/>
                <a:sym typeface="Noto Sans SC"/>
              </a:rPr>
              <a:t>清河之洲 · AI+教育游戏</a:t>
            </a:r>
            <a:endParaRPr lang="en-US" sz="1100"/>
          </a:p>
        </p:txBody>
      </p:sp>
      <p:sp>
        <p:nvSpPr>
          <p:cNvPr name="AutoShape 20" id="20"/>
          <p:cNvSpPr txBox="true"/>
          <p:nvPr/>
        </p:nvSpPr>
        <p:spPr>
          <a:xfrm rot="0" flipH="false" flipV="false">
            <a:off x="8255000" y="6400800"/>
            <a:ext cx="32258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8A9695"/>
                </a:solidFill>
                <a:latin typeface="Noto Sans SC"/>
                <a:ea typeface="Noto Sans SC"/>
                <a:cs typeface="Noto Sans SC"/>
                <a:sym typeface="Noto Sans SC"/>
              </a:rPr>
              <a:t>03 Demo 演示 · 10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711200" y="5588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0A3F45"/>
                </a:solidFill>
                <a:latin typeface="Noto Sans SC"/>
                <a:ea typeface="Noto Sans SC"/>
                <a:cs typeface="Noto Sans SC"/>
                <a:sym typeface="Noto Sans SC"/>
              </a:rPr>
              <a:t>知识题库：四大知识域，一题一识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66102" flipH="false" flipV="false">
            <a:off x="711261" y="1162050"/>
            <a:ext cx="660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C9A24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4" id="4"/>
          <p:cNvSpPr/>
          <p:nvPr/>
        </p:nvSpPr>
        <p:spPr>
          <a:xfrm rot="0" flipH="false" flipV="false">
            <a:off x="990600" y="1473200"/>
            <a:ext cx="558800" cy="558800"/>
          </a:xfrm>
          <a:prstGeom prst="ellipse">
            <a:avLst/>
          </a:prstGeom>
          <a:solidFill>
            <a:srgbClr val="0E5C63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130300" y="1612900"/>
            <a:ext cx="279400" cy="279400"/>
          </a:xfrm>
          <a:prstGeom prst="rect">
            <a:avLst/>
          </a:prstGeom>
        </p:spPr>
      </p:pic>
      <p:sp>
        <p:nvSpPr>
          <p:cNvPr name="AutoShape 6" id="6"/>
          <p:cNvSpPr txBox="true"/>
          <p:nvPr/>
        </p:nvSpPr>
        <p:spPr>
          <a:xfrm rot="0" flipH="false" flipV="false">
            <a:off x="1701800" y="1524000"/>
            <a:ext cx="165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0A3F45"/>
                </a:solidFill>
                <a:latin typeface="Noto Sans SC"/>
                <a:ea typeface="Noto Sans SC"/>
                <a:cs typeface="Noto Sans SC"/>
                <a:sym typeface="Noto Sans SC"/>
              </a:rPr>
              <a:t>水闸工程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16215" flipH="false" flipV="false">
            <a:off x="711215" y="2228850"/>
            <a:ext cx="2692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8E0D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 txBox="true"/>
          <p:nvPr/>
        </p:nvSpPr>
        <p:spPr>
          <a:xfrm rot="0" flipH="false" flipV="false">
            <a:off x="711200" y="2387600"/>
            <a:ext cx="2692400" cy="279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66666"/>
              </a:lnSpc>
              <a:defRPr/>
            </a:pPr>
            <a:r>
              <a:rPr lang="en-US" b="false" i="false" strike="noStrike" u="none" sz="1200">
                <a:solidFill>
                  <a:srgbClr val="465554"/>
                </a:solidFill>
                <a:latin typeface="Noto Sans SC"/>
                <a:ea typeface="Noto Sans SC"/>
                <a:cs typeface="Noto Sans SC"/>
                <a:sym typeface="Noto Sans SC"/>
              </a:rPr>
              <a:t>建造年代与改建历史</a:t>
            </a:r>
            <a:endParaRPr lang="en-US" sz="1100"/>
          </a:p>
          <a:p>
            <a:pPr algn="l" marL="0" indent="0">
              <a:lnSpc>
                <a:spcPct val="166666"/>
              </a:lnSpc>
            </a:pPr>
            <a:r>
              <a:rPr lang="en-US" b="false" i="false" strike="noStrike" u="none" sz="1200">
                <a:solidFill>
                  <a:srgbClr val="465554"/>
                </a:solidFill>
                <a:latin typeface="Noto Sans SC"/>
                <a:ea typeface="Noto Sans SC"/>
                <a:cs typeface="Noto Sans SC"/>
                <a:sym typeface="Noto Sans SC"/>
              </a:rPr>
              <a:t>闸型与启闭方式</a:t>
            </a:r>
          </a:p>
          <a:p>
            <a:pPr algn="l" marL="0" indent="0">
              <a:lnSpc>
                <a:spcPct val="166666"/>
              </a:lnSpc>
            </a:pPr>
            <a:r>
              <a:rPr lang="en-US" b="false" i="false" strike="noStrike" u="none" sz="1200">
                <a:solidFill>
                  <a:srgbClr val="465554"/>
                </a:solidFill>
                <a:latin typeface="Noto Sans SC"/>
                <a:ea typeface="Noto Sans SC"/>
                <a:cs typeface="Noto Sans SC"/>
                <a:sym typeface="Noto Sans SC"/>
              </a:rPr>
              <a:t>泄洪、防洪功能</a:t>
            </a:r>
          </a:p>
          <a:p>
            <a:pPr algn="l" marL="0" indent="0">
              <a:lnSpc>
                <a:spcPct val="166666"/>
              </a:lnSpc>
            </a:pPr>
            <a:r>
              <a:rPr lang="en-US" b="false" i="false" strike="noStrike" u="none" sz="1200">
                <a:solidFill>
                  <a:srgbClr val="465554"/>
                </a:solidFill>
                <a:latin typeface="Noto Sans SC"/>
                <a:ea typeface="Noto Sans SC"/>
                <a:cs typeface="Noto Sans SC"/>
                <a:sym typeface="Noto Sans SC"/>
              </a:rPr>
              <a:t>闸距与河段位置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3683000" y="1473200"/>
            <a:ext cx="558800" cy="558800"/>
          </a:xfrm>
          <a:prstGeom prst="ellipse">
            <a:avLst/>
          </a:prstGeom>
          <a:solidFill>
            <a:srgbClr val="0E5C63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3822700" y="1612900"/>
            <a:ext cx="279400" cy="279400"/>
          </a:xfrm>
          <a:prstGeom prst="rect">
            <a:avLst/>
          </a:prstGeom>
        </p:spPr>
      </p:pic>
      <p:sp>
        <p:nvSpPr>
          <p:cNvPr name="AutoShape 11" id="11"/>
          <p:cNvSpPr txBox="true"/>
          <p:nvPr/>
        </p:nvSpPr>
        <p:spPr>
          <a:xfrm rot="0" flipH="false" flipV="false">
            <a:off x="4394200" y="1524000"/>
            <a:ext cx="165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0A3F45"/>
                </a:solidFill>
                <a:latin typeface="Noto Sans SC"/>
                <a:ea typeface="Noto Sans SC"/>
                <a:cs typeface="Noto Sans SC"/>
                <a:sym typeface="Noto Sans SC"/>
              </a:rPr>
              <a:t>历史遗产</a:t>
            </a:r>
            <a:endParaRPr lang="en-US" sz="1100"/>
          </a:p>
        </p:txBody>
      </p:sp>
      <p:cxnSp>
        <p:nvCxnSpPr>
          <p:cNvPr name="Connector 12" id="12"/>
          <p:cNvCxnSpPr/>
          <p:nvPr/>
        </p:nvCxnSpPr>
        <p:spPr>
          <a:xfrm rot="-16215" flipH="false" flipV="false">
            <a:off x="3403615" y="2228850"/>
            <a:ext cx="2692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8E0D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3" id="13"/>
          <p:cNvSpPr txBox="true"/>
          <p:nvPr/>
        </p:nvSpPr>
        <p:spPr>
          <a:xfrm rot="0" flipH="false" flipV="false">
            <a:off x="3403600" y="2387600"/>
            <a:ext cx="2692400" cy="279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66666"/>
              </a:lnSpc>
              <a:defRPr/>
            </a:pPr>
            <a:r>
              <a:rPr lang="en-US" b="false" i="false" strike="noStrike" u="none" sz="1200">
                <a:solidFill>
                  <a:srgbClr val="465554"/>
                </a:solidFill>
                <a:latin typeface="Noto Sans SC"/>
                <a:ea typeface="Noto Sans SC"/>
                <a:cs typeface="Noto Sans SC"/>
                <a:sym typeface="Noto Sans SC"/>
              </a:rPr>
              <a:t>广济桥（明永乐）</a:t>
            </a:r>
            <a:endParaRPr lang="en-US" sz="1100"/>
          </a:p>
          <a:p>
            <a:pPr algn="l" marL="0" indent="0">
              <a:lnSpc>
                <a:spcPct val="166666"/>
              </a:lnSpc>
            </a:pPr>
            <a:r>
              <a:rPr lang="en-US" b="false" i="false" strike="noStrike" u="none" sz="1200">
                <a:solidFill>
                  <a:srgbClr val="465554"/>
                </a:solidFill>
                <a:latin typeface="Noto Sans SC"/>
                <a:ea typeface="Noto Sans SC"/>
                <a:cs typeface="Noto Sans SC"/>
                <a:sym typeface="Noto Sans SC"/>
              </a:rPr>
              <a:t>清河古城（战国—西汉）</a:t>
            </a:r>
          </a:p>
          <a:p>
            <a:pPr algn="l" marL="0" indent="0">
              <a:lnSpc>
                <a:spcPct val="166666"/>
              </a:lnSpc>
            </a:pPr>
            <a:r>
              <a:rPr lang="en-US" b="false" i="false" strike="noStrike" u="none" sz="1200">
                <a:solidFill>
                  <a:srgbClr val="465554"/>
                </a:solidFill>
                <a:latin typeface="Noto Sans SC"/>
                <a:ea typeface="Noto Sans SC"/>
                <a:cs typeface="Noto Sans SC"/>
                <a:sym typeface="Noto Sans SC"/>
              </a:rPr>
              <a:t>清河火车站（詹天佑）</a:t>
            </a:r>
          </a:p>
          <a:p>
            <a:pPr algn="l" marL="0" indent="0">
              <a:lnSpc>
                <a:spcPct val="166666"/>
              </a:lnSpc>
            </a:pPr>
            <a:r>
              <a:rPr lang="en-US" b="false" i="false" strike="noStrike" u="none" sz="1200">
                <a:solidFill>
                  <a:srgbClr val="465554"/>
                </a:solidFill>
                <a:latin typeface="Noto Sans SC"/>
                <a:ea typeface="Noto Sans SC"/>
                <a:cs typeface="Noto Sans SC"/>
                <a:sym typeface="Noto Sans SC"/>
              </a:rPr>
              <a:t>本裕仓、制呢厂、清真寺</a:t>
            </a:r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375400" y="1473200"/>
            <a:ext cx="558800" cy="558800"/>
          </a:xfrm>
          <a:prstGeom prst="ellipse">
            <a:avLst/>
          </a:prstGeom>
          <a:solidFill>
            <a:srgbClr val="0E5C63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6515100" y="1612900"/>
            <a:ext cx="279400" cy="279400"/>
          </a:xfrm>
          <a:prstGeom prst="rect">
            <a:avLst/>
          </a:prstGeom>
        </p:spPr>
      </p:pic>
      <p:sp>
        <p:nvSpPr>
          <p:cNvPr name="AutoShape 16" id="16"/>
          <p:cNvSpPr txBox="true"/>
          <p:nvPr/>
        </p:nvSpPr>
        <p:spPr>
          <a:xfrm rot="0" flipH="false" flipV="false">
            <a:off x="7086600" y="1524000"/>
            <a:ext cx="165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0A3F45"/>
                </a:solidFill>
                <a:latin typeface="Noto Sans SC"/>
                <a:ea typeface="Noto Sans SC"/>
                <a:cs typeface="Noto Sans SC"/>
                <a:sym typeface="Noto Sans SC"/>
              </a:rPr>
              <a:t>三山五园</a:t>
            </a:r>
            <a:endParaRPr lang="en-US" sz="1100"/>
          </a:p>
        </p:txBody>
      </p:sp>
      <p:cxnSp>
        <p:nvCxnSpPr>
          <p:cNvPr name="Connector 17" id="17"/>
          <p:cNvCxnSpPr/>
          <p:nvPr/>
        </p:nvCxnSpPr>
        <p:spPr>
          <a:xfrm rot="-16215" flipH="false" flipV="false">
            <a:off x="6096015" y="2228850"/>
            <a:ext cx="2692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8E0D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8" id="18"/>
          <p:cNvSpPr txBox="true"/>
          <p:nvPr/>
        </p:nvSpPr>
        <p:spPr>
          <a:xfrm rot="0" flipH="false" flipV="false">
            <a:off x="6096000" y="2387600"/>
            <a:ext cx="2692400" cy="279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66666"/>
              </a:lnSpc>
              <a:defRPr/>
            </a:pPr>
            <a:r>
              <a:rPr lang="en-US" b="false" i="false" strike="noStrike" u="none" sz="1200">
                <a:solidFill>
                  <a:srgbClr val="465554"/>
                </a:solidFill>
                <a:latin typeface="Noto Sans SC"/>
                <a:ea typeface="Noto Sans SC"/>
                <a:cs typeface="Noto Sans SC"/>
                <a:sym typeface="Noto Sans SC"/>
              </a:rPr>
              <a:t>圆明园景观与四十景</a:t>
            </a:r>
            <a:endParaRPr lang="en-US" sz="1100"/>
          </a:p>
          <a:p>
            <a:pPr algn="l" marL="0" indent="0">
              <a:lnSpc>
                <a:spcPct val="166666"/>
              </a:lnSpc>
            </a:pPr>
            <a:r>
              <a:rPr lang="en-US" b="false" i="false" strike="noStrike" u="none" sz="1200">
                <a:solidFill>
                  <a:srgbClr val="465554"/>
                </a:solidFill>
                <a:latin typeface="Noto Sans SC"/>
                <a:ea typeface="Noto Sans SC"/>
                <a:cs typeface="Noto Sans SC"/>
                <a:sym typeface="Noto Sans SC"/>
              </a:rPr>
              <a:t>乾隆《断桥残雪》</a:t>
            </a:r>
          </a:p>
          <a:p>
            <a:pPr algn="l" marL="0" indent="0">
              <a:lnSpc>
                <a:spcPct val="166666"/>
              </a:lnSpc>
            </a:pPr>
            <a:r>
              <a:rPr lang="en-US" b="false" i="false" strike="noStrike" u="none" sz="1200">
                <a:solidFill>
                  <a:srgbClr val="465554"/>
                </a:solidFill>
                <a:latin typeface="Noto Sans SC"/>
                <a:ea typeface="Noto Sans SC"/>
                <a:cs typeface="Noto Sans SC"/>
                <a:sym typeface="Noto Sans SC"/>
              </a:rPr>
              <a:t>碧云寺、香山</a:t>
            </a:r>
          </a:p>
          <a:p>
            <a:pPr algn="l" marL="0" indent="0">
              <a:lnSpc>
                <a:spcPct val="166666"/>
              </a:lnSpc>
            </a:pPr>
            <a:r>
              <a:rPr lang="en-US" b="false" i="false" strike="noStrike" u="none" sz="1200">
                <a:solidFill>
                  <a:srgbClr val="465554"/>
                </a:solidFill>
                <a:latin typeface="Noto Sans SC"/>
                <a:ea typeface="Noto Sans SC"/>
                <a:cs typeface="Noto Sans SC"/>
                <a:sym typeface="Noto Sans SC"/>
              </a:rPr>
              <a:t>京密引水渠</a:t>
            </a:r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9067800" y="1473200"/>
            <a:ext cx="558800" cy="558800"/>
          </a:xfrm>
          <a:prstGeom prst="ellipse">
            <a:avLst/>
          </a:prstGeom>
          <a:solidFill>
            <a:srgbClr val="C9A24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9207500" y="1612900"/>
            <a:ext cx="279400" cy="279400"/>
          </a:xfrm>
          <a:prstGeom prst="rect">
            <a:avLst/>
          </a:prstGeom>
        </p:spPr>
      </p:pic>
      <p:sp>
        <p:nvSpPr>
          <p:cNvPr name="AutoShape 21" id="21"/>
          <p:cNvSpPr txBox="true"/>
          <p:nvPr/>
        </p:nvSpPr>
        <p:spPr>
          <a:xfrm rot="0" flipH="false" flipV="false">
            <a:off x="9779000" y="1524000"/>
            <a:ext cx="165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0A3F45"/>
                </a:solidFill>
                <a:latin typeface="Noto Sans SC"/>
                <a:ea typeface="Noto Sans SC"/>
                <a:cs typeface="Noto Sans SC"/>
                <a:sym typeface="Noto Sans SC"/>
              </a:rPr>
              <a:t>生态科普</a:t>
            </a:r>
            <a:endParaRPr lang="en-US" sz="1100"/>
          </a:p>
        </p:txBody>
      </p:sp>
      <p:cxnSp>
        <p:nvCxnSpPr>
          <p:cNvPr name="Connector 22" id="22"/>
          <p:cNvCxnSpPr/>
          <p:nvPr/>
        </p:nvCxnSpPr>
        <p:spPr>
          <a:xfrm rot="-16215" flipH="false" flipV="false">
            <a:off x="8788415" y="2228850"/>
            <a:ext cx="2692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8E0D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3" id="23"/>
          <p:cNvSpPr txBox="true"/>
          <p:nvPr/>
        </p:nvSpPr>
        <p:spPr>
          <a:xfrm rot="0" flipH="false" flipV="false">
            <a:off x="8788400" y="2387600"/>
            <a:ext cx="2692400" cy="279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66666"/>
              </a:lnSpc>
              <a:defRPr/>
            </a:pPr>
            <a:r>
              <a:rPr lang="en-US" b="false" i="false" strike="noStrike" u="none" sz="1200">
                <a:solidFill>
                  <a:srgbClr val="465554"/>
                </a:solidFill>
                <a:latin typeface="Noto Sans SC"/>
                <a:ea typeface="Noto Sans SC"/>
                <a:cs typeface="Noto Sans SC"/>
                <a:sym typeface="Noto Sans SC"/>
              </a:rPr>
              <a:t>黑天鹅与水鸟观察</a:t>
            </a:r>
            <a:endParaRPr lang="en-US" sz="1100"/>
          </a:p>
          <a:p>
            <a:pPr algn="l" marL="0" indent="0">
              <a:lnSpc>
                <a:spcPct val="166666"/>
              </a:lnSpc>
            </a:pPr>
            <a:r>
              <a:rPr lang="en-US" b="false" i="false" strike="noStrike" u="none" sz="1200">
                <a:solidFill>
                  <a:srgbClr val="465554"/>
                </a:solidFill>
                <a:latin typeface="Noto Sans SC"/>
                <a:ea typeface="Noto Sans SC"/>
                <a:cs typeface="Noto Sans SC"/>
                <a:sym typeface="Noto Sans SC"/>
              </a:rPr>
              <a:t>30+ 鱼类、90+ 鸟类</a:t>
            </a:r>
          </a:p>
          <a:p>
            <a:pPr algn="l" marL="0" indent="0">
              <a:lnSpc>
                <a:spcPct val="166666"/>
              </a:lnSpc>
            </a:pPr>
            <a:r>
              <a:rPr lang="en-US" b="false" i="false" strike="noStrike" u="none" sz="1200">
                <a:solidFill>
                  <a:srgbClr val="465554"/>
                </a:solidFill>
                <a:latin typeface="Noto Sans SC"/>
                <a:ea typeface="Noto Sans SC"/>
                <a:cs typeface="Noto Sans SC"/>
                <a:sym typeface="Noto Sans SC"/>
              </a:rPr>
              <a:t>水泥坡到生态坡之变</a:t>
            </a:r>
          </a:p>
          <a:p>
            <a:pPr algn="l" marL="0" indent="0">
              <a:lnSpc>
                <a:spcPct val="166666"/>
              </a:lnSpc>
            </a:pPr>
            <a:r>
              <a:rPr lang="en-US" b="false" i="false" strike="noStrike" u="none" sz="1200">
                <a:solidFill>
                  <a:srgbClr val="465554"/>
                </a:solidFill>
                <a:latin typeface="Noto Sans SC"/>
                <a:ea typeface="Noto Sans SC"/>
                <a:cs typeface="Noto Sans SC"/>
                <a:sym typeface="Noto Sans SC"/>
              </a:rPr>
              <a:t>滨水绿道与慢行系统</a:t>
            </a:r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711200" y="5461000"/>
            <a:ext cx="10769600" cy="584200"/>
          </a:xfrm>
          <a:prstGeom prst="roundRect">
            <a:avLst>
              <a:gd name="adj" fmla="val 0"/>
            </a:avLst>
          </a:prstGeom>
          <a:solidFill>
            <a:srgbClr val="EAF1E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 txBox="true"/>
          <p:nvPr/>
        </p:nvSpPr>
        <p:spPr>
          <a:xfrm rot="0" flipH="false" flipV="false">
            <a:off x="1016000" y="5461000"/>
            <a:ext cx="10160000" cy="584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A3F45"/>
                </a:solidFill>
                <a:latin typeface="Noto Sans SC"/>
                <a:ea typeface="Noto Sans SC"/>
                <a:cs typeface="Noto Sans SC"/>
                <a:sym typeface="Noto Sans SC"/>
              </a:rPr>
              <a:t>题型：</a:t>
            </a:r>
            <a:r>
              <a:rPr lang="en-US" b="false" i="false" strike="noStrike" u="none" sz="1300">
                <a:solidFill>
                  <a:srgbClr val="0A3F45"/>
                </a:solidFill>
                <a:latin typeface="Noto Sans SC"/>
                <a:ea typeface="Noto Sans SC"/>
                <a:cs typeface="Noto Sans SC"/>
                <a:sym typeface="Noto Sans SC"/>
              </a:rPr>
              <a:t>选择 · 判断 · 连线 · 语音问答　|　AI 基于知识库持续生成新题，题库随景区活动动态更新</a:t>
            </a:r>
            <a:endParaRPr lang="en-US" sz="1100"/>
          </a:p>
        </p:txBody>
      </p:sp>
      <p:cxnSp>
        <p:nvCxnSpPr>
          <p:cNvPr name="Connector 26" id="26"/>
          <p:cNvCxnSpPr/>
          <p:nvPr/>
        </p:nvCxnSpPr>
        <p:spPr>
          <a:xfrm rot="-4053" flipH="false" flipV="false">
            <a:off x="711204" y="62928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8E0D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7" id="27"/>
          <p:cNvSpPr txBox="true"/>
          <p:nvPr/>
        </p:nvSpPr>
        <p:spPr>
          <a:xfrm rot="0" flipH="false" flipV="false">
            <a:off x="711200" y="6400800"/>
            <a:ext cx="381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8A9695"/>
                </a:solidFill>
                <a:latin typeface="Noto Sans SC"/>
                <a:ea typeface="Noto Sans SC"/>
                <a:cs typeface="Noto Sans SC"/>
                <a:sym typeface="Noto Sans SC"/>
              </a:rPr>
              <a:t>清河之洲 · AI+教育游戏</a:t>
            </a:r>
            <a:endParaRPr lang="en-US" sz="1100"/>
          </a:p>
        </p:txBody>
      </p:sp>
      <p:sp>
        <p:nvSpPr>
          <p:cNvPr name="AutoShape 28" id="28"/>
          <p:cNvSpPr txBox="true"/>
          <p:nvPr/>
        </p:nvSpPr>
        <p:spPr>
          <a:xfrm rot="0" flipH="false" flipV="false">
            <a:off x="8255000" y="6400800"/>
            <a:ext cx="32258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8A9695"/>
                </a:solidFill>
                <a:latin typeface="Noto Sans SC"/>
                <a:ea typeface="Noto Sans SC"/>
                <a:cs typeface="Noto Sans SC"/>
                <a:sym typeface="Noto Sans SC"/>
              </a:rPr>
              <a:t>04 知识与 AI · 11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711200" y="5588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0A3F45"/>
                </a:solidFill>
                <a:latin typeface="Noto Sans SC"/>
                <a:ea typeface="Noto Sans SC"/>
                <a:cs typeface="Noto Sans SC"/>
                <a:sym typeface="Noto Sans SC"/>
              </a:rPr>
              <a:t>AI 能力：一个懂清河、懂孩子的天鹅向导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66102" flipH="false" flipV="false">
            <a:off x="711261" y="1162050"/>
            <a:ext cx="660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C9A24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4" id="4"/>
          <p:cNvSpPr/>
          <p:nvPr/>
        </p:nvSpPr>
        <p:spPr>
          <a:xfrm rot="0" flipH="false" flipV="false">
            <a:off x="711200" y="1524000"/>
            <a:ext cx="6350000" cy="1143000"/>
          </a:xfrm>
          <a:prstGeom prst="roundRect">
            <a:avLst>
              <a:gd name="adj" fmla="val 0"/>
            </a:avLst>
          </a:prstGeom>
          <a:solidFill>
            <a:srgbClr val="0E5C63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990600" y="1701800"/>
            <a:ext cx="5842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体验层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990600" y="2032000"/>
            <a:ext cx="5842000" cy="584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9166"/>
              </a:lnSpc>
              <a:defRPr/>
            </a:pPr>
            <a:r>
              <a:rPr lang="en-US" b="false" i="false" strike="noStrike" u="none" sz="1250">
                <a:solidFill>
                  <a:srgbClr val="FFFFFF">
                    <a:alpha val="92157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剧情闯关 · 出题组卷 · 对话陪伴 · 讲解知识卡 · 研学报告</a:t>
            </a:r>
            <a:endParaRPr lang="en-US" sz="1100"/>
          </a:p>
          <a:p>
            <a:pPr algn="l" marL="0" indent="0">
              <a:lnSpc>
                <a:spcPct val="129166"/>
              </a:lnSpc>
            </a:pPr>
            <a:r>
              <a:rPr lang="en-US" b="false" i="false" strike="noStrike" u="none" sz="1250">
                <a:solidFill>
                  <a:srgbClr val="FFFFFF">
                    <a:alpha val="92157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示例：到达安河闸 → 回答闸名 → 闸门开启 → 获得知识卡</a:t>
            </a:r>
          </a:p>
        </p:txBody>
      </p:sp>
      <p:cxnSp>
        <p:nvCxnSpPr>
          <p:cNvPr name="Connector 7" id="7"/>
          <p:cNvCxnSpPr/>
          <p:nvPr/>
        </p:nvCxnSpPr>
        <p:spPr>
          <a:xfrm rot="5154862" flipH="false" flipV="false">
            <a:off x="3797300" y="2775176"/>
            <a:ext cx="177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8A9695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711200" y="2895600"/>
            <a:ext cx="6350000" cy="1143000"/>
          </a:xfrm>
          <a:prstGeom prst="roundRect">
            <a:avLst>
              <a:gd name="adj" fmla="val 0"/>
            </a:avLst>
          </a:prstGeom>
          <a:solidFill>
            <a:srgbClr val="EAF1E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990600" y="3073400"/>
            <a:ext cx="5842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0A3F45"/>
                </a:solidFill>
                <a:latin typeface="Noto Sans SC"/>
                <a:ea typeface="Noto Sans SC"/>
                <a:cs typeface="Noto Sans SC"/>
                <a:sym typeface="Noto Sans SC"/>
              </a:rPr>
              <a:t>模型层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990600" y="3403600"/>
            <a:ext cx="5842000" cy="584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9166"/>
              </a:lnSpc>
              <a:defRPr/>
            </a:pPr>
            <a:r>
              <a:rPr lang="en-US" b="false" i="false" strike="noStrike" u="none" sz="1200">
                <a:solidFill>
                  <a:srgbClr val="0E5C63"/>
                </a:solidFill>
                <a:latin typeface="Noto Sans SC"/>
                <a:ea typeface="Noto Sans SC"/>
                <a:cs typeface="Noto Sans SC"/>
                <a:sym typeface="Noto Sans SC"/>
              </a:rPr>
              <a:t>教育大模型 · RAG 清河知识检索 · 多题型生成 · 难度自适应 · 语音识别合成</a:t>
            </a:r>
            <a:endParaRPr lang="en-US" sz="1100"/>
          </a:p>
          <a:p>
            <a:pPr algn="l" marL="0" indent="0">
              <a:lnSpc>
                <a:spcPct val="129166"/>
              </a:lnSpc>
            </a:pPr>
            <a:r>
              <a:rPr lang="en-US" b="false" i="false" strike="noStrike" u="none" sz="1200">
                <a:solidFill>
                  <a:srgbClr val="0E5C63"/>
                </a:solidFill>
                <a:latin typeface="Noto Sans SC"/>
                <a:ea typeface="Noto Sans SC"/>
                <a:cs typeface="Noto Sans SC"/>
                <a:sym typeface="Noto Sans SC"/>
              </a:rPr>
              <a:t>示例：按年龄选难度，答错自动换问法、给分层提示</a:t>
            </a:r>
          </a:p>
        </p:txBody>
      </p:sp>
      <p:cxnSp>
        <p:nvCxnSpPr>
          <p:cNvPr name="Connector 11" id="11"/>
          <p:cNvCxnSpPr/>
          <p:nvPr/>
        </p:nvCxnSpPr>
        <p:spPr>
          <a:xfrm rot="5154862" flipH="false" flipV="false">
            <a:off x="3797300" y="4146776"/>
            <a:ext cx="177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8A9695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name="AutoShape 12" id="12"/>
          <p:cNvSpPr/>
          <p:nvPr/>
        </p:nvSpPr>
        <p:spPr>
          <a:xfrm rot="0" flipH="false" flipV="false">
            <a:off x="711200" y="4267200"/>
            <a:ext cx="6350000" cy="1143000"/>
          </a:xfrm>
          <a:prstGeom prst="roundRect">
            <a:avLst>
              <a:gd name="adj" fmla="val 0"/>
            </a:avLst>
          </a:prstGeom>
          <a:solidFill>
            <a:srgbClr val="F8F2E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990600" y="4445000"/>
            <a:ext cx="5842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A6802D"/>
                </a:solidFill>
                <a:latin typeface="Noto Sans SC"/>
                <a:ea typeface="Noto Sans SC"/>
                <a:cs typeface="Noto Sans SC"/>
                <a:sym typeface="Noto Sans SC"/>
              </a:rPr>
              <a:t>知识层</a:t>
            </a:r>
            <a:endParaRPr lang="en-US" sz="1100"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990600" y="4775200"/>
            <a:ext cx="5842000" cy="584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9166"/>
              </a:lnSpc>
              <a:defRPr/>
            </a:pPr>
            <a:r>
              <a:rPr lang="en-US" b="false" i="false" strike="noStrike" u="none" sz="1200">
                <a:solidFill>
                  <a:srgbClr val="826423"/>
                </a:solidFill>
                <a:latin typeface="Noto Sans SC"/>
                <a:ea typeface="Noto Sans SC"/>
                <a:cs typeface="Noto Sans SC"/>
                <a:sym typeface="Noto Sans SC"/>
              </a:rPr>
              <a:t>清河知识图谱：十闸 · 古迹 · 三山五园 · 生态 · 学习画像数据</a:t>
            </a:r>
            <a:endParaRPr lang="en-US" sz="1100"/>
          </a:p>
          <a:p>
            <a:pPr algn="l" marL="0" indent="0">
              <a:lnSpc>
                <a:spcPct val="129166"/>
              </a:lnSpc>
            </a:pPr>
            <a:r>
              <a:rPr lang="en-US" b="false" i="false" strike="noStrike" u="none" sz="1200">
                <a:solidFill>
                  <a:srgbClr val="826423"/>
                </a:solidFill>
                <a:latin typeface="Noto Sans SC"/>
                <a:ea typeface="Noto Sans SC"/>
                <a:cs typeface="Noto Sans SC"/>
                <a:sym typeface="Noto Sans SC"/>
              </a:rPr>
              <a:t>示例：闸名、年代、位置、周边古迹、生态数据结构化入库</a:t>
            </a:r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7620000" y="1473200"/>
            <a:ext cx="38608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A3F45"/>
                </a:solidFill>
                <a:latin typeface="Noto Sans SC"/>
                <a:ea typeface="Noto Sans SC"/>
                <a:cs typeface="Noto Sans SC"/>
                <a:sym typeface="Noto Sans SC"/>
              </a:rPr>
              <a:t>AI 五大能力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rot="-11308" flipH="false" flipV="false">
            <a:off x="7620010" y="1873250"/>
            <a:ext cx="3860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8E0D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17" id="17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7620000" y="2057400"/>
            <a:ext cx="254000" cy="254000"/>
          </a:xfrm>
          <a:prstGeom prst="rect">
            <a:avLst/>
          </a:prstGeom>
        </p:spPr>
      </p:pic>
      <p:sp>
        <p:nvSpPr>
          <p:cNvPr name="AutoShape 18" id="18"/>
          <p:cNvSpPr txBox="true"/>
          <p:nvPr/>
        </p:nvSpPr>
        <p:spPr>
          <a:xfrm rot="0" flipH="false" flipV="false">
            <a:off x="8001000" y="2032000"/>
            <a:ext cx="3556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A3F45"/>
                </a:solidFill>
                <a:latin typeface="Noto Sans SC"/>
                <a:ea typeface="Noto Sans SC"/>
                <a:cs typeface="Noto Sans SC"/>
                <a:sym typeface="Noto Sans SC"/>
              </a:rPr>
              <a:t>出题组卷</a:t>
            </a:r>
            <a:endParaRPr lang="en-US" sz="1100"/>
          </a:p>
        </p:txBody>
      </p:sp>
      <p:sp>
        <p:nvSpPr>
          <p:cNvPr name="AutoShape 19" id="19"/>
          <p:cNvSpPr txBox="true"/>
          <p:nvPr/>
        </p:nvSpPr>
        <p:spPr>
          <a:xfrm rot="0" flipH="false" flipV="false">
            <a:off x="8001000" y="2311400"/>
            <a:ext cx="35306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50">
                <a:solidFill>
                  <a:srgbClr val="8A9695"/>
                </a:solidFill>
                <a:latin typeface="Noto Sans SC"/>
                <a:ea typeface="Noto Sans SC"/>
                <a:cs typeface="Noto Sans SC"/>
                <a:sym typeface="Noto Sans SC"/>
              </a:rPr>
              <a:t>多题型自动生成，难度随表现自适应</a:t>
            </a:r>
            <a:endParaRPr lang="en-US" sz="1100"/>
          </a:p>
        </p:txBody>
      </p:sp>
      <p:cxnSp>
        <p:nvCxnSpPr>
          <p:cNvPr name="Connector 20" id="20"/>
          <p:cNvCxnSpPr/>
          <p:nvPr/>
        </p:nvCxnSpPr>
        <p:spPr>
          <a:xfrm rot="-11308" flipH="false" flipV="false">
            <a:off x="7620010" y="2711450"/>
            <a:ext cx="3860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8E0D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21" id="21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7620000" y="2895600"/>
            <a:ext cx="254000" cy="254000"/>
          </a:xfrm>
          <a:prstGeom prst="rect">
            <a:avLst/>
          </a:prstGeom>
        </p:spPr>
      </p:pic>
      <p:sp>
        <p:nvSpPr>
          <p:cNvPr name="AutoShape 22" id="22"/>
          <p:cNvSpPr txBox="true"/>
          <p:nvPr/>
        </p:nvSpPr>
        <p:spPr>
          <a:xfrm rot="0" flipH="false" flipV="false">
            <a:off x="8001000" y="2870200"/>
            <a:ext cx="3556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A3F45"/>
                </a:solidFill>
                <a:latin typeface="Noto Sans SC"/>
                <a:ea typeface="Noto Sans SC"/>
                <a:cs typeface="Noto Sans SC"/>
                <a:sym typeface="Noto Sans SC"/>
              </a:rPr>
              <a:t>天鹅向导对话</a:t>
            </a:r>
            <a:endParaRPr lang="en-US" sz="1100"/>
          </a:p>
        </p:txBody>
      </p:sp>
      <p:sp>
        <p:nvSpPr>
          <p:cNvPr name="AutoShape 23" id="23"/>
          <p:cNvSpPr txBox="true"/>
          <p:nvPr/>
        </p:nvSpPr>
        <p:spPr>
          <a:xfrm rot="0" flipH="false" flipV="false">
            <a:off x="8001000" y="3149600"/>
            <a:ext cx="35306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50">
                <a:solidFill>
                  <a:srgbClr val="8A9695"/>
                </a:solidFill>
                <a:latin typeface="Noto Sans SC"/>
                <a:ea typeface="Noto Sans SC"/>
                <a:cs typeface="Noto Sans SC"/>
                <a:sym typeface="Noto Sans SC"/>
              </a:rPr>
              <a:t>陪伴、提示与鼓励，可自由追问</a:t>
            </a:r>
            <a:endParaRPr lang="en-US" sz="1100"/>
          </a:p>
        </p:txBody>
      </p:sp>
      <p:cxnSp>
        <p:nvCxnSpPr>
          <p:cNvPr name="Connector 24" id="24"/>
          <p:cNvCxnSpPr/>
          <p:nvPr/>
        </p:nvCxnSpPr>
        <p:spPr>
          <a:xfrm rot="-11308" flipH="false" flipV="false">
            <a:off x="7620010" y="3549650"/>
            <a:ext cx="3860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8E0D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25" id="25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7620000" y="3733800"/>
            <a:ext cx="254000" cy="254000"/>
          </a:xfrm>
          <a:prstGeom prst="rect">
            <a:avLst/>
          </a:prstGeom>
        </p:spPr>
      </p:pic>
      <p:sp>
        <p:nvSpPr>
          <p:cNvPr name="AutoShape 26" id="26"/>
          <p:cNvSpPr txBox="true"/>
          <p:nvPr/>
        </p:nvSpPr>
        <p:spPr>
          <a:xfrm rot="0" flipH="false" flipV="false">
            <a:off x="8001000" y="3708400"/>
            <a:ext cx="3556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A3F45"/>
                </a:solidFill>
                <a:latin typeface="Noto Sans SC"/>
                <a:ea typeface="Noto Sans SC"/>
                <a:cs typeface="Noto Sans SC"/>
                <a:sym typeface="Noto Sans SC"/>
              </a:rPr>
              <a:t>语音交互</a:t>
            </a:r>
            <a:endParaRPr lang="en-US" sz="1100"/>
          </a:p>
        </p:txBody>
      </p:sp>
      <p:sp>
        <p:nvSpPr>
          <p:cNvPr name="AutoShape 27" id="27"/>
          <p:cNvSpPr txBox="true"/>
          <p:nvPr/>
        </p:nvSpPr>
        <p:spPr>
          <a:xfrm rot="0" flipH="false" flipV="false">
            <a:off x="8001000" y="3987800"/>
            <a:ext cx="35306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50">
                <a:solidFill>
                  <a:srgbClr val="8A9695"/>
                </a:solidFill>
                <a:latin typeface="Noto Sans SC"/>
                <a:ea typeface="Noto Sans SC"/>
                <a:cs typeface="Noto Sans SC"/>
                <a:sym typeface="Noto Sans SC"/>
              </a:rPr>
              <a:t>语音报答案，针对童声优化识别</a:t>
            </a:r>
            <a:endParaRPr lang="en-US" sz="1100"/>
          </a:p>
        </p:txBody>
      </p:sp>
      <p:cxnSp>
        <p:nvCxnSpPr>
          <p:cNvPr name="Connector 28" id="28"/>
          <p:cNvCxnSpPr/>
          <p:nvPr/>
        </p:nvCxnSpPr>
        <p:spPr>
          <a:xfrm rot="-11308" flipH="false" flipV="false">
            <a:off x="7620010" y="4387850"/>
            <a:ext cx="3860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8E0D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29" id="29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7620000" y="4572000"/>
            <a:ext cx="254000" cy="254000"/>
          </a:xfrm>
          <a:prstGeom prst="rect">
            <a:avLst/>
          </a:prstGeom>
        </p:spPr>
      </p:pic>
      <p:sp>
        <p:nvSpPr>
          <p:cNvPr name="AutoShape 30" id="30"/>
          <p:cNvSpPr txBox="true"/>
          <p:nvPr/>
        </p:nvSpPr>
        <p:spPr>
          <a:xfrm rot="0" flipH="false" flipV="false">
            <a:off x="8001000" y="4546600"/>
            <a:ext cx="3556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A3F45"/>
                </a:solidFill>
                <a:latin typeface="Noto Sans SC"/>
                <a:ea typeface="Noto Sans SC"/>
                <a:cs typeface="Noto Sans SC"/>
                <a:sym typeface="Noto Sans SC"/>
              </a:rPr>
              <a:t>AI 讲解</a:t>
            </a:r>
            <a:endParaRPr lang="en-US" sz="1100"/>
          </a:p>
        </p:txBody>
      </p:sp>
      <p:sp>
        <p:nvSpPr>
          <p:cNvPr name="AutoShape 31" id="31"/>
          <p:cNvSpPr txBox="true"/>
          <p:nvPr/>
        </p:nvSpPr>
        <p:spPr>
          <a:xfrm rot="0" flipH="false" flipV="false">
            <a:off x="8001000" y="4826000"/>
            <a:ext cx="35306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50">
                <a:solidFill>
                  <a:srgbClr val="8A9695"/>
                </a:solidFill>
                <a:latin typeface="Noto Sans SC"/>
                <a:ea typeface="Noto Sans SC"/>
                <a:cs typeface="Noto Sans SC"/>
                <a:sym typeface="Noto Sans SC"/>
              </a:rPr>
              <a:t>自动生成知识卡，按需延展历史故事</a:t>
            </a:r>
            <a:endParaRPr lang="en-US" sz="1100"/>
          </a:p>
        </p:txBody>
      </p:sp>
      <p:cxnSp>
        <p:nvCxnSpPr>
          <p:cNvPr name="Connector 32" id="32"/>
          <p:cNvCxnSpPr/>
          <p:nvPr/>
        </p:nvCxnSpPr>
        <p:spPr>
          <a:xfrm rot="-11308" flipH="false" flipV="false">
            <a:off x="7620010" y="5226050"/>
            <a:ext cx="3860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8E0D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33" id="33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7620000" y="5410200"/>
            <a:ext cx="254000" cy="254000"/>
          </a:xfrm>
          <a:prstGeom prst="rect">
            <a:avLst/>
          </a:prstGeom>
        </p:spPr>
      </p:pic>
      <p:sp>
        <p:nvSpPr>
          <p:cNvPr name="AutoShape 34" id="34"/>
          <p:cNvSpPr txBox="true"/>
          <p:nvPr/>
        </p:nvSpPr>
        <p:spPr>
          <a:xfrm rot="0" flipH="false" flipV="false">
            <a:off x="8001000" y="5384800"/>
            <a:ext cx="3556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A3F45"/>
                </a:solidFill>
                <a:latin typeface="Noto Sans SC"/>
                <a:ea typeface="Noto Sans SC"/>
                <a:cs typeface="Noto Sans SC"/>
                <a:sym typeface="Noto Sans SC"/>
              </a:rPr>
              <a:t>学习画像</a:t>
            </a:r>
            <a:endParaRPr lang="en-US" sz="1100"/>
          </a:p>
        </p:txBody>
      </p:sp>
      <p:sp>
        <p:nvSpPr>
          <p:cNvPr name="AutoShape 35" id="35"/>
          <p:cNvSpPr txBox="true"/>
          <p:nvPr/>
        </p:nvSpPr>
        <p:spPr>
          <a:xfrm rot="0" flipH="false" flipV="false">
            <a:off x="8001000" y="5664200"/>
            <a:ext cx="35306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50">
                <a:solidFill>
                  <a:srgbClr val="8A9695"/>
                </a:solidFill>
                <a:latin typeface="Noto Sans SC"/>
                <a:ea typeface="Noto Sans SC"/>
                <a:cs typeface="Noto Sans SC"/>
                <a:sym typeface="Noto Sans SC"/>
              </a:rPr>
              <a:t>薄弱点分析、个性化复习与研学报告</a:t>
            </a:r>
            <a:endParaRPr lang="en-US" sz="1100"/>
          </a:p>
        </p:txBody>
      </p:sp>
      <p:cxnSp>
        <p:nvCxnSpPr>
          <p:cNvPr name="Connector 36" id="36"/>
          <p:cNvCxnSpPr/>
          <p:nvPr/>
        </p:nvCxnSpPr>
        <p:spPr>
          <a:xfrm rot="-4053" flipH="false" flipV="false">
            <a:off x="711204" y="62928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8E0D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37" id="37"/>
          <p:cNvSpPr txBox="true"/>
          <p:nvPr/>
        </p:nvSpPr>
        <p:spPr>
          <a:xfrm rot="0" flipH="false" flipV="false">
            <a:off x="711200" y="6400800"/>
            <a:ext cx="381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8A9695"/>
                </a:solidFill>
                <a:latin typeface="Noto Sans SC"/>
                <a:ea typeface="Noto Sans SC"/>
                <a:cs typeface="Noto Sans SC"/>
                <a:sym typeface="Noto Sans SC"/>
              </a:rPr>
              <a:t>清河之洲 · AI+教育游戏</a:t>
            </a:r>
            <a:endParaRPr lang="en-US" sz="1100"/>
          </a:p>
        </p:txBody>
      </p:sp>
      <p:sp>
        <p:nvSpPr>
          <p:cNvPr name="AutoShape 38" id="38"/>
          <p:cNvSpPr txBox="true"/>
          <p:nvPr/>
        </p:nvSpPr>
        <p:spPr>
          <a:xfrm rot="0" flipH="false" flipV="false">
            <a:off x="8255000" y="6400800"/>
            <a:ext cx="32258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8A9695"/>
                </a:solidFill>
                <a:latin typeface="Noto Sans SC"/>
                <a:ea typeface="Noto Sans SC"/>
                <a:cs typeface="Noto Sans SC"/>
                <a:sym typeface="Noto Sans SC"/>
              </a:rPr>
              <a:t>04 知识与 AI · 12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711200" y="5588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0A3F45"/>
                </a:solidFill>
                <a:latin typeface="Noto Sans SC"/>
                <a:ea typeface="Noto Sans SC"/>
                <a:cs typeface="Noto Sans SC"/>
                <a:sym typeface="Noto Sans SC"/>
              </a:rPr>
              <a:t>产品形态：一套游戏，四种触达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66102" flipH="false" flipV="false">
            <a:off x="711261" y="1162050"/>
            <a:ext cx="660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C9A24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4" id="4"/>
          <p:cNvSpPr/>
          <p:nvPr/>
        </p:nvSpPr>
        <p:spPr>
          <a:xfrm rot="0" flipH="false" flipV="false">
            <a:off x="1778000" y="1473200"/>
            <a:ext cx="558800" cy="558800"/>
          </a:xfrm>
          <a:prstGeom prst="ellipse">
            <a:avLst/>
          </a:prstGeom>
          <a:solidFill>
            <a:srgbClr val="0E5C63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917700" y="1612900"/>
            <a:ext cx="279400" cy="279400"/>
          </a:xfrm>
          <a:prstGeom prst="rect">
            <a:avLst/>
          </a:prstGeom>
        </p:spPr>
      </p:pic>
      <p:sp>
        <p:nvSpPr>
          <p:cNvPr name="AutoShape 6" id="6"/>
          <p:cNvSpPr txBox="true"/>
          <p:nvPr/>
        </p:nvSpPr>
        <p:spPr>
          <a:xfrm rot="0" flipH="false" flipV="false">
            <a:off x="711200" y="2260600"/>
            <a:ext cx="26924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A3F45"/>
                </a:solidFill>
                <a:latin typeface="Noto Sans SC"/>
                <a:ea typeface="Noto Sans SC"/>
                <a:cs typeface="Noto Sans SC"/>
                <a:sym typeface="Noto Sans SC"/>
              </a:rPr>
              <a:t>微信小程序 / H5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19986" flipH="false" flipV="false">
            <a:off x="965218" y="2711450"/>
            <a:ext cx="2184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8E0D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 txBox="true"/>
          <p:nvPr/>
        </p:nvSpPr>
        <p:spPr>
          <a:xfrm rot="0" flipH="false" flipV="false">
            <a:off x="863600" y="2870200"/>
            <a:ext cx="24130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66666"/>
              </a:lnSpc>
              <a:defRPr/>
            </a:pPr>
            <a:r>
              <a:rPr lang="en-US" b="false" i="false" strike="noStrike" u="none" sz="1200">
                <a:solidFill>
                  <a:srgbClr val="465554"/>
                </a:solidFill>
                <a:latin typeface="Noto Sans SC"/>
                <a:ea typeface="Noto Sans SC"/>
                <a:cs typeface="Noto Sans SC"/>
                <a:sym typeface="Noto Sans SC"/>
              </a:rPr>
              <a:t>扫码即玩，无需下载</a:t>
            </a:r>
            <a:endParaRPr lang="en-US" sz="1100"/>
          </a:p>
          <a:p>
            <a:pPr algn="ctr" marL="0" indent="0">
              <a:lnSpc>
                <a:spcPct val="166666"/>
              </a:lnSpc>
            </a:pPr>
            <a:r>
              <a:rPr lang="en-US" b="false" i="false" strike="noStrike" u="none" sz="1200">
                <a:solidFill>
                  <a:srgbClr val="465554"/>
                </a:solidFill>
                <a:latin typeface="Noto Sans SC"/>
                <a:ea typeface="Noto Sans SC"/>
                <a:cs typeface="Noto Sans SC"/>
                <a:sym typeface="Noto Sans SC"/>
              </a:rPr>
              <a:t>线上随时复玩与分享</a:t>
            </a:r>
          </a:p>
          <a:p>
            <a:pPr algn="ctr" marL="0" indent="0">
              <a:lnSpc>
                <a:spcPct val="166666"/>
              </a:lnSpc>
            </a:pPr>
            <a:r>
              <a:rPr lang="en-US" b="false" i="false" strike="noStrike" u="none" sz="1200">
                <a:solidFill>
                  <a:srgbClr val="465554"/>
                </a:solidFill>
                <a:latin typeface="Noto Sans SC"/>
                <a:ea typeface="Noto Sans SC"/>
                <a:cs typeface="Noto Sans SC"/>
                <a:sym typeface="Noto Sans SC"/>
              </a:rPr>
              <a:t>适配手机与平板</a:t>
            </a:r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711200" y="4978400"/>
            <a:ext cx="26924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A6802D"/>
                </a:solidFill>
                <a:latin typeface="Noto Sans SC"/>
                <a:ea typeface="Noto Sans SC"/>
                <a:cs typeface="Noto Sans SC"/>
                <a:sym typeface="Noto Sans SC"/>
              </a:rPr>
              <a:t>线上引流 · 家庭日常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470400" y="1473200"/>
            <a:ext cx="558800" cy="558800"/>
          </a:xfrm>
          <a:prstGeom prst="ellipse">
            <a:avLst/>
          </a:prstGeom>
          <a:solidFill>
            <a:srgbClr val="0E5C63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610100" y="1612900"/>
            <a:ext cx="279400" cy="279400"/>
          </a:xfrm>
          <a:prstGeom prst="rect">
            <a:avLst/>
          </a:prstGeom>
        </p:spPr>
      </p:pic>
      <p:sp>
        <p:nvSpPr>
          <p:cNvPr name="AutoShape 12" id="12"/>
          <p:cNvSpPr txBox="true"/>
          <p:nvPr/>
        </p:nvSpPr>
        <p:spPr>
          <a:xfrm rot="0" flipH="false" flipV="false">
            <a:off x="3403600" y="2260600"/>
            <a:ext cx="26924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A3F45"/>
                </a:solidFill>
                <a:latin typeface="Noto Sans SC"/>
                <a:ea typeface="Noto Sans SC"/>
                <a:cs typeface="Noto Sans SC"/>
                <a:sym typeface="Noto Sans SC"/>
              </a:rPr>
              <a:t>景区互动大屏</a:t>
            </a:r>
            <a:endParaRPr lang="en-US" sz="1100"/>
          </a:p>
        </p:txBody>
      </p:sp>
      <p:cxnSp>
        <p:nvCxnSpPr>
          <p:cNvPr name="Connector 13" id="13"/>
          <p:cNvCxnSpPr/>
          <p:nvPr/>
        </p:nvCxnSpPr>
        <p:spPr>
          <a:xfrm rot="-19986" flipH="false" flipV="false">
            <a:off x="3657618" y="2711450"/>
            <a:ext cx="2184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8E0D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4" id="14"/>
          <p:cNvSpPr txBox="true"/>
          <p:nvPr/>
        </p:nvSpPr>
        <p:spPr>
          <a:xfrm rot="0" flipH="false" flipV="false">
            <a:off x="3556000" y="2870200"/>
            <a:ext cx="24130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66666"/>
              </a:lnSpc>
              <a:defRPr/>
            </a:pPr>
            <a:r>
              <a:rPr lang="en-US" b="false" i="false" strike="noStrike" u="none" sz="1200">
                <a:solidFill>
                  <a:srgbClr val="465554"/>
                </a:solidFill>
                <a:latin typeface="Noto Sans SC"/>
                <a:ea typeface="Noto Sans SC"/>
                <a:cs typeface="Noto Sans SC"/>
                <a:sym typeface="Noto Sans SC"/>
              </a:rPr>
              <a:t>开屏即玩，多人围观</a:t>
            </a:r>
            <a:endParaRPr lang="en-US" sz="1100"/>
          </a:p>
          <a:p>
            <a:pPr algn="ctr" marL="0" indent="0">
              <a:lnSpc>
                <a:spcPct val="166666"/>
              </a:lnSpc>
            </a:pPr>
            <a:r>
              <a:rPr lang="en-US" b="false" i="false" strike="noStrike" u="none" sz="1200">
                <a:solidFill>
                  <a:srgbClr val="465554"/>
                </a:solidFill>
                <a:latin typeface="Noto Sans SC"/>
                <a:ea typeface="Noto Sans SC"/>
                <a:cs typeface="Noto Sans SC"/>
                <a:sym typeface="Noto Sans SC"/>
              </a:rPr>
              <a:t>轮流作答，现场聚客</a:t>
            </a:r>
          </a:p>
          <a:p>
            <a:pPr algn="ctr" marL="0" indent="0">
              <a:lnSpc>
                <a:spcPct val="166666"/>
              </a:lnSpc>
            </a:pPr>
            <a:r>
              <a:rPr lang="en-US" b="false" i="false" strike="noStrike" u="none" sz="1200">
                <a:solidFill>
                  <a:srgbClr val="465554"/>
                </a:solidFill>
                <a:latin typeface="Noto Sans SC"/>
                <a:ea typeface="Noto Sans SC"/>
                <a:cs typeface="Noto Sans SC"/>
                <a:sym typeface="Noto Sans SC"/>
              </a:rPr>
              <a:t>串联园区点位导览</a:t>
            </a:r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3403600" y="4978400"/>
            <a:ext cx="26924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A6802D"/>
                </a:solidFill>
                <a:latin typeface="Noto Sans SC"/>
                <a:ea typeface="Noto Sans SC"/>
                <a:cs typeface="Noto Sans SC"/>
                <a:sym typeface="Noto Sans SC"/>
              </a:rPr>
              <a:t>现场聚客 · 氛围营造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162800" y="1473200"/>
            <a:ext cx="558800" cy="558800"/>
          </a:xfrm>
          <a:prstGeom prst="ellipse">
            <a:avLst/>
          </a:prstGeom>
          <a:solidFill>
            <a:srgbClr val="0E5C63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7302500" y="1612900"/>
            <a:ext cx="279400" cy="279400"/>
          </a:xfrm>
          <a:prstGeom prst="rect">
            <a:avLst/>
          </a:prstGeom>
        </p:spPr>
      </p:pic>
      <p:sp>
        <p:nvSpPr>
          <p:cNvPr name="AutoShape 18" id="18"/>
          <p:cNvSpPr txBox="true"/>
          <p:nvPr/>
        </p:nvSpPr>
        <p:spPr>
          <a:xfrm rot="0" flipH="false" flipV="false">
            <a:off x="6096000" y="2260600"/>
            <a:ext cx="26924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A3F45"/>
                </a:solidFill>
                <a:latin typeface="Noto Sans SC"/>
                <a:ea typeface="Noto Sans SC"/>
                <a:cs typeface="Noto Sans SC"/>
                <a:sym typeface="Noto Sans SC"/>
              </a:rPr>
              <a:t>线下 AR 打卡</a:t>
            </a:r>
            <a:endParaRPr lang="en-US" sz="1100"/>
          </a:p>
        </p:txBody>
      </p:sp>
      <p:cxnSp>
        <p:nvCxnSpPr>
          <p:cNvPr name="Connector 19" id="19"/>
          <p:cNvCxnSpPr/>
          <p:nvPr/>
        </p:nvCxnSpPr>
        <p:spPr>
          <a:xfrm rot="-19986" flipH="false" flipV="false">
            <a:off x="6350018" y="2711450"/>
            <a:ext cx="2184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8E0D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0" id="20"/>
          <p:cNvSpPr txBox="true"/>
          <p:nvPr/>
        </p:nvSpPr>
        <p:spPr>
          <a:xfrm rot="0" flipH="false" flipV="false">
            <a:off x="6248400" y="2870200"/>
            <a:ext cx="24130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66666"/>
              </a:lnSpc>
              <a:defRPr/>
            </a:pPr>
            <a:r>
              <a:rPr lang="en-US" b="false" i="false" strike="noStrike" u="none" sz="1200">
                <a:solidFill>
                  <a:srgbClr val="465554"/>
                </a:solidFill>
                <a:latin typeface="Noto Sans SC"/>
                <a:ea typeface="Noto Sans SC"/>
                <a:cs typeface="Noto Sans SC"/>
                <a:sym typeface="Noto Sans SC"/>
              </a:rPr>
              <a:t>到闸口实地扫码</a:t>
            </a:r>
            <a:endParaRPr lang="en-US" sz="1100"/>
          </a:p>
          <a:p>
            <a:pPr algn="ctr" marL="0" indent="0">
              <a:lnSpc>
                <a:spcPct val="166666"/>
              </a:lnSpc>
            </a:pPr>
            <a:r>
              <a:rPr lang="en-US" b="false" i="false" strike="noStrike" u="none" sz="1200">
                <a:solidFill>
                  <a:srgbClr val="465554"/>
                </a:solidFill>
                <a:latin typeface="Noto Sans SC"/>
                <a:ea typeface="Noto Sans SC"/>
                <a:cs typeface="Noto Sans SC"/>
                <a:sym typeface="Noto Sans SC"/>
              </a:rPr>
              <a:t>AR 闸门开启动画</a:t>
            </a:r>
          </a:p>
          <a:p>
            <a:pPr algn="ctr" marL="0" indent="0">
              <a:lnSpc>
                <a:spcPct val="166666"/>
              </a:lnSpc>
            </a:pPr>
            <a:r>
              <a:rPr lang="en-US" b="false" i="false" strike="noStrike" u="none" sz="1200">
                <a:solidFill>
                  <a:srgbClr val="465554"/>
                </a:solidFill>
                <a:latin typeface="Noto Sans SC"/>
                <a:ea typeface="Noto Sans SC"/>
                <a:cs typeface="Noto Sans SC"/>
                <a:sym typeface="Noto Sans SC"/>
              </a:rPr>
              <a:t>线上线下任务同步</a:t>
            </a:r>
          </a:p>
        </p:txBody>
      </p:sp>
      <p:sp>
        <p:nvSpPr>
          <p:cNvPr name="AutoShape 21" id="21"/>
          <p:cNvSpPr txBox="true"/>
          <p:nvPr/>
        </p:nvSpPr>
        <p:spPr>
          <a:xfrm rot="0" flipH="false" flipV="false">
            <a:off x="6096000" y="4978400"/>
            <a:ext cx="26924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A6802D"/>
                </a:solidFill>
                <a:latin typeface="Noto Sans SC"/>
                <a:ea typeface="Noto Sans SC"/>
                <a:cs typeface="Noto Sans SC"/>
                <a:sym typeface="Noto Sans SC"/>
              </a:rPr>
              <a:t>实地研学 · 深度游览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9855200" y="1473200"/>
            <a:ext cx="558800" cy="558800"/>
          </a:xfrm>
          <a:prstGeom prst="ellipse">
            <a:avLst/>
          </a:prstGeom>
          <a:solidFill>
            <a:srgbClr val="C9A24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9994900" y="1612900"/>
            <a:ext cx="279400" cy="279400"/>
          </a:xfrm>
          <a:prstGeom prst="rect">
            <a:avLst/>
          </a:prstGeom>
        </p:spPr>
      </p:pic>
      <p:sp>
        <p:nvSpPr>
          <p:cNvPr name="AutoShape 24" id="24"/>
          <p:cNvSpPr txBox="true"/>
          <p:nvPr/>
        </p:nvSpPr>
        <p:spPr>
          <a:xfrm rot="0" flipH="false" flipV="false">
            <a:off x="8788400" y="2260600"/>
            <a:ext cx="26924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A3F45"/>
                </a:solidFill>
                <a:latin typeface="Noto Sans SC"/>
                <a:ea typeface="Noto Sans SC"/>
                <a:cs typeface="Noto Sans SC"/>
                <a:sym typeface="Noto Sans SC"/>
              </a:rPr>
              <a:t>研学课程版</a:t>
            </a:r>
            <a:endParaRPr lang="en-US" sz="1100"/>
          </a:p>
        </p:txBody>
      </p:sp>
      <p:cxnSp>
        <p:nvCxnSpPr>
          <p:cNvPr name="Connector 25" id="25"/>
          <p:cNvCxnSpPr/>
          <p:nvPr/>
        </p:nvCxnSpPr>
        <p:spPr>
          <a:xfrm rot="-19986" flipH="false" flipV="false">
            <a:off x="9042418" y="2711450"/>
            <a:ext cx="2184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8E0D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6" id="26"/>
          <p:cNvSpPr txBox="true"/>
          <p:nvPr/>
        </p:nvSpPr>
        <p:spPr>
          <a:xfrm rot="0" flipH="false" flipV="false">
            <a:off x="8940800" y="2870200"/>
            <a:ext cx="24130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66666"/>
              </a:lnSpc>
              <a:defRPr/>
            </a:pPr>
            <a:r>
              <a:rPr lang="en-US" b="false" i="false" strike="noStrike" u="none" sz="1200">
                <a:solidFill>
                  <a:srgbClr val="465554"/>
                </a:solidFill>
                <a:latin typeface="Noto Sans SC"/>
                <a:ea typeface="Noto Sans SC"/>
                <a:cs typeface="Noto Sans SC"/>
                <a:sym typeface="Noto Sans SC"/>
              </a:rPr>
              <a:t>班级多人组队闯关</a:t>
            </a:r>
            <a:endParaRPr lang="en-US" sz="1100"/>
          </a:p>
          <a:p>
            <a:pPr algn="ctr" marL="0" indent="0">
              <a:lnSpc>
                <a:spcPct val="166666"/>
              </a:lnSpc>
            </a:pPr>
            <a:r>
              <a:rPr lang="en-US" b="false" i="false" strike="noStrike" u="none" sz="1200">
                <a:solidFill>
                  <a:srgbClr val="465554"/>
                </a:solidFill>
                <a:latin typeface="Noto Sans SC"/>
                <a:ea typeface="Noto Sans SC"/>
                <a:cs typeface="Noto Sans SC"/>
                <a:sym typeface="Noto Sans SC"/>
              </a:rPr>
              <a:t>教师后台布置任务</a:t>
            </a:r>
          </a:p>
          <a:p>
            <a:pPr algn="ctr" marL="0" indent="0">
              <a:lnSpc>
                <a:spcPct val="166666"/>
              </a:lnSpc>
            </a:pPr>
            <a:r>
              <a:rPr lang="en-US" b="false" i="false" strike="noStrike" u="none" sz="1200">
                <a:solidFill>
                  <a:srgbClr val="465554"/>
                </a:solidFill>
                <a:latin typeface="Noto Sans SC"/>
                <a:ea typeface="Noto Sans SC"/>
                <a:cs typeface="Noto Sans SC"/>
                <a:sym typeface="Noto Sans SC"/>
              </a:rPr>
              <a:t>自动生成研学报告</a:t>
            </a:r>
          </a:p>
        </p:txBody>
      </p:sp>
      <p:sp>
        <p:nvSpPr>
          <p:cNvPr name="AutoShape 27" id="27"/>
          <p:cNvSpPr txBox="true"/>
          <p:nvPr/>
        </p:nvSpPr>
        <p:spPr>
          <a:xfrm rot="0" flipH="false" flipV="false">
            <a:off x="8788400" y="4978400"/>
            <a:ext cx="26924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A6802D"/>
                </a:solidFill>
                <a:latin typeface="Noto Sans SC"/>
                <a:ea typeface="Noto Sans SC"/>
                <a:cs typeface="Noto Sans SC"/>
                <a:sym typeface="Noto Sans SC"/>
              </a:rPr>
              <a:t>学校与研学机构</a:t>
            </a:r>
            <a:endParaRPr lang="en-US" sz="1100"/>
          </a:p>
        </p:txBody>
      </p:sp>
      <p:sp>
        <p:nvSpPr>
          <p:cNvPr name="AutoShape 28" id="28"/>
          <p:cNvSpPr txBox="true"/>
          <p:nvPr/>
        </p:nvSpPr>
        <p:spPr>
          <a:xfrm rot="0" flipH="false" flipV="false">
            <a:off x="711200" y="5588000"/>
            <a:ext cx="107696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8A9695"/>
                </a:solidFill>
                <a:latin typeface="Noto Sans SC"/>
                <a:ea typeface="Noto Sans SC"/>
                <a:cs typeface="Noto Sans SC"/>
                <a:sym typeface="Noto Sans SC"/>
              </a:rPr>
              <a:t>同一套账号、进度与图鉴，在手机、大屏、实地与课堂之间无缝衔接</a:t>
            </a:r>
            <a:endParaRPr lang="en-US" sz="1100"/>
          </a:p>
        </p:txBody>
      </p:sp>
      <p:cxnSp>
        <p:nvCxnSpPr>
          <p:cNvPr name="Connector 29" id="29"/>
          <p:cNvCxnSpPr/>
          <p:nvPr/>
        </p:nvCxnSpPr>
        <p:spPr>
          <a:xfrm rot="-4053" flipH="false" flipV="false">
            <a:off x="711204" y="62928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8E0D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30" id="30"/>
          <p:cNvSpPr txBox="true"/>
          <p:nvPr/>
        </p:nvSpPr>
        <p:spPr>
          <a:xfrm rot="0" flipH="false" flipV="false">
            <a:off x="711200" y="6400800"/>
            <a:ext cx="381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8A9695"/>
                </a:solidFill>
                <a:latin typeface="Noto Sans SC"/>
                <a:ea typeface="Noto Sans SC"/>
                <a:cs typeface="Noto Sans SC"/>
                <a:sym typeface="Noto Sans SC"/>
              </a:rPr>
              <a:t>清河之洲 · AI+教育游戏</a:t>
            </a:r>
            <a:endParaRPr lang="en-US" sz="1100"/>
          </a:p>
        </p:txBody>
      </p:sp>
      <p:sp>
        <p:nvSpPr>
          <p:cNvPr name="AutoShape 31" id="31"/>
          <p:cNvSpPr txBox="true"/>
          <p:nvPr/>
        </p:nvSpPr>
        <p:spPr>
          <a:xfrm rot="0" flipH="false" flipV="false">
            <a:off x="8255000" y="6400800"/>
            <a:ext cx="32258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8A9695"/>
                </a:solidFill>
                <a:latin typeface="Noto Sans SC"/>
                <a:ea typeface="Noto Sans SC"/>
                <a:cs typeface="Noto Sans SC"/>
                <a:sym typeface="Noto Sans SC"/>
              </a:rPr>
              <a:t>05 形态与落地 · 13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711200" y="5588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0A3F45"/>
                </a:solidFill>
                <a:latin typeface="Noto Sans SC"/>
                <a:ea typeface="Noto Sans SC"/>
                <a:cs typeface="Noto Sans SC"/>
                <a:sym typeface="Noto Sans SC"/>
              </a:rPr>
              <a:t>教育价值：在游戏里完成一次完整的研学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66102" flipH="false" flipV="false">
            <a:off x="711261" y="1162050"/>
            <a:ext cx="660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C9A24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4" id="4"/>
          <p:cNvSpPr/>
          <p:nvPr/>
        </p:nvSpPr>
        <p:spPr>
          <a:xfrm rot="0" flipH="false" flipV="false">
            <a:off x="711200" y="1549400"/>
            <a:ext cx="508000" cy="508000"/>
          </a:xfrm>
          <a:prstGeom prst="ellipse">
            <a:avLst/>
          </a:prstGeom>
          <a:solidFill>
            <a:srgbClr val="0E5C63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838200" y="1676400"/>
            <a:ext cx="254000" cy="254000"/>
          </a:xfrm>
          <a:prstGeom prst="rect">
            <a:avLst/>
          </a:prstGeom>
        </p:spPr>
      </p:pic>
      <p:sp>
        <p:nvSpPr>
          <p:cNvPr name="AutoShape 6" id="6"/>
          <p:cNvSpPr txBox="true"/>
          <p:nvPr/>
        </p:nvSpPr>
        <p:spPr>
          <a:xfrm rot="0" flipH="false" flipV="false">
            <a:off x="1397000" y="1549400"/>
            <a:ext cx="5334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0A3F45"/>
                </a:solidFill>
                <a:latin typeface="Noto Sans SC"/>
                <a:ea typeface="Noto Sans SC"/>
                <a:cs typeface="Noto Sans SC"/>
                <a:sym typeface="Noto Sans SC"/>
              </a:rPr>
              <a:t>知识目标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1397000" y="1905000"/>
            <a:ext cx="508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false" i="false" strike="noStrike" u="none" sz="1200">
                <a:solidFill>
                  <a:srgbClr val="465554"/>
                </a:solidFill>
                <a:latin typeface="Noto Sans SC"/>
                <a:ea typeface="Noto Sans SC"/>
                <a:cs typeface="Noto Sans SC"/>
                <a:sym typeface="Noto Sans SC"/>
              </a:rPr>
              <a:t>清河流向与十闸水利、两岸古迹、三山五园文化、生态常识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7283" flipH="false" flipV="false">
            <a:off x="711207" y="2609850"/>
            <a:ext cx="5994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8E0D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711200" y="2819400"/>
            <a:ext cx="508000" cy="508000"/>
          </a:xfrm>
          <a:prstGeom prst="ellipse">
            <a:avLst/>
          </a:prstGeom>
          <a:solidFill>
            <a:srgbClr val="0E5C63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838200" y="2946400"/>
            <a:ext cx="254000" cy="254000"/>
          </a:xfrm>
          <a:prstGeom prst="rect">
            <a:avLst/>
          </a:prstGeom>
        </p:spPr>
      </p:pic>
      <p:sp>
        <p:nvSpPr>
          <p:cNvPr name="AutoShape 11" id="11"/>
          <p:cNvSpPr txBox="true"/>
          <p:nvPr/>
        </p:nvSpPr>
        <p:spPr>
          <a:xfrm rot="0" flipH="false" flipV="false">
            <a:off x="1397000" y="2819400"/>
            <a:ext cx="5334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0A3F45"/>
                </a:solidFill>
                <a:latin typeface="Noto Sans SC"/>
                <a:ea typeface="Noto Sans SC"/>
                <a:cs typeface="Noto Sans SC"/>
                <a:sym typeface="Noto Sans SC"/>
              </a:rPr>
              <a:t>能力目标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397000" y="3175000"/>
            <a:ext cx="508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false" i="false" strike="noStrike" u="none" sz="1200">
                <a:solidFill>
                  <a:srgbClr val="465554"/>
                </a:solidFill>
                <a:latin typeface="Noto Sans SC"/>
                <a:ea typeface="Noto Sans SC"/>
                <a:cs typeface="Noto Sans SC"/>
                <a:sym typeface="Noto Sans SC"/>
              </a:rPr>
              <a:t>观察、探究、解决问题、地图阅读与语言表达</a:t>
            </a:r>
            <a:endParaRPr lang="en-US" sz="1100"/>
          </a:p>
        </p:txBody>
      </p:sp>
      <p:cxnSp>
        <p:nvCxnSpPr>
          <p:cNvPr name="Connector 13" id="13"/>
          <p:cNvCxnSpPr/>
          <p:nvPr/>
        </p:nvCxnSpPr>
        <p:spPr>
          <a:xfrm rot="-7283" flipH="false" flipV="false">
            <a:off x="711207" y="3879850"/>
            <a:ext cx="5994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8E0D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4" id="14"/>
          <p:cNvSpPr/>
          <p:nvPr/>
        </p:nvSpPr>
        <p:spPr>
          <a:xfrm rot="0" flipH="false" flipV="false">
            <a:off x="711200" y="4089400"/>
            <a:ext cx="508000" cy="508000"/>
          </a:xfrm>
          <a:prstGeom prst="ellipse">
            <a:avLst/>
          </a:prstGeom>
          <a:solidFill>
            <a:srgbClr val="C9A24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838200" y="4216400"/>
            <a:ext cx="254000" cy="254000"/>
          </a:xfrm>
          <a:prstGeom prst="rect">
            <a:avLst/>
          </a:prstGeom>
        </p:spPr>
      </p:pic>
      <p:sp>
        <p:nvSpPr>
          <p:cNvPr name="AutoShape 16" id="16"/>
          <p:cNvSpPr txBox="true"/>
          <p:nvPr/>
        </p:nvSpPr>
        <p:spPr>
          <a:xfrm rot="0" flipH="false" flipV="false">
            <a:off x="1397000" y="4089400"/>
            <a:ext cx="5334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0A3F45"/>
                </a:solidFill>
                <a:latin typeface="Noto Sans SC"/>
                <a:ea typeface="Noto Sans SC"/>
                <a:cs typeface="Noto Sans SC"/>
                <a:sym typeface="Noto Sans SC"/>
              </a:rPr>
              <a:t>情感目标</a:t>
            </a:r>
            <a:endParaRPr lang="en-US" sz="1100"/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1397000" y="4445000"/>
            <a:ext cx="508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false" i="false" strike="noStrike" u="none" sz="1200">
                <a:solidFill>
                  <a:srgbClr val="465554"/>
                </a:solidFill>
                <a:latin typeface="Noto Sans SC"/>
                <a:ea typeface="Noto Sans SC"/>
                <a:cs typeface="Noto Sans SC"/>
                <a:sym typeface="Noto Sans SC"/>
              </a:rPr>
              <a:t>理解人水和谐，建立保护家乡河流的意识与文化认同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0" flipH="false" flipV="false">
            <a:off x="711200" y="5232400"/>
            <a:ext cx="58420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50000"/>
              </a:lnSpc>
              <a:defRPr/>
            </a:pPr>
            <a:r>
              <a:rPr lang="en-US" b="false" i="false" strike="noStrike" u="none" sz="1150">
                <a:solidFill>
                  <a:srgbClr val="8A9695"/>
                </a:solidFill>
                <a:latin typeface="Noto Sans SC"/>
                <a:ea typeface="Noto Sans SC"/>
                <a:cs typeface="Noto Sans SC"/>
                <a:sym typeface="Noto Sans SC"/>
              </a:rPr>
              <a:t>对标中小学研学实践：每个关卡即一个“前置学习—现场探究—总结表达”的小单元</a:t>
            </a:r>
            <a:endParaRPr lang="en-US" sz="1100"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8"/>
          <a:srcRect l="0" r="0" t="14955" b="14955"/>
          <a:stretch>
            <a:fillRect/>
          </a:stretch>
        </p:blipFill>
        <p:spPr>
          <a:xfrm rot="0" flipH="false" flipV="false">
            <a:off x="7112000" y="1473200"/>
            <a:ext cx="4368800" cy="24638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20" id="20"/>
          <p:cNvSpPr txBox="true"/>
          <p:nvPr/>
        </p:nvSpPr>
        <p:spPr>
          <a:xfrm rot="0" flipH="false" flipV="false">
            <a:off x="7112000" y="4140200"/>
            <a:ext cx="43688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0A3F45"/>
                </a:solidFill>
                <a:latin typeface="Noto Sans SC"/>
                <a:ea typeface="Noto Sans SC"/>
                <a:cs typeface="Noto Sans SC"/>
                <a:sym typeface="Noto Sans SC"/>
              </a:rPr>
              <a:t>研学交付物</a:t>
            </a:r>
            <a:endParaRPr lang="en-US" sz="1100"/>
          </a:p>
        </p:txBody>
      </p:sp>
      <p:cxnSp>
        <p:nvCxnSpPr>
          <p:cNvPr name="Connector 21" id="21"/>
          <p:cNvCxnSpPr/>
          <p:nvPr/>
        </p:nvCxnSpPr>
        <p:spPr>
          <a:xfrm rot="-9993" flipH="false" flipV="false">
            <a:off x="7112009" y="4514850"/>
            <a:ext cx="4368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8E0D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22" id="22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7112000" y="4673600"/>
            <a:ext cx="228600" cy="228600"/>
          </a:xfrm>
          <a:prstGeom prst="rect">
            <a:avLst/>
          </a:prstGeom>
        </p:spPr>
      </p:pic>
      <p:sp>
        <p:nvSpPr>
          <p:cNvPr name="AutoShape 23" id="23"/>
          <p:cNvSpPr txBox="true"/>
          <p:nvPr/>
        </p:nvSpPr>
        <p:spPr>
          <a:xfrm rot="0" flipH="false" flipV="false">
            <a:off x="7467600" y="4648200"/>
            <a:ext cx="4064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50">
                <a:solidFill>
                  <a:srgbClr val="465554"/>
                </a:solidFill>
                <a:latin typeface="Noto Sans SC"/>
                <a:ea typeface="Noto Sans SC"/>
                <a:cs typeface="Noto Sans SC"/>
                <a:sym typeface="Noto Sans SC"/>
              </a:rPr>
              <a:t>通关证书：“清河小卫士”称号可分享</a:t>
            </a:r>
            <a:endParaRPr lang="en-US" sz="1100"/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7112000" y="5054600"/>
            <a:ext cx="228600" cy="228600"/>
          </a:xfrm>
          <a:prstGeom prst="rect">
            <a:avLst/>
          </a:prstGeom>
        </p:spPr>
      </p:pic>
      <p:sp>
        <p:nvSpPr>
          <p:cNvPr name="AutoShape 25" id="25"/>
          <p:cNvSpPr txBox="true"/>
          <p:nvPr/>
        </p:nvSpPr>
        <p:spPr>
          <a:xfrm rot="0" flipH="false" flipV="false">
            <a:off x="7467600" y="5029200"/>
            <a:ext cx="4064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50">
                <a:solidFill>
                  <a:srgbClr val="465554"/>
                </a:solidFill>
                <a:latin typeface="Noto Sans SC"/>
                <a:ea typeface="Noto Sans SC"/>
                <a:cs typeface="Noto Sans SC"/>
                <a:sym typeface="Noto Sans SC"/>
              </a:rPr>
              <a:t>AI 研学报告：知识点掌握与闯关表现</a:t>
            </a:r>
            <a:endParaRPr lang="en-US" sz="1100"/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 flipH="false" flipV="false">
            <a:off x="7112000" y="5435600"/>
            <a:ext cx="228600" cy="228600"/>
          </a:xfrm>
          <a:prstGeom prst="rect">
            <a:avLst/>
          </a:prstGeom>
        </p:spPr>
      </p:pic>
      <p:sp>
        <p:nvSpPr>
          <p:cNvPr name="AutoShape 27" id="27"/>
          <p:cNvSpPr txBox="true"/>
          <p:nvPr/>
        </p:nvSpPr>
        <p:spPr>
          <a:xfrm rot="0" flipH="false" flipV="false">
            <a:off x="7467600" y="5410200"/>
            <a:ext cx="4064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50">
                <a:solidFill>
                  <a:srgbClr val="465554"/>
                </a:solidFill>
                <a:latin typeface="Noto Sans SC"/>
                <a:ea typeface="Noto Sans SC"/>
                <a:cs typeface="Noto Sans SC"/>
                <a:sym typeface="Noto Sans SC"/>
              </a:rPr>
              <a:t>研学手册与线下任务包，支持分组 PK</a:t>
            </a:r>
            <a:endParaRPr lang="en-US" sz="1100"/>
          </a:p>
        </p:txBody>
      </p:sp>
      <p:cxnSp>
        <p:nvCxnSpPr>
          <p:cNvPr name="Connector 28" id="28"/>
          <p:cNvCxnSpPr/>
          <p:nvPr/>
        </p:nvCxnSpPr>
        <p:spPr>
          <a:xfrm rot="-4053" flipH="false" flipV="false">
            <a:off x="711204" y="62928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8E0D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9" id="29"/>
          <p:cNvSpPr txBox="true"/>
          <p:nvPr/>
        </p:nvSpPr>
        <p:spPr>
          <a:xfrm rot="0" flipH="false" flipV="false">
            <a:off x="711200" y="6400800"/>
            <a:ext cx="381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8A9695"/>
                </a:solidFill>
                <a:latin typeface="Noto Sans SC"/>
                <a:ea typeface="Noto Sans SC"/>
                <a:cs typeface="Noto Sans SC"/>
                <a:sym typeface="Noto Sans SC"/>
              </a:rPr>
              <a:t>清河之洲 · AI+教育游戏</a:t>
            </a:r>
            <a:endParaRPr lang="en-US" sz="1100"/>
          </a:p>
        </p:txBody>
      </p:sp>
      <p:sp>
        <p:nvSpPr>
          <p:cNvPr name="AutoShape 30" id="30"/>
          <p:cNvSpPr txBox="true"/>
          <p:nvPr/>
        </p:nvSpPr>
        <p:spPr>
          <a:xfrm rot="0" flipH="false" flipV="false">
            <a:off x="8255000" y="6400800"/>
            <a:ext cx="32258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8A9695"/>
                </a:solidFill>
                <a:latin typeface="Noto Sans SC"/>
                <a:ea typeface="Noto Sans SC"/>
                <a:cs typeface="Noto Sans SC"/>
                <a:sym typeface="Noto Sans SC"/>
              </a:rPr>
              <a:t>05 形态与落地 · 14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B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711200" y="5588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0A3F45"/>
                </a:solidFill>
                <a:latin typeface="Noto Sans SC"/>
                <a:ea typeface="Noto Sans SC"/>
                <a:cs typeface="Noto Sans SC"/>
                <a:sym typeface="Noto Sans SC"/>
              </a:rPr>
              <a:t>运营与商业化：游戏即入口，流量可闭环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66102" flipH="false" flipV="false">
            <a:off x="711261" y="1162050"/>
            <a:ext cx="660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C9A24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711200" y="1473200"/>
            <a:ext cx="304800" cy="304800"/>
          </a:xfrm>
          <a:prstGeom prst="rect">
            <a:avLst/>
          </a:prstGeom>
        </p:spPr>
      </p:pic>
      <p:sp>
        <p:nvSpPr>
          <p:cNvPr name="AutoShape 5" id="5"/>
          <p:cNvSpPr txBox="true"/>
          <p:nvPr/>
        </p:nvSpPr>
        <p:spPr>
          <a:xfrm rot="0" flipH="false" flipV="false">
            <a:off x="1143000" y="1447800"/>
            <a:ext cx="4826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A3F45"/>
                </a:solidFill>
                <a:latin typeface="Noto Sans SC"/>
                <a:ea typeface="Noto Sans SC"/>
                <a:cs typeface="Noto Sans SC"/>
                <a:sym typeface="Noto Sans SC"/>
              </a:rPr>
              <a:t>运营玩法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8509" flipH="false" flipV="false">
            <a:off x="711208" y="1873250"/>
            <a:ext cx="5130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8E0D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 txBox="true"/>
          <p:nvPr/>
        </p:nvSpPr>
        <p:spPr>
          <a:xfrm rot="0" flipH="false" flipV="false">
            <a:off x="711200" y="2082800"/>
            <a:ext cx="508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A6802D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1193800" y="2057400"/>
            <a:ext cx="4699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A3F45"/>
                </a:solidFill>
                <a:latin typeface="Noto Sans SC"/>
                <a:ea typeface="Noto Sans SC"/>
                <a:cs typeface="Noto Sans SC"/>
                <a:sym typeface="Noto Sans SC"/>
              </a:rPr>
              <a:t>节庆赛季</a:t>
            </a:r>
            <a:endParaRPr lang="en-US" sz="1100"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1193800" y="2336800"/>
            <a:ext cx="46482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8A9695"/>
                </a:solidFill>
                <a:latin typeface="Noto Sans SC"/>
                <a:ea typeface="Noto Sans SC"/>
                <a:cs typeface="Noto Sans SC"/>
                <a:sym typeface="Noto Sans SC"/>
              </a:rPr>
              <a:t>花朝节、端午、中秋国风赛季，节日限定题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711200" y="2870200"/>
            <a:ext cx="508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A6802D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1193800" y="2844800"/>
            <a:ext cx="4699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A3F45"/>
                </a:solidFill>
                <a:latin typeface="Noto Sans SC"/>
                <a:ea typeface="Noto Sans SC"/>
                <a:cs typeface="Noto Sans SC"/>
                <a:sym typeface="Noto Sans SC"/>
              </a:rPr>
              <a:t>收集与社交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193800" y="3124200"/>
            <a:ext cx="46482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8A9695"/>
                </a:solidFill>
                <a:latin typeface="Noto Sans SC"/>
                <a:ea typeface="Noto Sans SC"/>
                <a:cs typeface="Noto Sans SC"/>
                <a:sym typeface="Noto Sans SC"/>
              </a:rPr>
              <a:t>图鉴、道具、称号、亲子组队、好友排行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711200" y="3657600"/>
            <a:ext cx="508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A6802D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1193800" y="3632200"/>
            <a:ext cx="4699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A3F45"/>
                </a:solidFill>
                <a:latin typeface="Noto Sans SC"/>
                <a:ea typeface="Noto Sans SC"/>
                <a:cs typeface="Noto Sans SC"/>
                <a:sym typeface="Noto Sans SC"/>
              </a:rPr>
              <a:t>文创联动</a:t>
            </a:r>
            <a:endParaRPr lang="en-US" sz="1100"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1193800" y="3911600"/>
            <a:ext cx="46482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8A9695"/>
                </a:solidFill>
                <a:latin typeface="Noto Sans SC"/>
                <a:ea typeface="Noto Sans SC"/>
                <a:cs typeface="Noto Sans SC"/>
                <a:sym typeface="Noto Sans SC"/>
              </a:rPr>
              <a:t>天鹅拉花拿铁、天鹅杯、十闸主题文创</a:t>
            </a:r>
            <a:endParaRPr lang="en-US" sz="1100"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711200" y="4445000"/>
            <a:ext cx="508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A6802D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1193800" y="4419600"/>
            <a:ext cx="4699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A3F45"/>
                </a:solidFill>
                <a:latin typeface="Noto Sans SC"/>
                <a:ea typeface="Noto Sans SC"/>
                <a:cs typeface="Noto Sans SC"/>
                <a:sym typeface="Noto Sans SC"/>
              </a:rPr>
              <a:t>内容更新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0" flipH="false" flipV="false">
            <a:off x="1193800" y="4699000"/>
            <a:ext cx="46482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8A9695"/>
                </a:solidFill>
                <a:latin typeface="Noto Sans SC"/>
                <a:ea typeface="Noto Sans SC"/>
                <a:cs typeface="Noto Sans SC"/>
                <a:sym typeface="Noto Sans SC"/>
              </a:rPr>
              <a:t>新关卡、新角色、新赛事持续上线，保持复游</a:t>
            </a:r>
            <a:endParaRPr lang="en-US" sz="1100"/>
          </a:p>
        </p:txBody>
      </p:sp>
      <p:cxnSp>
        <p:nvCxnSpPr>
          <p:cNvPr name="Connector 19" id="19"/>
          <p:cNvCxnSpPr/>
          <p:nvPr/>
        </p:nvCxnSpPr>
        <p:spPr>
          <a:xfrm rot="5388765" flipH="false" flipV="false">
            <a:off x="4152900" y="3359160"/>
            <a:ext cx="3886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8E0D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20" id="20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350000" y="1473200"/>
            <a:ext cx="304800" cy="304800"/>
          </a:xfrm>
          <a:prstGeom prst="rect">
            <a:avLst/>
          </a:prstGeom>
        </p:spPr>
      </p:pic>
      <p:sp>
        <p:nvSpPr>
          <p:cNvPr name="AutoShape 21" id="21"/>
          <p:cNvSpPr txBox="true"/>
          <p:nvPr/>
        </p:nvSpPr>
        <p:spPr>
          <a:xfrm rot="0" flipH="false" flipV="false">
            <a:off x="6781800" y="1447800"/>
            <a:ext cx="4826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A3F45"/>
                </a:solidFill>
                <a:latin typeface="Noto Sans SC"/>
                <a:ea typeface="Noto Sans SC"/>
                <a:cs typeface="Noto Sans SC"/>
                <a:sym typeface="Noto Sans SC"/>
              </a:rPr>
              <a:t>商业化路径</a:t>
            </a:r>
            <a:endParaRPr lang="en-US" sz="1100"/>
          </a:p>
        </p:txBody>
      </p:sp>
      <p:cxnSp>
        <p:nvCxnSpPr>
          <p:cNvPr name="Connector 22" id="22"/>
          <p:cNvCxnSpPr/>
          <p:nvPr/>
        </p:nvCxnSpPr>
        <p:spPr>
          <a:xfrm rot="-8509" flipH="false" flipV="false">
            <a:off x="6350008" y="1873250"/>
            <a:ext cx="5130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8E0D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3" id="23"/>
          <p:cNvSpPr txBox="true"/>
          <p:nvPr/>
        </p:nvSpPr>
        <p:spPr>
          <a:xfrm rot="0" flipH="false" flipV="false">
            <a:off x="6350000" y="2082800"/>
            <a:ext cx="508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A6802D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name="AutoShape 24" id="24"/>
          <p:cNvSpPr txBox="true"/>
          <p:nvPr/>
        </p:nvSpPr>
        <p:spPr>
          <a:xfrm rot="0" flipH="false" flipV="false">
            <a:off x="6832600" y="2057400"/>
            <a:ext cx="4699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A3F45"/>
                </a:solidFill>
                <a:latin typeface="Noto Sans SC"/>
                <a:ea typeface="Noto Sans SC"/>
                <a:cs typeface="Noto Sans SC"/>
                <a:sym typeface="Noto Sans SC"/>
              </a:rPr>
              <a:t>景区二销导流</a:t>
            </a:r>
            <a:endParaRPr lang="en-US" sz="1100"/>
          </a:p>
        </p:txBody>
      </p:sp>
      <p:sp>
        <p:nvSpPr>
          <p:cNvPr name="AutoShape 25" id="25"/>
          <p:cNvSpPr txBox="true"/>
          <p:nvPr/>
        </p:nvSpPr>
        <p:spPr>
          <a:xfrm rot="0" flipH="false" flipV="false">
            <a:off x="6832600" y="2336800"/>
            <a:ext cx="46482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8A9695"/>
                </a:solidFill>
                <a:latin typeface="Noto Sans SC"/>
                <a:ea typeface="Noto Sans SC"/>
                <a:cs typeface="Noto Sans SC"/>
                <a:sym typeface="Noto Sans SC"/>
              </a:rPr>
              <a:t>游戏奖励兑换咖啡、文创与活动门票</a:t>
            </a:r>
            <a:endParaRPr lang="en-US" sz="1100"/>
          </a:p>
        </p:txBody>
      </p:sp>
      <p:sp>
        <p:nvSpPr>
          <p:cNvPr name="AutoShape 26" id="26"/>
          <p:cNvSpPr txBox="true"/>
          <p:nvPr/>
        </p:nvSpPr>
        <p:spPr>
          <a:xfrm rot="0" flipH="false" flipV="false">
            <a:off x="6350000" y="2870200"/>
            <a:ext cx="508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A6802D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name="AutoShape 27" id="27"/>
          <p:cNvSpPr txBox="true"/>
          <p:nvPr/>
        </p:nvSpPr>
        <p:spPr>
          <a:xfrm rot="0" flipH="false" flipV="false">
            <a:off x="6832600" y="2844800"/>
            <a:ext cx="4699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A3F45"/>
                </a:solidFill>
                <a:latin typeface="Noto Sans SC"/>
                <a:ea typeface="Noto Sans SC"/>
                <a:cs typeface="Noto Sans SC"/>
                <a:sym typeface="Noto Sans SC"/>
              </a:rPr>
              <a:t>研学 B 端服务</a:t>
            </a:r>
            <a:endParaRPr lang="en-US" sz="1100"/>
          </a:p>
        </p:txBody>
      </p:sp>
      <p:sp>
        <p:nvSpPr>
          <p:cNvPr name="AutoShape 28" id="28"/>
          <p:cNvSpPr txBox="true"/>
          <p:nvPr/>
        </p:nvSpPr>
        <p:spPr>
          <a:xfrm rot="0" flipH="false" flipV="false">
            <a:off x="6832600" y="3124200"/>
            <a:ext cx="46482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8A9695"/>
                </a:solidFill>
                <a:latin typeface="Noto Sans SC"/>
                <a:ea typeface="Noto Sans SC"/>
                <a:cs typeface="Noto Sans SC"/>
                <a:sym typeface="Noto Sans SC"/>
              </a:rPr>
              <a:t>学校与机构课程包、教师后台与研学服务</a:t>
            </a:r>
            <a:endParaRPr lang="en-US" sz="1100"/>
          </a:p>
        </p:txBody>
      </p:sp>
      <p:sp>
        <p:nvSpPr>
          <p:cNvPr name="AutoShape 29" id="29"/>
          <p:cNvSpPr txBox="true"/>
          <p:nvPr/>
        </p:nvSpPr>
        <p:spPr>
          <a:xfrm rot="0" flipH="false" flipV="false">
            <a:off x="6350000" y="3657600"/>
            <a:ext cx="508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A6802D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name="AutoShape 30" id="30"/>
          <p:cNvSpPr txBox="true"/>
          <p:nvPr/>
        </p:nvSpPr>
        <p:spPr>
          <a:xfrm rot="0" flipH="false" flipV="false">
            <a:off x="6832600" y="3632200"/>
            <a:ext cx="4699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A3F45"/>
                </a:solidFill>
                <a:latin typeface="Noto Sans SC"/>
                <a:ea typeface="Noto Sans SC"/>
                <a:cs typeface="Noto Sans SC"/>
                <a:sym typeface="Noto Sans SC"/>
              </a:rPr>
              <a:t>品牌合作</a:t>
            </a:r>
            <a:endParaRPr lang="en-US" sz="1100"/>
          </a:p>
        </p:txBody>
      </p:sp>
      <p:sp>
        <p:nvSpPr>
          <p:cNvPr name="AutoShape 31" id="31"/>
          <p:cNvSpPr txBox="true"/>
          <p:nvPr/>
        </p:nvSpPr>
        <p:spPr>
          <a:xfrm rot="0" flipH="false" flipV="false">
            <a:off x="6832600" y="3911600"/>
            <a:ext cx="46482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8A9695"/>
                </a:solidFill>
                <a:latin typeface="Noto Sans SC"/>
                <a:ea typeface="Noto Sans SC"/>
                <a:cs typeface="Noto Sans SC"/>
                <a:sym typeface="Noto Sans SC"/>
              </a:rPr>
              <a:t>关卡冠名、赛季赞助、联名活动</a:t>
            </a:r>
            <a:endParaRPr lang="en-US" sz="1100"/>
          </a:p>
        </p:txBody>
      </p:sp>
      <p:sp>
        <p:nvSpPr>
          <p:cNvPr name="AutoShape 32" id="32"/>
          <p:cNvSpPr txBox="true"/>
          <p:nvPr/>
        </p:nvSpPr>
        <p:spPr>
          <a:xfrm rot="0" flipH="false" flipV="false">
            <a:off x="6350000" y="4445000"/>
            <a:ext cx="508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A6802D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name="AutoShape 33" id="33"/>
          <p:cNvSpPr txBox="true"/>
          <p:nvPr/>
        </p:nvSpPr>
        <p:spPr>
          <a:xfrm rot="0" flipH="false" flipV="false">
            <a:off x="6832600" y="4419600"/>
            <a:ext cx="4699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A3F45"/>
                </a:solidFill>
                <a:latin typeface="Noto Sans SC"/>
                <a:ea typeface="Noto Sans SC"/>
                <a:cs typeface="Noto Sans SC"/>
                <a:sym typeface="Noto Sans SC"/>
              </a:rPr>
              <a:t>会员体系</a:t>
            </a:r>
            <a:endParaRPr lang="en-US" sz="1100"/>
          </a:p>
        </p:txBody>
      </p:sp>
      <p:sp>
        <p:nvSpPr>
          <p:cNvPr name="AutoShape 34" id="34"/>
          <p:cNvSpPr txBox="true"/>
          <p:nvPr/>
        </p:nvSpPr>
        <p:spPr>
          <a:xfrm rot="0" flipH="false" flipV="false">
            <a:off x="6832600" y="4699000"/>
            <a:ext cx="46482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8A9695"/>
                </a:solidFill>
                <a:latin typeface="Noto Sans SC"/>
                <a:ea typeface="Noto Sans SC"/>
                <a:cs typeface="Noto Sans SC"/>
                <a:sym typeface="Noto Sans SC"/>
              </a:rPr>
              <a:t>进阶关卡、专属角色、多端权益</a:t>
            </a:r>
            <a:endParaRPr lang="en-US" sz="1100"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711200" y="5410200"/>
            <a:ext cx="10769600" cy="558800"/>
          </a:xfrm>
          <a:prstGeom prst="roundRect">
            <a:avLst>
              <a:gd name="adj" fmla="val 0"/>
            </a:avLst>
          </a:prstGeom>
          <a:solidFill>
            <a:srgbClr val="EAF1E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6" id="36"/>
          <p:cNvSpPr txBox="true"/>
          <p:nvPr/>
        </p:nvSpPr>
        <p:spPr>
          <a:xfrm rot="0" flipH="false" flipV="false">
            <a:off x="711200" y="5410200"/>
            <a:ext cx="107696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0A3F45"/>
                </a:solidFill>
                <a:latin typeface="Noto Sans SC"/>
                <a:ea typeface="Noto Sans SC"/>
                <a:cs typeface="Noto Sans SC"/>
                <a:sym typeface="Noto Sans SC"/>
              </a:rPr>
              <a:t>游戏做线上流量入口，研学做 B 端基本盘，文创做二销闭环</a:t>
            </a:r>
            <a:endParaRPr lang="en-US" sz="1100"/>
          </a:p>
        </p:txBody>
      </p:sp>
      <p:cxnSp>
        <p:nvCxnSpPr>
          <p:cNvPr name="Connector 37" id="37"/>
          <p:cNvCxnSpPr/>
          <p:nvPr/>
        </p:nvCxnSpPr>
        <p:spPr>
          <a:xfrm rot="-4053" flipH="false" flipV="false">
            <a:off x="711204" y="62928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8E0D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38" id="38"/>
          <p:cNvSpPr txBox="true"/>
          <p:nvPr/>
        </p:nvSpPr>
        <p:spPr>
          <a:xfrm rot="0" flipH="false" flipV="false">
            <a:off x="711200" y="6400800"/>
            <a:ext cx="381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8A9695"/>
                </a:solidFill>
                <a:latin typeface="Noto Sans SC"/>
                <a:ea typeface="Noto Sans SC"/>
                <a:cs typeface="Noto Sans SC"/>
                <a:sym typeface="Noto Sans SC"/>
              </a:rPr>
              <a:t>清河之洲 · AI+教育游戏</a:t>
            </a:r>
            <a:endParaRPr lang="en-US" sz="1100"/>
          </a:p>
        </p:txBody>
      </p:sp>
      <p:sp>
        <p:nvSpPr>
          <p:cNvPr name="AutoShape 39" id="39"/>
          <p:cNvSpPr txBox="true"/>
          <p:nvPr/>
        </p:nvSpPr>
        <p:spPr>
          <a:xfrm rot="0" flipH="false" flipV="false">
            <a:off x="8255000" y="6400800"/>
            <a:ext cx="32258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8A9695"/>
                </a:solidFill>
                <a:latin typeface="Noto Sans SC"/>
                <a:ea typeface="Noto Sans SC"/>
                <a:cs typeface="Noto Sans SC"/>
                <a:sym typeface="Noto Sans SC"/>
              </a:rPr>
              <a:t>05 形态与落地 · 15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F6F3EB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711200" y="5588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0A3F45"/>
                </a:solidFill>
                <a:latin typeface="Noto Sans SC"/>
                <a:ea typeface="Noto Sans SC"/>
                <a:cs typeface="Noto Sans SC"/>
                <a:sym typeface="Noto Sans SC"/>
              </a:rPr>
              <a:t>落地路线图：三期递进，先上线、再到现场、后进课堂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66102" flipH="false" flipV="false">
            <a:off x="711261" y="1162050"/>
            <a:ext cx="660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C9A24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name="Connector 4" id="4"/>
          <p:cNvCxnSpPr/>
          <p:nvPr/>
        </p:nvCxnSpPr>
        <p:spPr>
          <a:xfrm rot="5352256" flipH="false" flipV="false">
            <a:off x="762000" y="2559094"/>
            <a:ext cx="914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D8E0DD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name="Connector 5" id="5"/>
          <p:cNvCxnSpPr/>
          <p:nvPr/>
        </p:nvCxnSpPr>
        <p:spPr>
          <a:xfrm rot="5352256" flipH="false" flipV="false">
            <a:off x="762000" y="3981494"/>
            <a:ext cx="914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D8E0DD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name="Connector 6" id="6"/>
          <p:cNvCxnSpPr/>
          <p:nvPr/>
        </p:nvCxnSpPr>
        <p:spPr>
          <a:xfrm rot="5357030" flipH="false" flipV="false">
            <a:off x="711200" y="545469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D8E0DD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965200" y="1600200"/>
            <a:ext cx="508000" cy="508000"/>
          </a:xfrm>
          <a:prstGeom prst="ellipse">
            <a:avLst/>
          </a:prstGeom>
          <a:solidFill>
            <a:srgbClr val="0E5C63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965200" y="1600200"/>
            <a:ext cx="50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一</a:t>
            </a:r>
            <a:endParaRPr lang="en-US" sz="1100"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1752600" y="1574800"/>
            <a:ext cx="6350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A3F45"/>
                </a:solidFill>
                <a:latin typeface="Noto Sans SC"/>
                <a:ea typeface="Noto Sans SC"/>
                <a:cs typeface="Noto Sans SC"/>
                <a:sym typeface="Noto Sans SC"/>
              </a:rPr>
              <a:t>一期 · MVP 上线（1–2 个月）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1752600" y="1930400"/>
            <a:ext cx="96520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66666"/>
              </a:lnSpc>
              <a:defRPr/>
            </a:pPr>
            <a:r>
              <a:rPr lang="en-US" b="false" i="false" strike="noStrike" u="none" sz="1200">
                <a:solidFill>
                  <a:srgbClr val="465554"/>
                </a:solidFill>
                <a:latin typeface="Noto Sans SC"/>
                <a:ea typeface="Noto Sans SC"/>
                <a:cs typeface="Noto Sans SC"/>
                <a:sym typeface="Noto Sans SC"/>
              </a:rPr>
              <a:t>十闸主线小程序 / H5 上线　　|　　100+ 题库与分层提示</a:t>
            </a:r>
            <a:endParaRPr lang="en-US" sz="1100"/>
          </a:p>
          <a:p>
            <a:pPr algn="l" marL="0" indent="0">
              <a:lnSpc>
                <a:spcPct val="166666"/>
              </a:lnSpc>
            </a:pPr>
            <a:r>
              <a:rPr lang="en-US" b="false" i="false" strike="noStrike" u="none" sz="1200">
                <a:solidFill>
                  <a:srgbClr val="465554"/>
                </a:solidFill>
                <a:latin typeface="Noto Sans SC"/>
                <a:ea typeface="Noto Sans SC"/>
                <a:cs typeface="Noto Sans SC"/>
                <a:sym typeface="Noto Sans SC"/>
              </a:rPr>
              <a:t>清河之洲现场二维码试点　　|　　图鉴、称号、证书与分享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965200" y="3022600"/>
            <a:ext cx="508000" cy="508000"/>
          </a:xfrm>
          <a:prstGeom prst="ellipse">
            <a:avLst/>
          </a:prstGeom>
          <a:solidFill>
            <a:srgbClr val="0E5C63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965200" y="3022600"/>
            <a:ext cx="50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二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1752600" y="2997200"/>
            <a:ext cx="6350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A3F45"/>
                </a:solidFill>
                <a:latin typeface="Noto Sans SC"/>
                <a:ea typeface="Noto Sans SC"/>
                <a:cs typeface="Noto Sans SC"/>
                <a:sym typeface="Noto Sans SC"/>
              </a:rPr>
              <a:t>二期 · 现场体验（3–6 个月）</a:t>
            </a:r>
            <a:endParaRPr lang="en-US" sz="1100"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1752600" y="3352800"/>
            <a:ext cx="96520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66666"/>
              </a:lnSpc>
              <a:defRPr/>
            </a:pPr>
            <a:r>
              <a:rPr lang="en-US" b="false" i="false" strike="noStrike" u="none" sz="1200">
                <a:solidFill>
                  <a:srgbClr val="465554"/>
                </a:solidFill>
                <a:latin typeface="Noto Sans SC"/>
                <a:ea typeface="Noto Sans SC"/>
                <a:cs typeface="Noto Sans SC"/>
                <a:sym typeface="Noto Sans SC"/>
              </a:rPr>
              <a:t>语音答题与天鹅向导对话　　|　　景区互动大屏落地</a:t>
            </a:r>
            <a:endParaRPr lang="en-US" sz="1100"/>
          </a:p>
          <a:p>
            <a:pPr algn="l" marL="0" indent="0">
              <a:lnSpc>
                <a:spcPct val="166666"/>
              </a:lnSpc>
            </a:pPr>
            <a:r>
              <a:rPr lang="en-US" b="false" i="false" strike="noStrike" u="none" sz="1200">
                <a:solidFill>
                  <a:srgbClr val="465554"/>
                </a:solidFill>
                <a:latin typeface="Noto Sans SC"/>
                <a:ea typeface="Noto Sans SC"/>
                <a:cs typeface="Noto Sans SC"/>
                <a:sym typeface="Noto Sans SC"/>
              </a:rPr>
              <a:t>十闸 AR 实地打卡　　　　　|　　多语种与节庆赛季运营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965200" y="4445000"/>
            <a:ext cx="508000" cy="508000"/>
          </a:xfrm>
          <a:prstGeom prst="ellipse">
            <a:avLst/>
          </a:prstGeom>
          <a:solidFill>
            <a:srgbClr val="C9A24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965200" y="4445000"/>
            <a:ext cx="50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三</a:t>
            </a:r>
            <a:endParaRPr lang="en-US" sz="1100"/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1752600" y="4419600"/>
            <a:ext cx="6350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A3F45"/>
                </a:solidFill>
                <a:latin typeface="Noto Sans SC"/>
                <a:ea typeface="Noto Sans SC"/>
                <a:cs typeface="Noto Sans SC"/>
                <a:sym typeface="Noto Sans SC"/>
              </a:rPr>
              <a:t>三期 · 研学与扩展（6–12 个月）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0" flipH="false" flipV="false">
            <a:off x="1752600" y="4775200"/>
            <a:ext cx="96520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66666"/>
              </a:lnSpc>
              <a:defRPr/>
            </a:pPr>
            <a:r>
              <a:rPr lang="en-US" b="false" i="false" strike="noStrike" u="none" sz="1200">
                <a:solidFill>
                  <a:srgbClr val="465554"/>
                </a:solidFill>
                <a:latin typeface="Noto Sans SC"/>
                <a:ea typeface="Noto Sans SC"/>
                <a:cs typeface="Noto Sans SC"/>
                <a:sym typeface="Noto Sans SC"/>
              </a:rPr>
              <a:t>研学课程版与教师后台　　　|　　多角色、多结局、班级 PK</a:t>
            </a:r>
            <a:endParaRPr lang="en-US" sz="1100"/>
          </a:p>
          <a:p>
            <a:pPr algn="l" marL="0" indent="0">
              <a:lnSpc>
                <a:spcPct val="166666"/>
              </a:lnSpc>
            </a:pPr>
            <a:r>
              <a:rPr lang="en-US" b="false" i="false" strike="noStrike" u="none" sz="1200">
                <a:solidFill>
                  <a:srgbClr val="465554"/>
                </a:solidFill>
                <a:latin typeface="Noto Sans SC"/>
                <a:ea typeface="Noto Sans SC"/>
                <a:cs typeface="Noto Sans SC"/>
                <a:sym typeface="Noto Sans SC"/>
              </a:rPr>
              <a:t>流域扩展至温榆河　　　　　|　　会员体系与品牌合作</a:t>
            </a:r>
          </a:p>
        </p:txBody>
      </p:sp>
      <p:sp>
        <p:nvSpPr>
          <p:cNvPr name="AutoShape 19" id="19"/>
          <p:cNvSpPr txBox="true"/>
          <p:nvPr/>
        </p:nvSpPr>
        <p:spPr>
          <a:xfrm rot="0" flipH="false" flipV="false">
            <a:off x="711200" y="5588000"/>
            <a:ext cx="107696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150">
                <a:solidFill>
                  <a:srgbClr val="8A9695"/>
                </a:solidFill>
                <a:latin typeface="Noto Sans SC"/>
                <a:ea typeface="Noto Sans SC"/>
                <a:cs typeface="Noto Sans SC"/>
                <a:sym typeface="Noto Sans SC"/>
              </a:rPr>
              <a:t>每期均可独立交付、独立验证，投入与节奏可按景区预算灵活调整</a:t>
            </a:r>
            <a:endParaRPr lang="en-US" sz="1100"/>
          </a:p>
        </p:txBody>
      </p:sp>
      <p:cxnSp>
        <p:nvCxnSpPr>
          <p:cNvPr name="Connector 20" id="20"/>
          <p:cNvCxnSpPr/>
          <p:nvPr/>
        </p:nvCxnSpPr>
        <p:spPr>
          <a:xfrm rot="-4053" flipH="false" flipV="false">
            <a:off x="711204" y="62928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8E0D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1" id="21"/>
          <p:cNvSpPr txBox="true"/>
          <p:nvPr/>
        </p:nvSpPr>
        <p:spPr>
          <a:xfrm rot="0" flipH="false" flipV="false">
            <a:off x="711200" y="6400800"/>
            <a:ext cx="381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8A9695"/>
                </a:solidFill>
                <a:latin typeface="Noto Sans SC"/>
                <a:ea typeface="Noto Sans SC"/>
                <a:cs typeface="Noto Sans SC"/>
                <a:sym typeface="Noto Sans SC"/>
              </a:rPr>
              <a:t>清河之洲 · AI+教育游戏</a:t>
            </a:r>
            <a:endParaRPr lang="en-US" sz="1100"/>
          </a:p>
        </p:txBody>
      </p:sp>
      <p:sp>
        <p:nvSpPr>
          <p:cNvPr name="AutoShape 22" id="22"/>
          <p:cNvSpPr txBox="true"/>
          <p:nvPr/>
        </p:nvSpPr>
        <p:spPr>
          <a:xfrm rot="0" flipH="false" flipV="false">
            <a:off x="8255000" y="6400800"/>
            <a:ext cx="32258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8A9695"/>
                </a:solidFill>
                <a:latin typeface="Noto Sans SC"/>
                <a:ea typeface="Noto Sans SC"/>
                <a:cs typeface="Noto Sans SC"/>
                <a:sym typeface="Noto Sans SC"/>
              </a:rPr>
              <a:t>05 形态与落地 · 16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A3F45">
                <a:alpha val="100000"/>
              </a:srgbClr>
            </a:gs>
            <a:gs pos="100000">
              <a:srgbClr val="073036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5715000" y="1498600"/>
            <a:ext cx="762000" cy="762000"/>
          </a:xfrm>
          <a:prstGeom prst="rect">
            <a:avLst/>
          </a:prstGeom>
        </p:spPr>
      </p:pic>
      <p:cxnSp>
        <p:nvCxnSpPr>
          <p:cNvPr name="Connector 3" id="3"/>
          <p:cNvCxnSpPr/>
          <p:nvPr/>
        </p:nvCxnSpPr>
        <p:spPr>
          <a:xfrm rot="-42969" flipH="false" flipV="false">
            <a:off x="5588040" y="26098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C9A24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4" id="4"/>
          <p:cNvSpPr txBox="true"/>
          <p:nvPr/>
        </p:nvSpPr>
        <p:spPr>
          <a:xfrm rot="0" flipH="false" flipV="false">
            <a:off x="1524000" y="2895600"/>
            <a:ext cx="9144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3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让孩子在游戏中，读懂一条河</a:t>
            </a:r>
            <a:endParaRPr lang="en-US" sz="1100"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1524000" y="3962400"/>
            <a:ext cx="9144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C9A24B"/>
                </a:solidFill>
                <a:latin typeface="Noto Sans SC"/>
                <a:ea typeface="Noto Sans SC"/>
                <a:cs typeface="Noto Sans SC"/>
                <a:sym typeface="Noto Sans SC"/>
              </a:rPr>
              <a:t>小天鹅的旅程，就是清河的故事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17188" flipH="false" flipV="false">
            <a:off x="4826016" y="5073650"/>
            <a:ext cx="254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9A24B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 txBox="true"/>
          <p:nvPr/>
        </p:nvSpPr>
        <p:spPr>
          <a:xfrm rot="0" flipH="false" flipV="false">
            <a:off x="1524000" y="5257800"/>
            <a:ext cx="9144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BECAC8"/>
                </a:solidFill>
                <a:latin typeface="Noto Sans SC"/>
                <a:ea typeface="Noto Sans SC"/>
                <a:cs typeface="Noto Sans SC"/>
                <a:sym typeface="Noto Sans SC"/>
              </a:rPr>
              <a:t>小天鹅寻母记 · 清河十闸　|　AI+教育游戏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1524000" y="5664200"/>
            <a:ext cx="9144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8A9695"/>
                </a:solidFill>
                <a:latin typeface="Noto Sans SC"/>
                <a:ea typeface="Noto Sans SC"/>
                <a:cs typeface="Noto Sans SC"/>
                <a:sym typeface="Noto Sans SC"/>
              </a:rPr>
              <a:t>海淀文旅集团 · 清河之洲</a:t>
            </a:r>
            <a:endParaRPr lang="en-US" sz="1100"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8000" y="6318250"/>
            <a:ext cx="1524000" cy="5397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