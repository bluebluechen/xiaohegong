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一句话讲清定位：这个项目的受益人是这条河，孩子是参与者，产品是记录。这是一份公益项目提案，不是一次活动的复盘。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注意：不要把它讲成教育缺口的项目。讲数据缺口——这条河每天被看见几十万次，却没有一条可用的记录。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这一页讲体验，但落点要在右边：四类任务不是玩法分类，是数据分类。每一类对应一种可以被使用的东西。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全篇最硬的一页。字段表就是产品规格，也是对外方案的核心资产。评委如果只记住一件事，应该是这张表。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这一页不是成本模型，是价值模型。不要先讲谁付费，先讲每一方拿到什么；拿到的东西成立，钱自然会来。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这一页讲「已经在做」，不是「打算做」。右边那个秋冬河岸的例子最好现场讲，因为它同时是生物课、景观课和一条数据。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cover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59575" y="0"/>
            <a:ext cx="45720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20">
                <a:solidFill>
                  <a:srgbClr val="E4C987"/>
                </a:solidFill>
                <a:latin typeface="PingFang SC"/>
                <a:ea typeface="PingFang SC"/>
                <a:cs typeface="PingFang SC"/>
              </a:rPr>
              <a:t>公益项目提案　·　2026　·　北京 · 海淀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61872"/>
            <a:ext cx="822960" cy="731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44752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0" b="0" i="0" spc="60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小小河工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6382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 i="0" spc="300">
                <a:solidFill>
                  <a:srgbClr val="E4C987"/>
                </a:solidFill>
                <a:latin typeface="Songti SC"/>
                <a:ea typeface="Songti SC"/>
                <a:cs typeface="Songti SC"/>
              </a:rPr>
              <a:t>AI 公民河流教育计划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75887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spc="40">
                <a:solidFill>
                  <a:srgbClr val="7FA6A4"/>
                </a:solidFill>
                <a:latin typeface="PingFang SC"/>
                <a:ea typeface="PingFang SC"/>
                <a:cs typeface="PingFang SC"/>
              </a:rPr>
              <a:t>首站　北京 · 海淀 · 清河　23.6 公里 · 十站 · 四条支流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87952"/>
            <a:ext cx="5394960" cy="7315"/>
          </a:xfrm>
          <a:prstGeom prst="rect">
            <a:avLst/>
          </a:prstGeom>
          <a:solidFill>
            <a:srgbClr val="1C55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07408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让每个孩子，</a:t>
            </a:r>
            <a:r>
              <a:rPr sz="21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成为一条河的证人。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60">
                <a:solidFill>
                  <a:srgbClr val="7FA6A4"/>
                </a:solidFill>
                <a:latin typeface="PingFang SC"/>
                <a:ea typeface="PingFang SC"/>
                <a:cs typeface="PingFang SC"/>
              </a:rPr>
              <a:t>以河为目标　·　孩子是参与者　·　记录是产品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01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清河被修好了，</a:t>
            </a:r>
            <a:r>
              <a:rPr sz="3800" b="0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但它还没被读懂。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水回到了 III 类，鸟回来了九十余种。可关于它的记录，只来自少数几次取样。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 spc="5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23.6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809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2514600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一条河的完整长度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880360"/>
            <a:ext cx="553212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沿线十座水闸、六处古迹、四条支流汇入。监测点集中在几个断面上，两次取样之间的汛期、藻华、鸟群过境，大多没有留下记录。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83863"/>
            <a:ext cx="6903720" cy="7315"/>
          </a:xfrm>
          <a:prstGeom prst="rect">
            <a:avLst/>
          </a:prstGeom>
          <a:solidFill>
            <a:srgbClr val="E4E0D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47872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 spc="5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416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3575304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沿岸公众产生、可比较的记录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3941063"/>
            <a:ext cx="553212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散步的人每天几十万步，发现散落在朋友圈、相册和记忆里。没有统一口径，无法比较，也无法追溯。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44568"/>
            <a:ext cx="6903720" cy="7315"/>
          </a:xfrm>
          <a:prstGeom prst="rect">
            <a:avLst/>
          </a:prstGeom>
          <a:solidFill>
            <a:srgbClr val="E4E0D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 spc="50">
                <a:solidFill>
                  <a:srgbClr val="C9A24B"/>
                </a:solidFill>
                <a:latin typeface="Songti SC"/>
                <a:ea typeface="Songti SC"/>
                <a:cs typeface="Songti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023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636007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大多数孩子与这条河的接触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5001768"/>
            <a:ext cx="553212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来过、拍过照、很开心。第二天，这条河在孩子的生活里就消失了。</a:t>
            </a:r>
          </a:p>
        </p:txBody>
      </p:sp>
      <p:pic>
        <p:nvPicPr>
          <p:cNvPr id="21" name="Picture 20" descr="gate_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719072"/>
            <a:ext cx="3383280" cy="22555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275320" y="4133087"/>
            <a:ext cx="457200" cy="731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279392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清河上的闸，闸上带楼、闸桥一体。沿线十座，每一座都有自己的名字、年份和一次改建。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870448"/>
            <a:ext cx="10637215" cy="512064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870448"/>
            <a:ext cx="9905695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spc="12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河有流量，孩子有记忆，城市没有数据。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小小河工 · AI 公民河流教育计划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02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一个孩子的八分钟，</a:t>
            </a:r>
            <a:r>
              <a:rPr sz="3600" b="0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是这条河的一次取样。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孩子看到的是护照和印章。这条河得到的是十条结构化记录——两者是同一次动作。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第一次巡河 · 8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52374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扫码，领护照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834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编号 NO.057，职级：见习河工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28415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2′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3310127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上岗培训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62102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先认得这道闸：名字、年份、闸型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5′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09651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现场出勤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44074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看水、看岸、看鸟，留下一件观察到的事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01184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8′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88289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盖章交班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5193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记录入库，护照上多一枚章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579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四类任务，决定记录长什么样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505456"/>
            <a:ext cx="5056632" cy="713232"/>
          </a:xfrm>
          <a:prstGeom prst="roundRect">
            <a:avLst>
              <a:gd name="adj" fmla="val 6000"/>
            </a:avLst>
          </a:prstGeom>
          <a:solidFill>
            <a:srgbClr val="FDFCF8"/>
          </a:solidFill>
          <a:ln w="12700">
            <a:solidFill>
              <a:srgbClr val="DCE3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水文观测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624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透明度 · 水色 · 流速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90779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最容易被机构直接使用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328416"/>
            <a:ext cx="5056632" cy="713232"/>
          </a:xfrm>
          <a:prstGeom prst="roundRect">
            <a:avLst>
              <a:gd name="adj" fmla="val 6000"/>
            </a:avLst>
          </a:prstGeom>
          <a:solidFill>
            <a:srgbClr val="FDFCF8"/>
          </a:solidFill>
          <a:ln w="12700">
            <a:solidFill>
              <a:srgbClr val="DCE3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328416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物种观察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3447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水鸟 · 植被 · 声环境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73075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看物候，看季节之间的差别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151376"/>
            <a:ext cx="5056632" cy="713232"/>
          </a:xfrm>
          <a:prstGeom prst="roundRect">
            <a:avLst>
              <a:gd name="adj" fmla="val 6000"/>
            </a:avLst>
          </a:prstGeom>
          <a:solidFill>
            <a:srgbClr val="FDFCF8"/>
          </a:solidFill>
          <a:ln w="12700">
            <a:solidFill>
              <a:srgbClr val="DCE3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151376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岸线观察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42702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岸型 · 植被连续性 · 人为痕迹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45537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对应河道的物理结构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974336"/>
            <a:ext cx="5056632" cy="713232"/>
          </a:xfrm>
          <a:prstGeom prst="roundRect">
            <a:avLst>
              <a:gd name="adj" fmla="val 6000"/>
            </a:avLst>
          </a:prstGeom>
          <a:solidFill>
            <a:srgbClr val="FDFCF8"/>
          </a:solidFill>
          <a:ln w="12700">
            <a:solidFill>
              <a:srgbClr val="DCE3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4974336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异常通报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50932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垃圾 · 漂浮物 · 排口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537667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最先被日常巡护用上的那一类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833872"/>
            <a:ext cx="10637215" cy="7315"/>
          </a:xfrm>
          <a:prstGeom prst="rect">
            <a:avLst/>
          </a:prstGeom>
          <a:solidFill>
            <a:srgbClr val="E4E0D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98017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孩子走完八分钟，这条河多了十条记录。</a:t>
            </a:r>
            <a:r>
              <a:rPr sz="1200" b="1" i="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接下来的问题只有一个：这些记录，能不能被用。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小小河工 · AI 公民河流教育计划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0D484F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03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一条记录，</a:t>
            </a:r>
            <a:r>
              <a:rPr sz="36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长什么样。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「河边有鸟」不是数据。「10 月 22 日 14:32 · 清河闸 05 · 白鹭 2 只 · 有照片」才是。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点位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2128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清河闸 · 点位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2128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空间可比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334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700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2026-10-22 14:32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6700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时间序列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906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272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272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水文 / 物种 / 岸线 / 异常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272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决定谁来用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478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844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观测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5844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透明度：低；白鹭 ×2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5844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可统计、可作图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050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416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0416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照片 1 张（剥离位置信息）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0416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可复核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4622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988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环境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4988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晴 · 前 48 小时无降雨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988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否则无法解读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9194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560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观察者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9560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NO.057 · 巡河员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9560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可信度加权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766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1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许可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41324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CC BY-NC 4.0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54132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9A8"/>
                </a:solidFill>
                <a:latin typeface="PingFang SC"/>
                <a:ea typeface="PingFang SC"/>
                <a:cs typeface="PingFang SC"/>
              </a:rPr>
              <a:t>研究机构能用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833872"/>
            <a:ext cx="7178040" cy="7315"/>
          </a:xfrm>
          <a:prstGeom prst="rect">
            <a:avLst/>
          </a:prstGeom>
          <a:solidFill>
            <a:srgbClr val="1754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1" y="22128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孩子的观察凭什么能用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28431" y="2560320"/>
            <a:ext cx="3383280" cy="7315"/>
          </a:xfrm>
          <a:prstGeom prst="rect">
            <a:avLst/>
          </a:prstGeom>
          <a:solidFill>
            <a:srgbClr val="2A64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270662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AI 预校验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2706624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照片与选项矛盾时提示重拍，坏数据当场拦下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9300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同点位交叉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493008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同一位置多次观测取众数，离群值标灰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1" y="427939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人工抽检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279392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按 5% 抽检，连续两季合格的观察者升权重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8431" y="5358384"/>
            <a:ext cx="3383280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A64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358384"/>
            <a:ext cx="301752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FAE"/>
                </a:solidFill>
                <a:latin typeface="PingFang SC"/>
                <a:ea typeface="PingFang SC"/>
                <a:cs typeface="PingFang SC"/>
              </a:rPr>
              <a:t>职级不只是游戏奖励，</a:t>
            </a:r>
            <a:r>
              <a:rPr sz="980" b="1" i="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它是数据权重。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小小河工 · AI 公民河流教育计划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04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四类人，</a:t>
            </a:r>
            <a:r>
              <a:rPr sz="3500" b="0" i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从同一条记录里，各取所需。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一个公益项目能不能长久，不取决于谁掏钱，取决于每一方是不是真的拿到了东西。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6543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66543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他们想要什么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66543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他们能从这件事里拿到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40864"/>
            <a:ext cx="10637215" cy="7315"/>
          </a:xfrm>
          <a:prstGeom prst="rect">
            <a:avLst/>
          </a:prstGeom>
          <a:solidFill>
            <a:srgbClr val="D8D3C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孩子与家庭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05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一次真实的、能带走的经历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96312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一个身份、一本护照，一条写进成长档案的巡河线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00400"/>
            <a:ext cx="10637215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2841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公园与文旅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4670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让人愿意再来一次的理由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3756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一套四季更新、不重复的内容资产，和十个到访理由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41648"/>
            <a:ext cx="10637215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966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河长办 / 研究机构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1879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更密、更省、可比对的观察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78808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一条河的高密度观察网络，补上专业巡测的空档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82896"/>
            <a:ext cx="10637215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109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资助方 / 品牌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29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能被第三方验证的成果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20056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可追溯、可引用的公益成果，而不是一张活动照片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724144"/>
            <a:ext cx="10637215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742432"/>
            <a:ext cx="10637215" cy="566928"/>
          </a:xfrm>
          <a:prstGeom prst="roundRect">
            <a:avLst>
              <a:gd name="adj" fmla="val 5000"/>
            </a:avLst>
          </a:prstGeom>
          <a:solidFill>
            <a:srgbClr val="EFEA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5742432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合作方式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742432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点位共建</a:t>
            </a:r>
            <a:r>
              <a:rPr sz="1200" b="0" i="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　·　</a:t>
            </a:r>
            <a:r>
              <a:rPr sz="12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课程采购</a:t>
            </a:r>
            <a:r>
              <a:rPr sz="1200" b="0" i="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　·　</a:t>
            </a:r>
            <a:r>
              <a:rPr sz="1250" b="1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数据赞助</a:t>
            </a:r>
            <a:r>
              <a:rPr sz="105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　　三种都能从一个点位开始。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小小河工 · AI 公民河流教育计划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>
                <a:solidFill>
                  <a:srgbClr val="0D484F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05</a:t>
            </a:r>
            <a:r>
              <a:rPr sz="1050" b="0" i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i="0" spc="24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这件事已经开始了。</a:t>
            </a:r>
            <a:r>
              <a:rPr sz="34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现在扫码，就能走一趟。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不是规划，是已经能打开的东西——每走完一站，这条河就多一条记录。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12140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可交互的巡河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450591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扫码即玩、免下载，十站全部开放，水墨路线图会随进度亮起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9067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05409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上岗培训已经成型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383279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十座闸的名字、年份、闸型，一条河的历史与地理，都在里头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98678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现场出勤已经跑通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315968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四类任务，每条都产出带点位与时间的结构化记录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2029968"/>
            <a:ext cx="4535424" cy="320040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3" y="2286000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4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秋冬的河岸，就是最好的教材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3" y="2651760"/>
            <a:ext cx="3913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裸露的河岸石 · 下降的水位线 · 变白的芦苇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3" y="3145536"/>
            <a:ext cx="3913632" cy="7315"/>
          </a:xfrm>
          <a:prstGeom prst="rect">
            <a:avLst/>
          </a:prstGeom>
          <a:solidFill>
            <a:srgbClr val="DCD6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183" y="329184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孩子学到的是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7355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物候与水文的常识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3" y="38587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顺带补上的是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40480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滨水慢行系统里没写进说明牌的部分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3" y="44256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真正留下的是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407408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这个点位、这个季节的一条数据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13248"/>
            <a:ext cx="10637215" cy="7315"/>
          </a:xfrm>
          <a:prstGeom prst="rect">
            <a:avLst/>
          </a:prstGeom>
          <a:solidFill>
            <a:srgbClr val="2A64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229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接下来 90 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504688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一段河（1 公里）　·　一所学校　·　一份开放的季节数据集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6188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9D8D6"/>
                </a:solidFill>
                <a:latin typeface="Songti SC"/>
                <a:ea typeface="Songti SC"/>
                <a:cs typeface="Songti SC"/>
              </a:rPr>
              <a:t>一条河不需要更多赞美。</a:t>
            </a:r>
            <a:r>
              <a:rPr sz="2000" b="0" i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它需要更多记录。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小小河工 · AI 公民河流教育计划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小小河工 · AI 公民河流教育计划</dc:title>
  <dc:subject>AI 公民河流教育计划 · 公益项目提案（6 页）</dc:subject>
  <dc:creator>ACC · 清河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