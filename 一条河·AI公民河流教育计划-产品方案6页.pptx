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开场不要先讲技术。先讲一个画面：这条 23.6 公里的河，每年被几十万人走过，但没有一个孩子能带走它。我们今天带来的是：让每个孩子成为这条河的证人。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数字是递降的：23.6 公里、1 比 30、最后一个 0。这几年清河治理的成果是真实的，但治理的下一步是「公众参与」，而公众参与的前提是「有人真的认识这条河」。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这一页是全篇的骨架。玩是钩子，探是核心，报才是公益价值所在。注意第三条：孩子的观察会变成公开数据，这是把教育项目和公益数据打通的唯一办法。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这段对话不是设计稿，是我们认为 AI 在这个场景里唯一站得住的用法：不是出题，是追问。追问的价值在于——它同时产出了两样东西：孩子的思考，和一条结构化观测。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公益的可持续不是靠情怀，是靠把「谁付费」和「谁受益」分开。免费的是孩子，付费的是场景方、基金会和政府——他们买的不是曝光，是可被验证的效果。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收尾要具体：48 小时不是做 PPT，是把现在写死的提示换成真 AI，把一条记录真的传上地图。最后的诉求只有一个班。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cover_sw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59575" y="0"/>
            <a:ext cx="45720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20">
                <a:solidFill>
                  <a:srgbClr val="E4C987"/>
                </a:solidFill>
                <a:latin typeface="PingFang SC"/>
                <a:ea typeface="PingFang SC"/>
                <a:cs typeface="PingFang SC"/>
              </a:rPr>
              <a:t>2026　AI + 公益 黑客松　·　联合提案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61872"/>
            <a:ext cx="822960" cy="731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44752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0" b="0" i="0" spc="60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一条河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6382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 i="0" spc="300">
                <a:solidFill>
                  <a:srgbClr val="E4C987"/>
                </a:solidFill>
                <a:latin typeface="Songti SC"/>
                <a:ea typeface="Songti SC"/>
                <a:cs typeface="Songti SC"/>
              </a:rPr>
              <a:t>AI 公民河流教育计划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75887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spc="40">
                <a:solidFill>
                  <a:srgbClr val="7FA6A4"/>
                </a:solidFill>
                <a:latin typeface="PingFang SC"/>
                <a:ea typeface="PingFang SC"/>
                <a:cs typeface="PingFang SC"/>
              </a:rPr>
              <a:t>首款产品　小天鹅寻母记 2.0　·　由「清河十闸」升级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87952"/>
            <a:ext cx="5394960" cy="7315"/>
          </a:xfrm>
          <a:prstGeom prst="rect">
            <a:avLst/>
          </a:prstGeom>
          <a:solidFill>
            <a:srgbClr val="1C55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07408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让每个孩子，</a:t>
            </a:r>
            <a:r>
              <a:rPr sz="2100" b="0" i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成为一条河的证人。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7FA6A4"/>
                </a:solidFill>
                <a:latin typeface="PingFang SC"/>
                <a:ea typeface="PingFang SC"/>
                <a:cs typeface="PingFang SC"/>
              </a:rPr>
              <a:t>北京 · 清河　23.6 公里　·　十座水闸　·　沿岸九十余种鸟类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01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清河被修好了，</a:t>
            </a:r>
            <a:r>
              <a:rPr sz="3800" b="0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但它还没被读懂。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水回到了 III 类，鸟回来了九十余种。但一条河真正活下来，靠的不是治理，是被看见。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 spc="50">
                <a:solidFill>
                  <a:srgbClr val="C9A24B"/>
                </a:solidFill>
                <a:latin typeface="Songti SC"/>
                <a:ea typeface="Songti SC"/>
                <a:cs typeface="Songti SC"/>
              </a:rPr>
              <a:t>23.6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540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2587752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一条穿城而过的河，没有一门以它为教材的课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953512"/>
            <a:ext cx="5532120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沿线十座真闸、日均三千到五千人的公园。孩子来过、拍过照，却没人告诉他：脚下这道闸，为什么建在这里。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57015"/>
            <a:ext cx="6903720" cy="7315"/>
          </a:xfrm>
          <a:prstGeom prst="rect">
            <a:avLst/>
          </a:prstGeom>
          <a:solidFill>
            <a:srgbClr val="E4E0D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21023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 spc="50">
                <a:solidFill>
                  <a:srgbClr val="C9A24B"/>
                </a:solidFill>
                <a:latin typeface="Songti SC"/>
                <a:ea typeface="Songti SC"/>
                <a:cs typeface="Songti SC"/>
              </a:rPr>
              <a:t>1 :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3648456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一位自然导师，对三十个孩子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4014215"/>
            <a:ext cx="5532120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户外自然教育最缺的不是热情，是师资。一个人问不出三十个不同的问题，也记不住三十条不同的观察。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617720"/>
            <a:ext cx="6903720" cy="7315"/>
          </a:xfrm>
          <a:prstGeom prst="rect">
            <a:avLst/>
          </a:prstGeom>
          <a:solidFill>
            <a:srgbClr val="E4E0D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81728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 spc="50">
                <a:solidFill>
                  <a:srgbClr val="C9A24B"/>
                </a:solidFill>
                <a:latin typeface="Songti SC"/>
                <a:ea typeface="Songti SC"/>
                <a:cs typeface="Songti SC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8568" y="4709159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活动结束，没有留下一条数据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5074920"/>
            <a:ext cx="5532120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没有学习效果的证据，也没有一条对河流有用的记录——资助方无法评估，项目无法迭代，孩子下个假期不会再回来。</a:t>
            </a:r>
          </a:p>
        </p:txBody>
      </p:sp>
      <p:pic>
        <p:nvPicPr>
          <p:cNvPr id="19" name="Picture 18" descr="gate_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755648"/>
            <a:ext cx="3383280" cy="22555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75320" y="4169663"/>
            <a:ext cx="457200" cy="731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315968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清河上的闸，闸上带楼、闸桥一体。沿线十座，每一座都有自己的名字、年份和一次改建。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870448"/>
            <a:ext cx="10637215" cy="512064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5870448"/>
            <a:ext cx="9905695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12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河有流量，孩子有记忆，城市没有数据。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一条河 · AI 公民河流教育计划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02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一款游戏，长出</a:t>
            </a:r>
            <a:r>
              <a:rPr sz="3600" b="0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三种公共资产。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游戏只是入口。真正被留下的是三样东西：孩子会问问题的能力、一条河的连续观测、一套别的城市能直接复制的模板。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12848"/>
            <a:ext cx="10637215" cy="932688"/>
          </a:xfrm>
          <a:prstGeom prst="roundRect">
            <a:avLst>
              <a:gd name="adj" fmla="val 5500"/>
            </a:avLst>
          </a:prstGeom>
          <a:solidFill>
            <a:srgbClr val="FDFCF8"/>
          </a:solidFill>
          <a:ln w="12700">
            <a:solidFill>
              <a:srgbClr val="DCE3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212848"/>
            <a:ext cx="658368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9A24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2212848"/>
            <a:ext cx="146304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玩 · 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212848"/>
            <a:ext cx="598932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小天鹅寻母：沿清河十闸闯关，每过一闸，解锁一段这条河的十年之变。已有可交互 Demo，纯网页、免下载。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212848"/>
            <a:ext cx="173736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已建成 · 可扫码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46120"/>
            <a:ext cx="10637215" cy="932688"/>
          </a:xfrm>
          <a:prstGeom prst="roundRect">
            <a:avLst>
              <a:gd name="adj" fmla="val 5500"/>
            </a:avLst>
          </a:prstGeom>
          <a:solidFill>
            <a:srgbClr val="E8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246120"/>
            <a:ext cx="658368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9A24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6504" y="3246120"/>
            <a:ext cx="146304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探 · 核心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3246120"/>
            <a:ext cx="598932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每座闸后接一个真实任务——水色、流速、鸟类、垃圾、桥与芦苇。不是四选一，是走出去看、拍下来、记下来。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246120"/>
            <a:ext cx="173736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2E7D82"/>
                </a:solidFill>
                <a:latin typeface="PingFang SC"/>
                <a:ea typeface="PingFang SC"/>
                <a:cs typeface="PingFang SC"/>
              </a:rPr>
              <a:t>本次新增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79392"/>
            <a:ext cx="10637215" cy="932688"/>
          </a:xfrm>
          <a:prstGeom prst="roundRect">
            <a:avLst>
              <a:gd name="adj" fmla="val 5500"/>
            </a:avLst>
          </a:prstGeom>
          <a:solidFill>
            <a:srgbClr val="F8EF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279392"/>
            <a:ext cx="658368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9A24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46504" y="4279392"/>
            <a:ext cx="146304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报 · 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4279392"/>
            <a:ext cx="598932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观察经 AI 识别与交叉校验后，进入公开的「清河健康地图」；同时生成孩子的《河流护照》与班级学情。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279392"/>
            <a:ext cx="173736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2E7D82"/>
                </a:solidFill>
                <a:latin typeface="PingFang SC"/>
                <a:ea typeface="PingFang SC"/>
                <a:cs typeface="PingFang SC"/>
              </a:rPr>
              <a:t>本次新增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440680"/>
            <a:ext cx="10637215" cy="7315"/>
          </a:xfrm>
          <a:prstGeom prst="rect">
            <a:avLst/>
          </a:prstGeom>
          <a:solidFill>
            <a:srgbClr val="E4E0D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412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一个孩子的 40 分钟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" y="5971032"/>
            <a:ext cx="10076688" cy="7315"/>
          </a:xfrm>
          <a:prstGeom prst="rect">
            <a:avLst/>
          </a:prstGeom>
          <a:solidFill>
            <a:srgbClr val="D8D3C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1550" y="5918454"/>
            <a:ext cx="105156" cy="10515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6108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0′ </a:t>
            </a:r>
            <a:r>
              <a:rPr sz="9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扫码开始</a:t>
            </a:r>
          </a:p>
        </p:txBody>
      </p:sp>
      <p:sp>
        <p:nvSpPr>
          <p:cNvPr id="27" name="Oval 26"/>
          <p:cNvSpPr/>
          <p:nvPr/>
        </p:nvSpPr>
        <p:spPr>
          <a:xfrm>
            <a:off x="2986887" y="5918454"/>
            <a:ext cx="105156" cy="105156"/>
          </a:xfrm>
          <a:prstGeom prst="ellipse">
            <a:avLst/>
          </a:prstGeom>
          <a:solidFill>
            <a:srgbClr val="0E5C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16505" y="6108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5′ </a:t>
            </a:r>
            <a:r>
              <a:rPr sz="9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第一闸开启</a:t>
            </a:r>
          </a:p>
        </p:txBody>
      </p:sp>
      <p:sp>
        <p:nvSpPr>
          <p:cNvPr id="29" name="Oval 28"/>
          <p:cNvSpPr/>
          <p:nvPr/>
        </p:nvSpPr>
        <p:spPr>
          <a:xfrm>
            <a:off x="5002225" y="5918454"/>
            <a:ext cx="105156" cy="105156"/>
          </a:xfrm>
          <a:prstGeom prst="ellipse">
            <a:avLst/>
          </a:prstGeom>
          <a:solidFill>
            <a:srgbClr val="0E5C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31843" y="6108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12′ </a:t>
            </a:r>
            <a:r>
              <a:rPr sz="9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领到任务</a:t>
            </a:r>
          </a:p>
        </p:txBody>
      </p:sp>
      <p:sp>
        <p:nvSpPr>
          <p:cNvPr id="31" name="Oval 30"/>
          <p:cNvSpPr/>
          <p:nvPr/>
        </p:nvSpPr>
        <p:spPr>
          <a:xfrm>
            <a:off x="7017562" y="5918454"/>
            <a:ext cx="105156" cy="105156"/>
          </a:xfrm>
          <a:prstGeom prst="ellipse">
            <a:avLst/>
          </a:prstGeom>
          <a:solidFill>
            <a:srgbClr val="0E5C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7180" y="6108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20′ </a:t>
            </a:r>
            <a:r>
              <a:rPr sz="9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拍下水面</a:t>
            </a:r>
          </a:p>
        </p:txBody>
      </p:sp>
      <p:sp>
        <p:nvSpPr>
          <p:cNvPr id="33" name="Oval 32"/>
          <p:cNvSpPr/>
          <p:nvPr/>
        </p:nvSpPr>
        <p:spPr>
          <a:xfrm>
            <a:off x="9032900" y="5918454"/>
            <a:ext cx="105156" cy="105156"/>
          </a:xfrm>
          <a:prstGeom prst="ellipse">
            <a:avLst/>
          </a:prstGeom>
          <a:solidFill>
            <a:srgbClr val="0E5C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2518" y="6108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30′ </a:t>
            </a:r>
            <a:r>
              <a:rPr sz="9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AI 追问</a:t>
            </a:r>
          </a:p>
        </p:txBody>
      </p:sp>
      <p:sp>
        <p:nvSpPr>
          <p:cNvPr id="35" name="Oval 34"/>
          <p:cNvSpPr/>
          <p:nvPr/>
        </p:nvSpPr>
        <p:spPr>
          <a:xfrm>
            <a:off x="11048238" y="5918454"/>
            <a:ext cx="105156" cy="10515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73184" y="6108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40′ </a:t>
            </a:r>
            <a:r>
              <a:rPr sz="9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生成护照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一条河 · AI 公民河流教育计划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0D484F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03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为什么</a:t>
            </a:r>
            <a:r>
              <a:rPr sz="3600" b="0" i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非得</a:t>
            </a:r>
            <a:r>
              <a:rPr sz="3600" b="0" i="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是 AI。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一位自然导师对三十个孩子，问不出三十个不同的问题。AI 可以——而且每一句追问，都顺手变成了一条可用的数据。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5074920" cy="4078224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swan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35607" y="240487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小天鹅向导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231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点位 05 · 清河闸 · 14:32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761488"/>
            <a:ext cx="4526280" cy="7315"/>
          </a:xfrm>
          <a:prstGeom prst="rect">
            <a:avLst/>
          </a:prstGeom>
          <a:solidFill>
            <a:srgbClr val="DCD6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926080"/>
            <a:ext cx="3703320" cy="420624"/>
          </a:xfrm>
          <a:prstGeom prst="roundRect">
            <a:avLst>
              <a:gd name="adj" fmla="val 16000"/>
            </a:avLst>
          </a:prstGeom>
          <a:solidFill>
            <a:srgbClr val="E7EF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926080"/>
            <a:ext cx="330098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你拍的这块水面，颜色像什么？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456432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E5C6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45643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有点绿。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913632"/>
            <a:ext cx="3703320" cy="621792"/>
          </a:xfrm>
          <a:prstGeom prst="roundRect">
            <a:avLst>
              <a:gd name="adj" fmla="val 16000"/>
            </a:avLst>
          </a:prstGeom>
          <a:solidFill>
            <a:srgbClr val="E7EF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3913632"/>
            <a:ext cx="330098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草地那种绿，还是墨汁那种绿？能看见水底的石子吗？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645152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E5C6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46451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看不见石头。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102352"/>
            <a:ext cx="3703320" cy="621792"/>
          </a:xfrm>
          <a:prstGeom prst="roundRect">
            <a:avLst>
              <a:gd name="adj" fmla="val 16000"/>
            </a:avLst>
          </a:prstGeom>
          <a:solidFill>
            <a:srgbClr val="E7EF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5102352"/>
            <a:ext cx="330098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好，那记下来：看不清水底。是水太深，还是水太浑？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779007"/>
            <a:ext cx="4526280" cy="365760"/>
          </a:xfrm>
          <a:prstGeom prst="roundRect">
            <a:avLst>
              <a:gd name="adj" fmla="val 10000"/>
            </a:avLst>
          </a:prstGeom>
          <a:solidFill>
            <a:srgbClr val="E4D7B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779007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6B5417"/>
                </a:solidFill>
                <a:latin typeface="PingFang SC"/>
                <a:ea typeface="PingFang SC"/>
                <a:cs typeface="PingFang SC"/>
              </a:rPr>
              <a:t>已记录　清河闸 05 · 透明度 低 · 14:32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779007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今日第 87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2677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22402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追问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2267712"/>
            <a:ext cx="3813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不公布答案，按孩子说的话决定下一个问题。一次对话，就是一次分层教学。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017520"/>
            <a:ext cx="5074920" cy="7315"/>
          </a:xfrm>
          <a:prstGeom prst="rect">
            <a:avLst/>
          </a:prstGeom>
          <a:solidFill>
            <a:srgbClr val="1550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090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06324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看见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3090672"/>
            <a:ext cx="3813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一张随手拍，变成一条带物种、点位、时间的观测记录。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840480"/>
            <a:ext cx="5074920" cy="7315"/>
          </a:xfrm>
          <a:prstGeom prst="rect">
            <a:avLst/>
          </a:prstGeom>
          <a:solidFill>
            <a:srgbClr val="1550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9136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8862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校验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6952" y="3913632"/>
            <a:ext cx="3813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知识库检索 + 同点位多人交叉 + 官方水质比对，坏数据进不了地图。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663440"/>
            <a:ext cx="5074920" cy="7315"/>
          </a:xfrm>
          <a:prstGeom prst="rect">
            <a:avLst/>
          </a:prstGeom>
          <a:solidFill>
            <a:srgbClr val="1550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736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4709159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举证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2" y="4736592"/>
            <a:ext cx="3813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每个孩子一份《河流护照》，每个班一份学情。公益项目第一次有了效果证据。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5705856"/>
            <a:ext cx="5074920" cy="56692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A64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705856"/>
            <a:ext cx="4672583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5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底线　</a:t>
            </a:r>
            <a:r>
              <a:rPr sz="880" b="0" i="0">
                <a:solidFill>
                  <a:srgbClr val="93AFAE"/>
                </a:solidFill>
                <a:latin typeface="PingFang SC"/>
                <a:ea typeface="PingFang SC"/>
                <a:cs typeface="PingFang SC"/>
              </a:rPr>
              <a:t>不采集人脸与精确坐标　·　AI 输出人工抽审　·　不排名、不羞辱、不制造焦虑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一条河 · AI 公民河流教育计划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04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0" i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免费给孩子，</a:t>
            </a:r>
            <a:r>
              <a:rPr sz="3500" b="0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卖给愿意为「效果」付费的人。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公益项目最怕的不是没钱，是说不清钱变成了什么。所以我们先把三件事分清楚：谁被服务、谁在付费、什么是公共的。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谁被服务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9689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4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永久免费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71216"/>
            <a:ext cx="3108960" cy="7315"/>
          </a:xfrm>
          <a:prstGeom prst="rect">
            <a:avLst/>
          </a:prstGeom>
          <a:solidFill>
            <a:srgbClr val="D8D3C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090672"/>
            <a:ext cx="68580" cy="685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999232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公立学校与社区儿童之家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68580" cy="685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3566160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没有研学预算的家庭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24527"/>
            <a:ext cx="68580" cy="685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4133087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缺少自然导师的班级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04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谁在付费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59689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4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为效果买单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2871216"/>
            <a:ext cx="3108960" cy="7315"/>
          </a:xfrm>
          <a:prstGeom prst="rect">
            <a:avLst/>
          </a:prstGeom>
          <a:solidFill>
            <a:srgbClr val="D8D3C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3090672"/>
            <a:ext cx="68580" cy="68580"/>
          </a:xfrm>
          <a:prstGeom prst="rect">
            <a:avLst/>
          </a:prstGeom>
          <a:solidFill>
            <a:srgbClr val="0E5C6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2999232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场景方：场地、IP 与现场运营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3657600"/>
            <a:ext cx="68580" cy="68580"/>
          </a:xfrm>
          <a:prstGeom prst="rect">
            <a:avLst/>
          </a:prstGeom>
          <a:solidFill>
            <a:srgbClr val="0E5C6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566160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基金会：项目经费与督导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4224527"/>
            <a:ext cx="68580" cy="68580"/>
          </a:xfrm>
          <a:prstGeom prst="rect">
            <a:avLst/>
          </a:prstGeom>
          <a:solidFill>
            <a:srgbClr val="0E5C6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4133087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企业与政府采购：算力、CSR、研学服务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2304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什么是公共的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9689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140">
                <a:solidFill>
                  <a:srgbClr val="2E7D82"/>
                </a:solidFill>
                <a:latin typeface="PingFang SC"/>
                <a:ea typeface="PingFang SC"/>
                <a:cs typeface="PingFang SC"/>
              </a:rPr>
              <a:t>开放出去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3568" y="2871216"/>
            <a:ext cx="3108960" cy="7315"/>
          </a:xfrm>
          <a:prstGeom prst="rect">
            <a:avLst/>
          </a:prstGeom>
          <a:solidFill>
            <a:srgbClr val="D8D3C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8" y="3090672"/>
            <a:ext cx="68580" cy="68580"/>
          </a:xfrm>
          <a:prstGeom prst="rect">
            <a:avLst/>
          </a:prstGeom>
          <a:solidFill>
            <a:srgbClr val="2E7D8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2999232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内容模板：一河一校，换城市 4 周上线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3568" y="3657600"/>
            <a:ext cx="68580" cy="68580"/>
          </a:xfrm>
          <a:prstGeom prst="rect">
            <a:avLst/>
          </a:prstGeom>
          <a:solidFill>
            <a:srgbClr val="2E7D8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4" y="3566160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观测数据 API，开放可下载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3568" y="4224527"/>
            <a:ext cx="68580" cy="68580"/>
          </a:xfrm>
          <a:prstGeom prst="rect">
            <a:avLst/>
          </a:prstGeom>
          <a:solidFill>
            <a:srgbClr val="2E7D8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3024" y="4133087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研学报告标准与教师手册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828032"/>
            <a:ext cx="10637215" cy="822960"/>
          </a:xfrm>
          <a:prstGeom prst="roundRect">
            <a:avLst>
              <a:gd name="adj" fmla="val 5000"/>
            </a:avLst>
          </a:prstGeom>
          <a:solidFill>
            <a:srgbClr val="EFEA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8136" y="4828032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首期 90 天，</a:t>
            </a:r>
            <a:r>
              <a:rPr sz="11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我们只敢承诺四个数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7328" y="4828032"/>
            <a:ext cx="12801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500</a:t>
            </a:r>
            <a:r>
              <a:rPr sz="90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67328" y="52303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儿童完成完整探究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42432" y="4828032"/>
            <a:ext cx="12801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1万</a:t>
            </a:r>
            <a:r>
              <a:rPr sz="90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42432" y="52303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有效观测入库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7536" y="4828032"/>
            <a:ext cx="12801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+25</a:t>
            </a:r>
            <a:r>
              <a:rPr sz="90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7536" y="52303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前后测学习增益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4828032"/>
            <a:ext cx="12801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3</a:t>
            </a:r>
            <a:r>
              <a:rPr sz="90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52303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建议被采纳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我们不拿 DAU 衡量公益。</a:t>
            </a:r>
            <a:r>
              <a:rPr sz="110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　一次有效的追问、一条可用的记录、一个被学校留下的班，才是这套东西真正在长的部分。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一条河 · AI 公民河流教育计划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0D484F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05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90525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0" i="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48 小时让它跑起来，</a:t>
            </a:r>
            <a:r>
              <a:rPr sz="3500" b="0" i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90 天让它被验证。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spc="10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48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80136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黑客松现场 · 把「AI」从文案变成真的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157984"/>
            <a:ext cx="562356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真 AI 追问替换写死的提示　·　拍照识别接通 1 个点位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一份《河流护照》　·　公开地图骨架，能看见别人的记录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52928"/>
            <a:ext cx="6720840" cy="7315"/>
          </a:xfrm>
          <a:prstGeom prst="rect">
            <a:avLst/>
          </a:prstGeom>
          <a:solidFill>
            <a:srgbClr val="1550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8094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spc="10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90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295351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一所学校 · 一个学期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3310127"/>
            <a:ext cx="562356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3 个班 · 500 名儿童 · 1 万条观测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教师手册 v1 与前后测　·　开源模板 v0.1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05072"/>
            <a:ext cx="6720840" cy="7315"/>
          </a:xfrm>
          <a:prstGeom prst="rect">
            <a:avLst/>
          </a:prstGeom>
          <a:solidFill>
            <a:srgbClr val="1550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33087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spc="10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12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7" y="4105655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三条河 · 三个城市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4462272"/>
            <a:ext cx="562356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换数据即复制　·　数据接入区级河长制平台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模板开放给其他流域的公益伙伴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1828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15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我们在找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1" y="2157984"/>
            <a:ext cx="3383280" cy="7315"/>
          </a:xfrm>
          <a:prstGeom prst="rect">
            <a:avLst/>
          </a:prstGeom>
          <a:solidFill>
            <a:srgbClr val="2A64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2377440"/>
            <a:ext cx="54864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304288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1 所试点学校（一个班就够）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1" y="2907792"/>
            <a:ext cx="54864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1 家公益机构（渠道与儿童服务经验）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8431" y="3438144"/>
            <a:ext cx="54864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364992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1 位水利 / 生态专家（把关知识库）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431" y="3968496"/>
            <a:ext cx="54864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895344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算力，和一台景区大屏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1" y="4498848"/>
            <a:ext cx="3383280" cy="65836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9A7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4498848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给我们 48 小时，</a:t>
            </a:r>
            <a:r>
              <a:rPr sz="1300" b="1" i="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和一个班的孩子。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632704"/>
            <a:ext cx="10637215" cy="7315"/>
          </a:xfrm>
          <a:prstGeom prst="rect">
            <a:avLst/>
          </a:prstGeom>
          <a:solidFill>
            <a:srgbClr val="2A64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1558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9D8D6"/>
                </a:solidFill>
                <a:latin typeface="Songti SC"/>
                <a:ea typeface="Songti SC"/>
                <a:cs typeface="Songti SC"/>
              </a:rPr>
              <a:t>一条河不需要更多赞美。</a:t>
            </a:r>
            <a:r>
              <a:rPr sz="2000" b="0" i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它需要更多证人。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一条河 · AI 公民河流教育计划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一条河 · AI 公民河流教育计划</dc:title>
  <dc:subject>AI + 公益 黑客松联合提案（6 页）</dc:subject>
  <dc:creator>ACC · 清河文旅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