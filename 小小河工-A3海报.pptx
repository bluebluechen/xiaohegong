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2000" cy="151200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post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2000"/>
            <a:ext cx="10692000" cy="1826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5246550"/>
            <a:ext cx="7200000" cy="17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spc="160">
                <a:solidFill>
                  <a:srgbClr val="8B9895"/>
                </a:solidFill>
                <a:latin typeface="PingFang SC"/>
                <a:ea typeface="PingFang SC"/>
                <a:cs typeface="PingFang SC"/>
              </a:rPr>
              <a:t>清河 · 十座水闸 · 四条支流　│　朱印处为起点：安河闸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4400" y="5666400"/>
            <a:ext cx="2657600" cy="55151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demo-02-巡河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5688000"/>
            <a:ext cx="2614400" cy="54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00" y="11376000"/>
            <a:ext cx="26144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01</a:t>
            </a:r>
            <a:r>
              <a:rPr sz="1200" b="1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　巡河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11628000"/>
            <a:ext cx="2686400" cy="17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94F50"/>
                </a:solidFill>
                <a:latin typeface="PingFang SC"/>
                <a:ea typeface="PingFang SC"/>
                <a:cs typeface="PingFang SC"/>
              </a:rPr>
              <a:t>到达点位，任务才会掉落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17200" y="5666400"/>
            <a:ext cx="2657600" cy="55151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demo-02-点位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8799" y="5688000"/>
            <a:ext cx="2614400" cy="547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8799" y="11376000"/>
            <a:ext cx="26144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02</a:t>
            </a:r>
            <a:r>
              <a:rPr sz="1200" b="1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　记录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8799" y="11628000"/>
            <a:ext cx="2686400" cy="17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94F50"/>
                </a:solidFill>
                <a:latin typeface="PingFang SC"/>
                <a:ea typeface="PingFang SC"/>
                <a:cs typeface="PingFang SC"/>
              </a:rPr>
              <a:t>按点位排，谁记的都在这儿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80000" y="5666400"/>
            <a:ext cx="2657600" cy="551519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demo-04-探索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600" y="5688000"/>
            <a:ext cx="2614400" cy="547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01600" y="11376000"/>
            <a:ext cx="26144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9A7A2E"/>
                </a:solidFill>
                <a:latin typeface="Songti SC"/>
                <a:ea typeface="Songti SC"/>
                <a:cs typeface="Songti SC"/>
              </a:rPr>
              <a:t>03</a:t>
            </a:r>
            <a:r>
              <a:rPr sz="1200" b="1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　探索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1600" y="11628000"/>
            <a:ext cx="2686400" cy="17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394F50"/>
                </a:solidFill>
                <a:latin typeface="PingFang SC"/>
                <a:ea typeface="PingFang SC"/>
                <a:cs typeface="PingFang SC"/>
              </a:rPr>
              <a:t>拍一张，听它在系统里干什么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" y="12024000"/>
            <a:ext cx="9540000" cy="21600"/>
          </a:xfrm>
          <a:prstGeom prst="rect">
            <a:avLst/>
          </a:prstGeom>
          <a:solidFill>
            <a:srgbClr val="DCD5C4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00" y="12240000"/>
            <a:ext cx="2160000" cy="1799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spc="200">
                <a:solidFill>
                  <a:srgbClr val="8B9895"/>
                </a:solidFill>
                <a:latin typeface="PingFang SC"/>
                <a:ea typeface="PingFang SC"/>
                <a:cs typeface="PingFang SC"/>
              </a:rPr>
              <a:t>一条记录长什么样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12528000"/>
            <a:ext cx="1368000" cy="576000"/>
          </a:xfrm>
          <a:prstGeom prst="roundRect">
            <a:avLst>
              <a:gd name="adj" fmla="val 5000"/>
            </a:avLst>
          </a:prstGeom>
          <a:solidFill>
            <a:srgbClr val="FBF8F0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4000" y="12600000"/>
            <a:ext cx="1152000" cy="12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点位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000" y="12762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清河闸 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88000" y="12528000"/>
            <a:ext cx="1368000" cy="576000"/>
          </a:xfrm>
          <a:prstGeom prst="roundRect">
            <a:avLst>
              <a:gd name="adj" fmla="val 5000"/>
            </a:avLst>
          </a:prstGeom>
          <a:solidFill>
            <a:srgbClr val="FBF8F0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6000" y="12600000"/>
            <a:ext cx="1152000" cy="12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6000" y="12762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10-22 14:32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0000" y="12528000"/>
            <a:ext cx="1368000" cy="576000"/>
          </a:xfrm>
          <a:prstGeom prst="roundRect">
            <a:avLst>
              <a:gd name="adj" fmla="val 5000"/>
            </a:avLst>
          </a:prstGeom>
          <a:solidFill>
            <a:srgbClr val="FBF8F0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8000" y="12600000"/>
            <a:ext cx="1152000" cy="12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类型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8000" y="12762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水文观测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2000" y="12528000"/>
            <a:ext cx="1368000" cy="576000"/>
          </a:xfrm>
          <a:prstGeom prst="roundRect">
            <a:avLst>
              <a:gd name="adj" fmla="val 5000"/>
            </a:avLst>
          </a:prstGeom>
          <a:solidFill>
            <a:srgbClr val="FBF8F0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0000" y="12600000"/>
            <a:ext cx="1152000" cy="12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000" y="12762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透明度·低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4000" y="12528000"/>
            <a:ext cx="1368000" cy="576000"/>
          </a:xfrm>
          <a:prstGeom prst="roundRect">
            <a:avLst>
              <a:gd name="adj" fmla="val 5000"/>
            </a:avLst>
          </a:prstGeom>
          <a:solidFill>
            <a:srgbClr val="FBF8F0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2000" y="12600000"/>
            <a:ext cx="1152000" cy="12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证据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2000" y="12762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照片 1 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6000" y="12528000"/>
            <a:ext cx="1368000" cy="576000"/>
          </a:xfrm>
          <a:prstGeom prst="roundRect">
            <a:avLst>
              <a:gd name="adj" fmla="val 5000"/>
            </a:avLst>
          </a:prstGeom>
          <a:solidFill>
            <a:srgbClr val="FBF8F0"/>
          </a:solidFill>
          <a:ln w="9525">
            <a:solidFill>
              <a:srgbClr val="DCD5C4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4000" y="12600000"/>
            <a:ext cx="1152000" cy="12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50" b="0" spc="140">
                <a:solidFill>
                  <a:srgbClr val="9A7A2E"/>
                </a:solidFill>
                <a:latin typeface="PingFang SC"/>
                <a:ea typeface="PingFang SC"/>
                <a:cs typeface="PingFang SC"/>
              </a:rPr>
              <a:t>观察者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4000" y="12762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0A2E33"/>
                </a:solidFill>
                <a:latin typeface="PingFang SC"/>
                <a:ea typeface="PingFang SC"/>
                <a:cs typeface="PingFang SC"/>
              </a:rPr>
              <a:t>NO.057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00" y="13320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4A52"/>
                </a:solidFill>
                <a:latin typeface="PingFang SC"/>
                <a:ea typeface="PingFang SC"/>
                <a:cs typeface="PingFang SC"/>
              </a:rPr>
              <a:t>孩子</a:t>
            </a:r>
            <a:r>
              <a:rPr sz="800" b="0">
                <a:solidFill>
                  <a:srgbClr val="394F50"/>
                </a:solidFill>
                <a:latin typeface="PingFang SC"/>
                <a:ea typeface="PingFang SC"/>
                <a:cs typeface="PingFang SC"/>
              </a:rPr>
              <a:t>　一个身份、一本护照、一条巡河线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7999" y="13320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4A52"/>
                </a:solidFill>
                <a:latin typeface="PingFang SC"/>
                <a:ea typeface="PingFang SC"/>
                <a:cs typeface="PingFang SC"/>
              </a:rPr>
              <a:t>公众</a:t>
            </a:r>
            <a:r>
              <a:rPr sz="800" b="0">
                <a:solidFill>
                  <a:srgbClr val="394F50"/>
                </a:solidFill>
                <a:latin typeface="PingFang SC"/>
                <a:ea typeface="PingFang SC"/>
                <a:cs typeface="PingFang SC"/>
              </a:rPr>
              <a:t>　按点位看这条河的四季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0" y="1332000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E4A52"/>
                </a:solidFill>
                <a:latin typeface="PingFang SC"/>
                <a:ea typeface="PingFang SC"/>
                <a:cs typeface="PingFang SC"/>
              </a:rPr>
              <a:t>机构</a:t>
            </a:r>
            <a:r>
              <a:rPr sz="800" b="0">
                <a:solidFill>
                  <a:srgbClr val="394F50"/>
                </a:solidFill>
                <a:latin typeface="PingFang SC"/>
                <a:ea typeface="PingFang SC"/>
                <a:cs typeface="PingFang SC"/>
              </a:rPr>
              <a:t>　可直接引用的结构化记录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13464000"/>
            <a:ext cx="10692000" cy="1656000"/>
          </a:xfrm>
          <a:prstGeom prst="rect">
            <a:avLst/>
          </a:prstGeom>
          <a:solidFill>
            <a:srgbClr val="07363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1" name="Picture 40" descr="qr_d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000" y="13608000"/>
            <a:ext cx="1008000" cy="100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