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24" y="6356350"/>
            <a:ext cx="2133711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363" y="6356350"/>
            <a:ext cx="289575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541" y="6356350"/>
            <a:ext cx="2133711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image" Target="../media/image5.png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20.xml"/><Relationship Id="rId23" Type="http://schemas.openxmlformats.org/officeDocument/2006/relationships/tags" Target="../tags/tag19.xml"/><Relationship Id="rId22" Type="http://schemas.openxmlformats.org/officeDocument/2006/relationships/tags" Target="../tags/tag18.xml"/><Relationship Id="rId21" Type="http://schemas.openxmlformats.org/officeDocument/2006/relationships/image" Target="../media/image8.jpeg"/><Relationship Id="rId20" Type="http://schemas.openxmlformats.org/officeDocument/2006/relationships/tags" Target="../tags/tag17.xml"/><Relationship Id="rId2" Type="http://schemas.openxmlformats.org/officeDocument/2006/relationships/tags" Target="../tags/tag2.xml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image" Target="../media/image7.png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8" y="0"/>
            <a:ext cx="12191695" cy="6858000"/>
          </a:xfrm>
          <a:prstGeom prst="rect">
            <a:avLst/>
          </a:prstGeom>
          <a:solidFill>
            <a:srgbClr val="0736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558" y="6583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spc="260">
                <a:solidFill>
                  <a:srgbClr val="D9B9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产品介绍　·　2026</a:t>
            </a:r>
            <a:endParaRPr sz="1050" b="0" spc="260">
              <a:solidFill>
                <a:srgbClr val="D9B96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77558" y="1024128"/>
            <a:ext cx="822960" cy="7315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837" y="1280160"/>
            <a:ext cx="822960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0" b="0" spc="400">
                <a:solidFill>
                  <a:srgbClr val="F3F0E7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小小河工</a:t>
            </a:r>
            <a:endParaRPr sz="8800" b="0" spc="400">
              <a:solidFill>
                <a:srgbClr val="F3F0E7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558" y="2761488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spc="320">
                <a:solidFill>
                  <a:srgbClr val="D9B96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AI+ 公民河流教育计划</a:t>
            </a:r>
            <a:endParaRPr sz="2100" b="0" spc="320">
              <a:solidFill>
                <a:srgbClr val="D9B96A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558" y="3611880"/>
            <a:ext cx="76809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3F0E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一条河不需要更多赞美。</a:t>
            </a:r>
            <a:r>
              <a:rPr sz="1700" b="0">
                <a:solidFill>
                  <a:srgbClr val="D9B96A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它需要更多记录。</a:t>
            </a:r>
            <a:endParaRPr sz="1700" b="0">
              <a:solidFill>
                <a:srgbClr val="D9B96A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558" y="605332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spc="220">
                <a:solidFill>
                  <a:srgbClr val="7FA6A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首站　·　北京清河</a:t>
            </a:r>
            <a:endParaRPr sz="1000" b="0" spc="220">
              <a:solidFill>
                <a:srgbClr val="7FA6A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</p:spPr>
        <p:txBody>
          <a:bodyPr/>
          <a:p/>
        </p:txBody>
      </p:sp>
      <p:sp>
        <p:nvSpPr>
          <p:cNvPr id="15" name="Text Box 14" descr="{&quot;isTemplate&quot;:true,&quot;type&quot;:&quot;text&quot;}"/>
          <p:cNvSpPr txBox="1"/>
          <p:nvPr/>
        </p:nvSpPr>
        <p:spPr>
          <a:xfrm>
            <a:off x="723900" y="400050"/>
            <a:ext cx="2095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300">
                <a:solidFill>
                  <a:srgbClr val="C9A24B"/>
                </a:solidFill>
                <a:latin typeface="PingFang SC" panose="020B0400000000000000" charset="-122"/>
                <a:ea typeface="PingFang SC" panose="020B0400000000000000" charset="-122"/>
              </a:rPr>
              <a:t>01</a:t>
            </a:r>
            <a:endParaRPr lang="en-US" sz="975" spc="300">
              <a:solidFill>
                <a:srgbClr val="C9A2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Text Box 15" descr="{&quot;isTemplate&quot;:true,&quot;type&quot;:&quot;text&quot;}"/>
          <p:cNvSpPr txBox="1"/>
          <p:nvPr/>
        </p:nvSpPr>
        <p:spPr>
          <a:xfrm>
            <a:off x="1123950" y="361950"/>
            <a:ext cx="10572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spc="225">
                <a:solidFill>
                  <a:srgbClr val="072F35"/>
                </a:solidFill>
                <a:latin typeface="Songti SC" panose="02010800040101010101" charset="-122"/>
                <a:ea typeface="Songti SC" panose="02010800040101010101" charset="-122"/>
              </a:rPr>
              <a:t>这条河</a:t>
            </a:r>
            <a:endParaRPr lang="zh-CN" sz="2550" spc="225">
              <a:solidFill>
                <a:srgbClr val="072F35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23900" y="876300"/>
            <a:ext cx="514350" cy="9525"/>
          </a:xfrm>
          <a:prstGeom prst="rect">
            <a:avLst/>
          </a:prstGeom>
          <a:solidFill>
            <a:srgbClr val="C9A24B">
              <a:alpha val="55000"/>
            </a:srgbClr>
          </a:solidFill>
        </p:spPr>
        <p:txBody>
          <a:bodyPr/>
          <a:p/>
        </p:txBody>
      </p:sp>
      <p:sp>
        <p:nvSpPr>
          <p:cNvPr id="18" name="Text Box 17" descr="{&quot;isTemplate&quot;:true,&quot;type&quot;:&quot;text&quot;}"/>
          <p:cNvSpPr txBox="1"/>
          <p:nvPr/>
        </p:nvSpPr>
        <p:spPr>
          <a:xfrm>
            <a:off x="723900" y="990600"/>
            <a:ext cx="546735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spc="113">
                <a:solidFill>
                  <a:srgbClr val="072F35"/>
                </a:solidFill>
                <a:latin typeface="Songti SC" panose="02010800040101010101" charset="-122"/>
                <a:ea typeface="Songti SC" panose="02010800040101010101" charset="-122"/>
              </a:rPr>
              <a:t>一条河的六十年，和它的</a:t>
            </a:r>
            <a:r>
              <a:rPr lang="en-US" sz="2700" spc="113">
                <a:solidFill>
                  <a:srgbClr val="072F35"/>
                </a:solidFill>
                <a:latin typeface="Songti SC" panose="02010800040101010101" charset="-122"/>
                <a:ea typeface="Songti SC" panose="02010800040101010101" charset="-122"/>
              </a:rPr>
              <a:t> 23.6 </a:t>
            </a:r>
            <a:r>
              <a:rPr lang="zh-CN" sz="2700" spc="113">
                <a:solidFill>
                  <a:srgbClr val="072F35"/>
                </a:solidFill>
                <a:latin typeface="Songti SC" panose="02010800040101010101" charset="-122"/>
                <a:ea typeface="Songti SC" panose="02010800040101010101" charset="-122"/>
              </a:rPr>
              <a:t>公里</a:t>
            </a:r>
            <a:endParaRPr lang="zh-CN" sz="2700" spc="113">
              <a:solidFill>
                <a:srgbClr val="072F35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19" name="Text Box 18" descr="{&quot;isTemplate&quot;:true,&quot;type&quot;:&quot;text&quot;}"/>
          <p:cNvSpPr txBox="1"/>
          <p:nvPr/>
        </p:nvSpPr>
        <p:spPr>
          <a:xfrm>
            <a:off x="723900" y="1600200"/>
            <a:ext cx="48768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95000"/>
              </a:lnSpc>
            </a:pPr>
            <a:r>
              <a:rPr lang="en-US" sz="105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1965 </a:t>
            </a:r>
            <a:r>
              <a:rPr lang="zh-CN" sz="105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年，安河闸建成，清河的起点从西山脚下挪到京密引水渠东岸。六十年后，水回到</a:t>
            </a:r>
            <a:r>
              <a:rPr lang="en-US" sz="105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 III </a:t>
            </a:r>
            <a:r>
              <a:rPr lang="zh-CN" sz="105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类，鸟回来九十余种，沿岸长出十座公园。</a:t>
            </a:r>
            <a:endParaRPr lang="zh-CN" sz="1050">
              <a:solidFill>
                <a:srgbClr val="5C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Text Box 19" descr="{&quot;isTemplate&quot;:true,&quot;type&quot;:&quot;text&quot;}"/>
          <p:cNvSpPr txBox="1"/>
          <p:nvPr/>
        </p:nvSpPr>
        <p:spPr>
          <a:xfrm>
            <a:off x="723900" y="2362200"/>
            <a:ext cx="4876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975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西起西山碧云寺，东至温榆河口。十座闸把它分成十段，四条支流在路上汇进来。</a:t>
            </a:r>
            <a:endParaRPr lang="zh-CN" sz="975">
              <a:solidFill>
                <a:srgbClr val="8A7A5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Text Box 23" descr="{&quot;isTemplate&quot;:true,&quot;type&quot;:&quot;text&quot;}"/>
          <p:cNvSpPr txBox="1"/>
          <p:nvPr/>
        </p:nvSpPr>
        <p:spPr>
          <a:xfrm>
            <a:off x="7515225" y="1685925"/>
            <a:ext cx="12192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>
                <a:solidFill>
                  <a:srgbClr val="072F35"/>
                </a:solidFill>
                <a:latin typeface="Helvetica Neue" panose="02000503000000020004"/>
                <a:ea typeface="Helvetica Neue" panose="02000503000000020004"/>
              </a:rPr>
              <a:t>10</a:t>
            </a:r>
            <a:endParaRPr lang="en-US" sz="3000">
              <a:solidFill>
                <a:srgbClr val="072F35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5" name="Text Box 24" descr="{&quot;isTemplate&quot;:true,&quot;type&quot;:&quot;text&quot;}"/>
          <p:cNvSpPr txBox="1"/>
          <p:nvPr/>
        </p:nvSpPr>
        <p:spPr>
          <a:xfrm>
            <a:off x="7515225" y="2228850"/>
            <a:ext cx="12192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5" spc="75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座水闸</a:t>
            </a:r>
            <a:endParaRPr lang="zh-CN" sz="865" spc="75">
              <a:solidFill>
                <a:srgbClr val="5C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6" name="Text Box 25" descr="{&quot;isTemplate&quot;:true,&quot;type&quot;:&quot;text&quot;}"/>
          <p:cNvSpPr txBox="1"/>
          <p:nvPr/>
        </p:nvSpPr>
        <p:spPr>
          <a:xfrm>
            <a:off x="8734425" y="1685925"/>
            <a:ext cx="12192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>
                <a:solidFill>
                  <a:srgbClr val="072F35"/>
                </a:solidFill>
                <a:latin typeface="Helvetica Neue" panose="02000503000000020004"/>
                <a:ea typeface="Helvetica Neue" panose="02000503000000020004"/>
              </a:rPr>
              <a:t>6</a:t>
            </a:r>
            <a:endParaRPr lang="en-US" sz="3000">
              <a:solidFill>
                <a:srgbClr val="072F35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7" name="Text Box 26" descr="{&quot;isTemplate&quot;:true,&quot;type&quot;:&quot;text&quot;}"/>
          <p:cNvSpPr txBox="1"/>
          <p:nvPr/>
        </p:nvSpPr>
        <p:spPr>
          <a:xfrm>
            <a:off x="8734425" y="2228850"/>
            <a:ext cx="12192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5" spc="75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处沿岸古迹</a:t>
            </a:r>
            <a:endParaRPr lang="zh-CN" sz="865" spc="75">
              <a:solidFill>
                <a:srgbClr val="5C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8" name="Text Box 27" descr="{&quot;isTemplate&quot;:true,&quot;type&quot;:&quot;text&quot;}"/>
          <p:cNvSpPr txBox="1"/>
          <p:nvPr/>
        </p:nvSpPr>
        <p:spPr>
          <a:xfrm>
            <a:off x="9953625" y="1685925"/>
            <a:ext cx="12192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>
                <a:solidFill>
                  <a:srgbClr val="C9A24B"/>
                </a:solidFill>
                <a:latin typeface="Helvetica Neue" panose="02000503000000020004"/>
                <a:ea typeface="Helvetica Neue" panose="02000503000000020004"/>
              </a:rPr>
              <a:t>90+</a:t>
            </a:r>
            <a:endParaRPr lang="en-US" sz="3000">
              <a:solidFill>
                <a:srgbClr val="C9A24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9" name="Text Box 28" descr="{&quot;isTemplate&quot;:true,&quot;type&quot;:&quot;text&quot;}"/>
          <p:cNvSpPr txBox="1"/>
          <p:nvPr/>
        </p:nvSpPr>
        <p:spPr>
          <a:xfrm>
            <a:off x="9953625" y="2228850"/>
            <a:ext cx="12192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5" spc="75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种鸟</a:t>
            </a:r>
            <a:endParaRPr lang="zh-CN" sz="865" spc="75">
              <a:solidFill>
                <a:srgbClr val="5C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1" name="Freeform 30"/>
          <p:cNvSpPr/>
          <p:nvPr/>
        </p:nvSpPr>
        <p:spPr>
          <a:xfrm>
            <a:off x="768985" y="5647690"/>
            <a:ext cx="10699115" cy="391160"/>
          </a:xfrm>
          <a:custGeom>
            <a:avLst/>
            <a:gdLst/>
            <a:ahLst/>
            <a:cxnLst/>
            <a:pathLst>
              <a:path w="1128" h="68">
                <a:moveTo>
                  <a:pt x="0" y="0"/>
                </a:moveTo>
                <a:lnTo>
                  <a:pt x="2" y="0"/>
                </a:lnTo>
                <a:lnTo>
                  <a:pt x="2" y="68"/>
                </a:lnTo>
                <a:lnTo>
                  <a:pt x="0" y="68"/>
                </a:lnTo>
                <a:close/>
              </a:path>
            </a:pathLst>
          </a:custGeom>
          <a:solidFill>
            <a:srgbClr val="B5432F"/>
          </a:solidFill>
        </p:spPr>
        <p:txBody>
          <a:bodyPr/>
          <a:p/>
        </p:txBody>
      </p:sp>
      <p:sp>
        <p:nvSpPr>
          <p:cNvPr id="32" name="Text Box 31" descr="{&quot;isTemplate&quot;:true,&quot;type&quot;:&quot;text&quot;}"/>
          <p:cNvSpPr txBox="1"/>
          <p:nvPr/>
        </p:nvSpPr>
        <p:spPr>
          <a:xfrm>
            <a:off x="876300" y="5589270"/>
            <a:ext cx="10591800" cy="352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00" spc="60">
                <a:solidFill>
                  <a:srgbClr val="072F35"/>
                </a:solidFill>
                <a:latin typeface="Songti SC" panose="02010800040101010101" charset="-122"/>
                <a:ea typeface="Songti SC" panose="02010800040101010101" charset="-122"/>
              </a:rPr>
              <a:t>可关于它的记录，仍只来自少数几次取样。</a:t>
            </a:r>
            <a:endParaRPr lang="zh-CN" sz="1600" spc="60">
              <a:solidFill>
                <a:srgbClr val="072F35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34" name="Text Box 33" descr="{&quot;isTemplate&quot;:true,&quot;type&quot;:&quot;text&quot;}"/>
          <p:cNvSpPr txBox="1"/>
          <p:nvPr/>
        </p:nvSpPr>
        <p:spPr>
          <a:xfrm>
            <a:off x="723900" y="6438900"/>
            <a:ext cx="19907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13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小小河工</a:t>
            </a:r>
            <a:r>
              <a:rPr lang="en-US" sz="900" spc="113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 · AI+ </a:t>
            </a:r>
            <a:r>
              <a:rPr lang="zh-CN" sz="900" spc="113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公民河流教育计划</a:t>
            </a:r>
            <a:endParaRPr lang="zh-CN" sz="900" spc="113">
              <a:solidFill>
                <a:srgbClr val="8A7A5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5" name="Text Box 34" descr="{&quot;isTemplate&quot;:true,&quot;type&quot;:&quot;text&quot;}"/>
          <p:cNvSpPr txBox="1"/>
          <p:nvPr/>
        </p:nvSpPr>
        <p:spPr>
          <a:xfrm>
            <a:off x="10668000" y="6438900"/>
            <a:ext cx="504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13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01 / 06</a:t>
            </a:r>
            <a:endParaRPr lang="en-US" sz="900" spc="113">
              <a:solidFill>
                <a:srgbClr val="8A7A5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pic>
        <p:nvPicPr>
          <p:cNvPr id="8" name="Picture 7" descr="deck_m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3063240"/>
            <a:ext cx="10114915" cy="1938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</p:spPr>
        <p:txBody>
          <a:bodyPr/>
          <a:p/>
        </p:txBody>
      </p:sp>
      <p:sp>
        <p:nvSpPr>
          <p:cNvPr id="38" name="Text Box 37" descr="{&quot;isTemplate&quot;:true,&quot;type&quot;:&quot;text&quot;}"/>
          <p:cNvSpPr txBox="1"/>
          <p:nvPr/>
        </p:nvSpPr>
        <p:spPr>
          <a:xfrm>
            <a:off x="723900" y="400050"/>
            <a:ext cx="228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300">
                <a:solidFill>
                  <a:srgbClr val="C9A24B"/>
                </a:solidFill>
                <a:latin typeface="PingFang SC" panose="020B0400000000000000" charset="-122"/>
                <a:ea typeface="PingFang SC" panose="020B0400000000000000" charset="-122"/>
              </a:rPr>
              <a:t>02</a:t>
            </a:r>
            <a:endParaRPr lang="en-US" sz="975" spc="300">
              <a:solidFill>
                <a:srgbClr val="C9A2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9" name="Text Box 38" descr="{&quot;isTemplate&quot;:true,&quot;type&quot;:&quot;text&quot;}"/>
          <p:cNvSpPr txBox="1"/>
          <p:nvPr/>
        </p:nvSpPr>
        <p:spPr>
          <a:xfrm>
            <a:off x="1123950" y="361950"/>
            <a:ext cx="176212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spc="225">
                <a:solidFill>
                  <a:srgbClr val="072F35"/>
                </a:solidFill>
                <a:latin typeface="Songti SC" panose="02010800040101010101" charset="-122"/>
                <a:ea typeface="Songti SC" panose="02010800040101010101" charset="-122"/>
              </a:rPr>
              <a:t>这条河今天</a:t>
            </a:r>
            <a:endParaRPr lang="zh-CN" sz="2550" spc="225">
              <a:solidFill>
                <a:srgbClr val="072F35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23900" y="876300"/>
            <a:ext cx="514350" cy="9525"/>
          </a:xfrm>
          <a:prstGeom prst="rect">
            <a:avLst/>
          </a:prstGeom>
          <a:solidFill>
            <a:srgbClr val="C9A24B">
              <a:alpha val="55000"/>
            </a:srgbClr>
          </a:solidFill>
        </p:spPr>
        <p:txBody>
          <a:bodyPr/>
          <a:p/>
        </p:txBody>
      </p:sp>
      <p:sp>
        <p:nvSpPr>
          <p:cNvPr id="41" name="Text Box 40" descr="{&quot;isTemplate&quot;:true,&quot;type&quot;:&quot;text&quot;}"/>
          <p:cNvSpPr txBox="1"/>
          <p:nvPr/>
        </p:nvSpPr>
        <p:spPr>
          <a:xfrm>
            <a:off x="723900" y="990600"/>
            <a:ext cx="533400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spc="150">
                <a:solidFill>
                  <a:srgbClr val="072F35"/>
                </a:solidFill>
                <a:latin typeface="Songti SC" panose="02010800040101010101" charset="-122"/>
                <a:ea typeface="Songti SC" panose="02010800040101010101" charset="-122"/>
              </a:rPr>
              <a:t>治理的终点，是公共教育的起点</a:t>
            </a:r>
            <a:endParaRPr lang="zh-CN" sz="2850" spc="150">
              <a:solidFill>
                <a:srgbClr val="072F35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42" name="Text Box 41" descr="{&quot;isTemplate&quot;:true,&quot;type&quot;:&quot;text&quot;}"/>
          <p:cNvSpPr txBox="1"/>
          <p:nvPr/>
        </p:nvSpPr>
        <p:spPr>
          <a:xfrm>
            <a:off x="723900" y="1562100"/>
            <a:ext cx="107442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2023 </a:t>
            </a:r>
            <a:r>
              <a:rPr lang="zh-CN" sz="105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年</a:t>
            </a:r>
            <a:r>
              <a:rPr lang="en-US" sz="105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 10 </a:t>
            </a:r>
            <a:r>
              <a:rPr lang="zh-CN" sz="105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月清河之洲开园，这条河被推到了人前——它成了海淀「金腰带」上人流最密的公园之一。</a:t>
            </a:r>
            <a:endParaRPr lang="zh-CN" sz="1050">
              <a:solidFill>
                <a:srgbClr val="5C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723900" y="2430780"/>
            <a:ext cx="3619500" cy="1798320"/>
          </a:xfrm>
          <a:prstGeom prst="rect">
            <a:avLst/>
          </a:prstGeom>
          <a:solidFill>
            <a:srgbClr val="072F35">
              <a:alpha val="5500"/>
            </a:srgbClr>
          </a:solidFill>
        </p:spPr>
        <p:txBody>
          <a:bodyPr/>
          <a:p/>
        </p:txBody>
      </p:sp>
      <p:sp>
        <p:nvSpPr>
          <p:cNvPr id="49" name="Text Box 48" descr="{&quot;isTemplate&quot;:true,&quot;type&quot;:&quot;text&quot;}"/>
          <p:cNvSpPr txBox="1"/>
          <p:nvPr/>
        </p:nvSpPr>
        <p:spPr>
          <a:xfrm>
            <a:off x="914400" y="3086100"/>
            <a:ext cx="3238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165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现</a:t>
            </a:r>
            <a:r>
              <a:rPr lang="en-US" sz="825" spc="165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 </a:t>
            </a:r>
            <a:r>
              <a:rPr lang="zh-CN" sz="825" spc="165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在</a:t>
            </a:r>
            <a:endParaRPr lang="zh-CN" sz="825" spc="165">
              <a:solidFill>
                <a:srgbClr val="8A7A5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0" name="Text Box 49" descr="{&quot;isTemplate&quot;:true,&quot;type&quot;:&quot;text&quot;}"/>
          <p:cNvSpPr txBox="1"/>
          <p:nvPr/>
        </p:nvSpPr>
        <p:spPr>
          <a:xfrm>
            <a:off x="914400" y="3243580"/>
            <a:ext cx="3238500" cy="39497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113">
                <a:solidFill>
                  <a:srgbClr val="072F35"/>
                </a:solidFill>
                <a:latin typeface="Songti SC" panose="02010800040101010101" charset="-122"/>
                <a:ea typeface="Songti SC" panose="02010800040101010101" charset="-122"/>
              </a:rPr>
              <a:t>被观赏的河</a:t>
            </a:r>
            <a:endParaRPr lang="zh-CN" sz="1800" spc="113">
              <a:solidFill>
                <a:srgbClr val="072F35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51" name="Text Box 50" descr="{&quot;isTemplate&quot;:true,&quot;type&quot;:&quot;text&quot;}"/>
          <p:cNvSpPr txBox="1"/>
          <p:nvPr/>
        </p:nvSpPr>
        <p:spPr>
          <a:xfrm>
            <a:off x="914400" y="3612515"/>
            <a:ext cx="3238500" cy="34036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游客多「看过即走」，风景留在原地。</a:t>
            </a:r>
            <a:endParaRPr lang="zh-CN" sz="900">
              <a:solidFill>
                <a:srgbClr val="5C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52950" y="2430780"/>
            <a:ext cx="1428750" cy="1798320"/>
          </a:xfrm>
          <a:prstGeom prst="rect">
            <a:avLst/>
          </a:prstGeom>
        </p:spPr>
      </p:pic>
      <p:sp>
        <p:nvSpPr>
          <p:cNvPr id="53" name="Text Box 52" descr="{&quot;isTemplate&quot;:true,&quot;type&quot;:&quot;text&quot;}"/>
          <p:cNvSpPr txBox="1"/>
          <p:nvPr/>
        </p:nvSpPr>
        <p:spPr>
          <a:xfrm>
            <a:off x="4552950" y="3302000"/>
            <a:ext cx="1428750" cy="6127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zh-CN" sz="825" spc="30">
                <a:solidFill>
                  <a:srgbClr val="B5432F"/>
                </a:solidFill>
                <a:latin typeface="PingFang SC" panose="020B0400000000000000" charset="-122"/>
                <a:ea typeface="PingFang SC" panose="020B0400000000000000" charset="-122"/>
              </a:rPr>
              <a:t>一台手机　一本护照</a:t>
            </a:r>
            <a:endParaRPr lang="zh-CN" sz="825" spc="30">
              <a:solidFill>
                <a:srgbClr val="B5432F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ctr">
              <a:lnSpc>
                <a:spcPct val="170000"/>
              </a:lnSpc>
            </a:pPr>
            <a:r>
              <a:rPr lang="zh-CN" sz="825" spc="30">
                <a:solidFill>
                  <a:srgbClr val="B5432F"/>
                </a:solidFill>
                <a:latin typeface="PingFang SC" panose="020B0400000000000000" charset="-122"/>
                <a:ea typeface="PingFang SC" panose="020B0400000000000000" charset="-122"/>
              </a:rPr>
              <a:t>一条河的档案</a:t>
            </a:r>
            <a:endParaRPr lang="zh-CN" sz="825" spc="30">
              <a:solidFill>
                <a:srgbClr val="B5432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267450" y="2430780"/>
            <a:ext cx="5200650" cy="1798320"/>
          </a:xfrm>
          <a:prstGeom prst="rect">
            <a:avLst/>
          </a:prstGeom>
          <a:solidFill>
            <a:srgbClr val="072F35"/>
          </a:solidFill>
        </p:spPr>
        <p:txBody>
          <a:bodyPr/>
          <a:p/>
        </p:txBody>
      </p:sp>
      <p:sp>
        <p:nvSpPr>
          <p:cNvPr id="55" name="Text Box 54" descr="{&quot;isTemplate&quot;:true,&quot;type&quot;:&quot;text&quot;}"/>
          <p:cNvSpPr txBox="1"/>
          <p:nvPr/>
        </p:nvSpPr>
        <p:spPr>
          <a:xfrm>
            <a:off x="6496050" y="3086100"/>
            <a:ext cx="47434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165">
                <a:solidFill>
                  <a:srgbClr val="C9A24B"/>
                </a:solidFill>
                <a:latin typeface="PingFang SC" panose="020B0400000000000000" charset="-122"/>
                <a:ea typeface="PingFang SC" panose="020B0400000000000000" charset="-122"/>
              </a:rPr>
              <a:t>有</a:t>
            </a:r>
            <a:r>
              <a:rPr lang="en-US" sz="825" spc="165">
                <a:solidFill>
                  <a:srgbClr val="C9A24B"/>
                </a:solidFill>
                <a:latin typeface="PingFang SC" panose="020B0400000000000000" charset="-122"/>
                <a:ea typeface="PingFang SC" panose="020B0400000000000000" charset="-122"/>
              </a:rPr>
              <a:t> </a:t>
            </a:r>
            <a:r>
              <a:rPr lang="zh-CN" sz="825" spc="165">
                <a:solidFill>
                  <a:srgbClr val="C9A24B"/>
                </a:solidFill>
                <a:latin typeface="PingFang SC" panose="020B0400000000000000" charset="-122"/>
                <a:ea typeface="PingFang SC" panose="020B0400000000000000" charset="-122"/>
              </a:rPr>
              <a:t>了</a:t>
            </a:r>
            <a:r>
              <a:rPr lang="en-US" sz="825" spc="165">
                <a:solidFill>
                  <a:srgbClr val="C9A24B"/>
                </a:solidFill>
                <a:latin typeface="PingFang SC" panose="020B0400000000000000" charset="-122"/>
                <a:ea typeface="PingFang SC" panose="020B0400000000000000" charset="-122"/>
              </a:rPr>
              <a:t> </a:t>
            </a:r>
            <a:r>
              <a:rPr lang="zh-CN" sz="825" spc="165">
                <a:solidFill>
                  <a:srgbClr val="C9A24B"/>
                </a:solidFill>
                <a:latin typeface="PingFang SC" panose="020B0400000000000000" charset="-122"/>
                <a:ea typeface="PingFang SC" panose="020B0400000000000000" charset="-122"/>
              </a:rPr>
              <a:t>载</a:t>
            </a:r>
            <a:r>
              <a:rPr lang="en-US" sz="825" spc="165">
                <a:solidFill>
                  <a:srgbClr val="C9A24B"/>
                </a:solidFill>
                <a:latin typeface="PingFang SC" panose="020B0400000000000000" charset="-122"/>
                <a:ea typeface="PingFang SC" panose="020B0400000000000000" charset="-122"/>
              </a:rPr>
              <a:t> </a:t>
            </a:r>
            <a:r>
              <a:rPr lang="zh-CN" sz="825" spc="165">
                <a:solidFill>
                  <a:srgbClr val="C9A24B"/>
                </a:solidFill>
                <a:latin typeface="PingFang SC" panose="020B0400000000000000" charset="-122"/>
                <a:ea typeface="PingFang SC" panose="020B0400000000000000" charset="-122"/>
              </a:rPr>
              <a:t>体</a:t>
            </a:r>
            <a:r>
              <a:rPr lang="en-US" sz="825" spc="165">
                <a:solidFill>
                  <a:srgbClr val="C9A24B"/>
                </a:solidFill>
                <a:latin typeface="PingFang SC" panose="020B0400000000000000" charset="-122"/>
                <a:ea typeface="PingFang SC" panose="020B0400000000000000" charset="-122"/>
              </a:rPr>
              <a:t> </a:t>
            </a:r>
            <a:r>
              <a:rPr lang="zh-CN" sz="825" spc="165">
                <a:solidFill>
                  <a:srgbClr val="C9A24B"/>
                </a:solidFill>
                <a:latin typeface="PingFang SC" panose="020B0400000000000000" charset="-122"/>
                <a:ea typeface="PingFang SC" panose="020B0400000000000000" charset="-122"/>
              </a:rPr>
              <a:t>之</a:t>
            </a:r>
            <a:r>
              <a:rPr lang="en-US" sz="825" spc="165">
                <a:solidFill>
                  <a:srgbClr val="C9A24B"/>
                </a:solidFill>
                <a:latin typeface="PingFang SC" panose="020B0400000000000000" charset="-122"/>
                <a:ea typeface="PingFang SC" panose="020B0400000000000000" charset="-122"/>
              </a:rPr>
              <a:t> </a:t>
            </a:r>
            <a:r>
              <a:rPr lang="zh-CN" sz="825" spc="165">
                <a:solidFill>
                  <a:srgbClr val="C9A24B"/>
                </a:solidFill>
                <a:latin typeface="PingFang SC" panose="020B0400000000000000" charset="-122"/>
                <a:ea typeface="PingFang SC" panose="020B0400000000000000" charset="-122"/>
              </a:rPr>
              <a:t>后</a:t>
            </a:r>
            <a:endParaRPr lang="zh-CN" sz="825" spc="165">
              <a:solidFill>
                <a:srgbClr val="C9A2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6" name="Text Box 55" descr="{&quot;isTemplate&quot;:true,&quot;type&quot;:&quot;text&quot;}"/>
          <p:cNvSpPr txBox="1"/>
          <p:nvPr/>
        </p:nvSpPr>
        <p:spPr>
          <a:xfrm>
            <a:off x="6496050" y="3243580"/>
            <a:ext cx="4743450" cy="39497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113">
                <a:solidFill>
                  <a:srgbClr val="F7F4EC"/>
                </a:solidFill>
                <a:latin typeface="Songti SC" panose="02010800040101010101" charset="-122"/>
                <a:ea typeface="Songti SC" panose="02010800040101010101" charset="-122"/>
              </a:rPr>
              <a:t>公共教育的舞台</a:t>
            </a:r>
            <a:endParaRPr lang="zh-CN" sz="1800" spc="113">
              <a:solidFill>
                <a:srgbClr val="F7F4EC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57" name="Text Box 56" descr="{&quot;isTemplate&quot;:true,&quot;type&quot;:&quot;text&quot;}"/>
          <p:cNvSpPr txBox="1"/>
          <p:nvPr/>
        </p:nvSpPr>
        <p:spPr>
          <a:xfrm>
            <a:off x="6496050" y="3612515"/>
            <a:ext cx="4743450" cy="34036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孩子与居民从「享受者」变成「回馈者」，每次到访都留下一条记录。</a:t>
            </a:r>
            <a:endParaRPr lang="zh-CN" sz="900">
              <a:solidFill>
                <a:srgbClr val="8FB0AE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8" name="Freeform 57"/>
          <p:cNvSpPr/>
          <p:nvPr/>
        </p:nvSpPr>
        <p:spPr>
          <a:xfrm>
            <a:off x="723900" y="5391150"/>
            <a:ext cx="10744200" cy="361950"/>
          </a:xfrm>
          <a:custGeom>
            <a:avLst/>
            <a:gdLst/>
            <a:ahLst/>
            <a:cxnLst/>
            <a:pathLst>
              <a:path w="1128" h="38">
                <a:moveTo>
                  <a:pt x="0" y="0"/>
                </a:moveTo>
                <a:lnTo>
                  <a:pt x="2" y="0"/>
                </a:lnTo>
                <a:lnTo>
                  <a:pt x="2" y="38"/>
                </a:lnTo>
                <a:lnTo>
                  <a:pt x="0" y="38"/>
                </a:lnTo>
                <a:close/>
              </a:path>
            </a:pathLst>
          </a:custGeom>
          <a:solidFill>
            <a:srgbClr val="B5432F"/>
          </a:solidFill>
        </p:spPr>
        <p:txBody>
          <a:bodyPr/>
          <a:p/>
        </p:txBody>
      </p:sp>
      <p:sp>
        <p:nvSpPr>
          <p:cNvPr id="59" name="Text Box 58" descr="{&quot;isTemplate&quot;:true,&quot;type&quot;:&quot;text&quot;}"/>
          <p:cNvSpPr txBox="1"/>
          <p:nvPr/>
        </p:nvSpPr>
        <p:spPr>
          <a:xfrm>
            <a:off x="876300" y="5391150"/>
            <a:ext cx="10591800" cy="361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500" spc="60">
                <a:solidFill>
                  <a:srgbClr val="072F35"/>
                </a:solidFill>
                <a:latin typeface="Songti SC" panose="02010800040101010101" charset="-122"/>
                <a:ea typeface="Songti SC" panose="02010800040101010101" charset="-122"/>
              </a:rPr>
              <a:t>我们不缺人流，缺的是把「看客」变成「参与者」的那一件东西。</a:t>
            </a:r>
            <a:endParaRPr lang="zh-CN" sz="1500" spc="60">
              <a:solidFill>
                <a:srgbClr val="072F35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60" name="Text Box 59" descr="{&quot;isTemplate&quot;:true,&quot;type&quot;:&quot;text&quot;}"/>
          <p:cNvSpPr txBox="1"/>
          <p:nvPr/>
        </p:nvSpPr>
        <p:spPr>
          <a:xfrm>
            <a:off x="723900" y="6438900"/>
            <a:ext cx="19907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13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小小河工</a:t>
            </a:r>
            <a:r>
              <a:rPr lang="en-US" sz="900" spc="113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 · AI+ </a:t>
            </a:r>
            <a:r>
              <a:rPr lang="zh-CN" sz="900" spc="113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公民河流教育计划</a:t>
            </a:r>
            <a:endParaRPr lang="zh-CN" sz="900" spc="113">
              <a:solidFill>
                <a:srgbClr val="8A7A5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1" name="Text Box 60" descr="{&quot;isTemplate&quot;:true,&quot;type&quot;:&quot;text&quot;}"/>
          <p:cNvSpPr txBox="1"/>
          <p:nvPr/>
        </p:nvSpPr>
        <p:spPr>
          <a:xfrm>
            <a:off x="10668000" y="6438900"/>
            <a:ext cx="504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13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02 / 06</a:t>
            </a:r>
            <a:endParaRPr lang="en-US" sz="900" spc="113">
              <a:solidFill>
                <a:srgbClr val="8A7A5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 descr="&lt;Slide style={{ width: 1280, height: 720, backgroundColor: '#F7F4EC', position: 'relative', overflow: 'hidden' }}&gt;&#10;  &lt;Text style={{ position: 'absolute', left: 76, top: 46, fontFamily: 'PingFang SC', fontSize: 13, letterSpacing: 4, color: '#C9A24B' }}&gt;&#10;    03&#10;  &lt;/Text&gt;&#10;  &lt;Text style={{ position: 'absolute', left: 118, top: 42, fontFamily: 'Songti SC', fontSize: 34, letterSpacing: 3, color: '#072F35' }}&gt;&#10;    十座闸，就是十节课&#10;  &lt;/Text&gt;&#10;  &lt;Box style={{ position: 'absolute', left: 76, top: 96, width: 54, height: 1, backgroundColor: 'rgba(201,162,75,0.55)' }} /&gt;&#10;&#10;  &lt;Text style={{ position: 'absolute', left: 76, top: 110, width: 900, fontFamily: 'PingFang SC', fontSize: 15, lineHeight: 1.8, color: '#5C6B6B' }}&gt;&#10;    每座闸都有名字、年份、闸型和一段自己的故事。这是孩子上岗前要认下的东西，也是这套内容最难被复制的地方。&#10;  &lt;/Text&gt;&#10;&#10;  {/* 左：十站竖排，沿一条水脉下行 —— 和产品护照页同一套视觉 */}&#10;  &lt;Box style={{ position: 'absolute', left: 76, top: 172, width: 430, height: 452 }}&gt;&#10;    &lt;Box style={{ position: 'absolute', left: 17, top: 10, width: 2, height: 428, backgroundColor: 'rgba(127,174,196,0.42)' }} /&gt;&#10;    &lt;Box style={{ position: 'absolute', left: 4, top: 10, width: 28, height: 428, backgroundColor: 'rgba(191,217,228,0.16)' }} /&gt;&#10;&#10;    {[&#10;      ['01', '安河闸', '—', '清0 起点 · 1965'],&#10;      ['02', '肖家河闸', '1.6', '彩虹桥 · 河道最曲折'],&#10;      ['03', '树村闸', '1.9', '闸上带楼 · 十闸最美'],&#10;      ['04', '京包闸', '1.7', '四线交汇 · 万泉河口'],&#10;      ['05', '清河闸', '2.4', '小月河口 · 明代广济桥'],&#10;      ['06', '下清河闸', '2.6', '奥森北墙 · 岸坡转自然'],&#10;      ['07', '羊坊闸', '2.9', '土坡之始 · 清洋河口'],&#10;      ['08', '外环跌水闸', '1.4', '十闸唯一拦水坝'],&#10;      ['09', '沈家闸', '4.3', '闸距最远 · 慢行系统'],&#10;      ['10', '沙子营闸', '0.3', '尾闾 · 唯一翻板闸'],&#10;    ].map(([no, nm, km, note], i) =&gt; (&#10;      &lt;Box key={i} style={{ position: 'absolute', left: 0, top: i * 43, width: 430, height: 43, display: 'flex', alignItems: 'center' }}&gt;&#10;        &lt;Box style={{ width: 7, height: 7, borderRadius: 4, backgroundColor: i === 0 ? '#B5432F' : '#F7F4EC', border: i === 0 ? 'none' : '1.4px solid rgba(127,174,196,0.75)', marginLeft: 14, marginRight: 16 }} /&gt;&#10;        &lt;Text style={{ width: 28, fontFamily: 'Helvetica Neue', fontSize: 12, color: '#B3A489' }}&gt;{no}&lt;/Text&gt;&#10;        &lt;Text style={{ width: 108, fontFamily: 'Songti SC', fontSize: 17, letterSpacing: 1, color: '#072F35' }}&gt;{nm}&lt;/Text&gt;&#10;        &lt;Text style={{ width: 46, fontFamily: 'PingFang SC', fontSize: 12, color: '#8A7A52' }}&gt;{km}{km === '—' ? '' : ' km'}&lt;/Text&gt;&#10;        &lt;Text style={{ flex: 1, fontFamily: 'PingFang SC', fontSize: 12, color: '#5C6B6B' }}&gt;{note}&lt;/Text&gt;&#10;      &lt;/Box&gt;&#10;    ))}&#10;  &lt;/Box&gt;&#10;&#10;  {/* 右：真实产品截图（护照页十闸竖排）做 L1 主视觉 */}&#10;  &lt;Box style={{ position: 'absolute', left: 566, top: 168, width: 300, height: 452, overflow: 'hidden' }}&gt;&#10;    &lt;Image src=&quot;assets/passport-card.png&quot; style={{ width: 300, height: 452, objectFit: 'cover', objectPosition: 'top center' }} /&gt;&#10;  &lt;/Box&gt;&#10;  &lt;Text style={{ position: 'absolute', left: 566, top: 628, width: 300, fontFamily: 'PingFang SC', fontSize: 12, lineHeight: 1.7, color: '#8A7A52' }}&gt;&#10;    护照内页：十站沿水脉排列，一眼看出自己在哪一段&#10;  &lt;/Text&gt;&#10;&#10;  {/* 右tips：四类知识域 */}&#10;  &lt;Box style={{ position: 'absolute', left: 906, top: 172, width: 300 }}&gt;&#10;    &lt;Text style={{ fontFamily: 'Songti SC', fontSize: 20, letterSpacing: 1.5, color: '#072F35' }}&gt;四类知识域&lt;/Text&gt;&#10;    &lt;Box style={{ marginTop: 14, width: 46, height: 1, backgroundColor: 'rgba(201,162,75,0.55)' }} /&gt;&#10;    {[&#10;      ['水闸工程', '双孔钢闸、卷扬启闭、翻板坝'],&#10;      ['历史遗产', '广济桥、古城遗址、清河车站'],&#10;      ['三山五园', '颐和园北、圆明园正北的水系'],&#10;      ['生态科普', '挺水植物、指示物种、岸线软化'],&#10;    ].map(([t, d], i) =&gt; (&#10;      &lt;Box key={i} style={{ marginTop: i === 0 ? 18 : 16 }}&gt;&#10;        &lt;Text style={{ fontFamily: 'PingFang SC', fontSize: 15, letterSpacing: 1, color: '#072F35' }}&gt;{t}&lt;/Text&gt;&#10;        &lt;Text style={{ marginTop: 3, fontFamily: 'PingFang SC', fontSize: 12.5, lineHeight: 1.6, color: '#5C6B6B' }}&gt;{d}&lt;/Text&gt;&#10;      &lt;/Box&gt;&#10;    ))}&#10;  &lt;/Box&gt;&#10;&#10;  &lt;Text style={{ position: 'absolute', left: 76, top: 676, fontFamily: 'PingFang SC', fontSize: 12, letterSpacing: 1.5, color: '#8A7A52' }}&gt;&#10;    小小河工 · AI+ 公民河流教育计划&#10;  &lt;/Text&gt;&#10;  &lt;Text style={{ position: 'absolute', left: 1120, top: 676, fontFamily: 'PingFang SC', fontSize: 12, letterSpacing: 1.5, color: '#8A7A52' }}&gt;&#10;    04 / 07&#10;  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</p:spPr>
        <p:txBody>
          <a:bodyPr/>
          <a:p/>
        </p:txBody>
      </p:sp>
      <p:sp>
        <p:nvSpPr>
          <p:cNvPr id="64" name="Text Box 63" descr="{&quot;isTemplate&quot;:true,&quot;type&quot;:&quot;text&quot;}"/>
          <p:cNvSpPr txBox="1"/>
          <p:nvPr/>
        </p:nvSpPr>
        <p:spPr>
          <a:xfrm>
            <a:off x="723900" y="438150"/>
            <a:ext cx="228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300">
                <a:solidFill>
                  <a:srgbClr val="C9A24B"/>
                </a:solidFill>
                <a:latin typeface="PingFang SC" panose="020B0400000000000000" charset="-122"/>
                <a:ea typeface="PingFang SC" panose="020B0400000000000000" charset="-122"/>
              </a:rPr>
              <a:t>03</a:t>
            </a:r>
            <a:endParaRPr lang="en-US" sz="975" spc="300">
              <a:solidFill>
                <a:srgbClr val="C9A2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5" name="Text Box 64" descr="{&quot;isTemplate&quot;:true,&quot;type&quot;:&quot;text&quot;}"/>
          <p:cNvSpPr txBox="1"/>
          <p:nvPr/>
        </p:nvSpPr>
        <p:spPr>
          <a:xfrm>
            <a:off x="1123950" y="400050"/>
            <a:ext cx="317182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spc="225">
                <a:solidFill>
                  <a:srgbClr val="072F35"/>
                </a:solidFill>
                <a:latin typeface="Songti SC" panose="02010800040101010101" charset="-122"/>
                <a:ea typeface="Songti SC" panose="02010800040101010101" charset="-122"/>
              </a:rPr>
              <a:t>十座闸，就是十节课</a:t>
            </a:r>
            <a:endParaRPr lang="zh-CN" sz="2550" spc="225">
              <a:solidFill>
                <a:srgbClr val="072F35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723900" y="914400"/>
            <a:ext cx="514350" cy="9525"/>
          </a:xfrm>
          <a:prstGeom prst="rect">
            <a:avLst/>
          </a:prstGeom>
          <a:solidFill>
            <a:srgbClr val="C9A24B">
              <a:alpha val="55000"/>
            </a:srgbClr>
          </a:solidFill>
        </p:spPr>
        <p:txBody>
          <a:bodyPr/>
          <a:p/>
        </p:txBody>
      </p:sp>
      <p:sp>
        <p:nvSpPr>
          <p:cNvPr id="67" name="Text Box 66" descr="{&quot;isTemplate&quot;:true,&quot;type&quot;:&quot;text&quot;}"/>
          <p:cNvSpPr txBox="1"/>
          <p:nvPr/>
        </p:nvSpPr>
        <p:spPr>
          <a:xfrm>
            <a:off x="723900" y="1047750"/>
            <a:ext cx="85725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每座闸都有名字、年份、闸型和一段自己的故事。这是孩子上岗前要认下的东西，也是这套内容最难被复制的地方。</a:t>
            </a:r>
            <a:endParaRPr lang="zh-CN" sz="1125">
              <a:solidFill>
                <a:srgbClr val="5C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885825" y="1733550"/>
            <a:ext cx="19050" cy="4076700"/>
          </a:xfrm>
          <a:prstGeom prst="rect">
            <a:avLst/>
          </a:prstGeom>
          <a:solidFill>
            <a:srgbClr val="7FAEC4">
              <a:alpha val="42000"/>
            </a:srgbClr>
          </a:solidFill>
        </p:spPr>
        <p:txBody>
          <a:bodyPr/>
          <a:p/>
        </p:txBody>
      </p:sp>
      <p:sp>
        <p:nvSpPr>
          <p:cNvPr id="69" name="Rectangle 68"/>
          <p:cNvSpPr/>
          <p:nvPr/>
        </p:nvSpPr>
        <p:spPr>
          <a:xfrm>
            <a:off x="762000" y="1733550"/>
            <a:ext cx="266700" cy="4076700"/>
          </a:xfrm>
          <a:prstGeom prst="rect">
            <a:avLst/>
          </a:prstGeom>
          <a:solidFill>
            <a:srgbClr val="BFD9E4">
              <a:alpha val="16000"/>
            </a:srgbClr>
          </a:solidFill>
        </p:spPr>
        <p:txBody>
          <a:bodyPr/>
          <a:p/>
        </p:txBody>
      </p:sp>
      <p:sp>
        <p:nvSpPr>
          <p:cNvPr id="70" name="Rounded Rectangle 69"/>
          <p:cNvSpPr/>
          <p:nvPr/>
        </p:nvSpPr>
        <p:spPr>
          <a:xfrm>
            <a:off x="857250" y="1809750"/>
            <a:ext cx="66675" cy="66675"/>
          </a:xfrm>
          <a:prstGeom prst="roundRect">
            <a:avLst>
              <a:gd name="adj" fmla="val 57143"/>
            </a:avLst>
          </a:prstGeom>
          <a:solidFill>
            <a:srgbClr val="B5432F"/>
          </a:solidFill>
        </p:spPr>
        <p:txBody>
          <a:bodyPr/>
          <a:p/>
        </p:txBody>
      </p:sp>
      <p:sp>
        <p:nvSpPr>
          <p:cNvPr id="71" name="Text Box 70" descr="{&quot;isTemplate&quot;:true,&quot;type&quot;:&quot;text&quot;}"/>
          <p:cNvSpPr txBox="1"/>
          <p:nvPr/>
        </p:nvSpPr>
        <p:spPr>
          <a:xfrm>
            <a:off x="1076325" y="1771650"/>
            <a:ext cx="266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B3A489"/>
                </a:solidFill>
                <a:latin typeface="Helvetica Neue" panose="02000503000000020004"/>
                <a:ea typeface="Helvetica Neue" panose="02000503000000020004"/>
              </a:rPr>
              <a:t>01</a:t>
            </a:r>
            <a:endParaRPr lang="en-US" sz="900">
              <a:solidFill>
                <a:srgbClr val="B3A489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72" name="Text Box 71" descr="{&quot;isTemplate&quot;:true,&quot;type&quot;:&quot;text&quot;}"/>
          <p:cNvSpPr txBox="1"/>
          <p:nvPr/>
        </p:nvSpPr>
        <p:spPr>
          <a:xfrm>
            <a:off x="1343025" y="1743075"/>
            <a:ext cx="1028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072F35"/>
                </a:solidFill>
                <a:latin typeface="Songti SC" panose="02010800040101010101" charset="-122"/>
                <a:ea typeface="Songti SC" panose="02010800040101010101" charset="-122"/>
              </a:rPr>
              <a:t>安河闸</a:t>
            </a:r>
            <a:endParaRPr lang="zh-CN" sz="1275" spc="75">
              <a:solidFill>
                <a:srgbClr val="072F35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73" name="Text Box 72" descr="{&quot;isTemplate&quot;:true,&quot;type&quot;:&quot;text&quot;}"/>
          <p:cNvSpPr txBox="1"/>
          <p:nvPr/>
        </p:nvSpPr>
        <p:spPr>
          <a:xfrm>
            <a:off x="2371725" y="1771650"/>
            <a:ext cx="4381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—</a:t>
            </a:r>
            <a:endParaRPr sz="900">
              <a:solidFill>
                <a:srgbClr val="8A7A5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4" name="Text Box 73" descr="{&quot;isTemplate&quot;:true,&quot;type&quot;:&quot;text&quot;}"/>
          <p:cNvSpPr txBox="1"/>
          <p:nvPr/>
        </p:nvSpPr>
        <p:spPr>
          <a:xfrm>
            <a:off x="2809875" y="1771650"/>
            <a:ext cx="20097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清</a:t>
            </a:r>
            <a:r>
              <a:rPr lang="en-US" sz="90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0 </a:t>
            </a:r>
            <a:r>
              <a:rPr lang="zh-CN" sz="90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起点</a:t>
            </a:r>
            <a:r>
              <a:rPr lang="en-US" sz="90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 · 1965</a:t>
            </a:r>
            <a:endParaRPr lang="en-US" sz="900">
              <a:solidFill>
                <a:srgbClr val="5C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857250" y="2219325"/>
            <a:ext cx="66675" cy="66675"/>
          </a:xfrm>
          <a:prstGeom prst="roundRect">
            <a:avLst>
              <a:gd name="adj" fmla="val 57143"/>
            </a:avLst>
          </a:prstGeom>
          <a:solidFill>
            <a:srgbClr val="F7F4EC"/>
          </a:solidFill>
          <a:ln w="17780">
            <a:solidFill>
              <a:srgbClr val="7FAEC4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6" name="Text Box 75" descr="{&quot;isTemplate&quot;:true,&quot;type&quot;:&quot;text&quot;}"/>
          <p:cNvSpPr txBox="1"/>
          <p:nvPr/>
        </p:nvSpPr>
        <p:spPr>
          <a:xfrm>
            <a:off x="1076325" y="2181225"/>
            <a:ext cx="266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B3A489"/>
                </a:solidFill>
                <a:latin typeface="Helvetica Neue" panose="02000503000000020004"/>
                <a:ea typeface="Helvetica Neue" panose="02000503000000020004"/>
              </a:rPr>
              <a:t>02</a:t>
            </a:r>
            <a:endParaRPr lang="en-US" sz="900">
              <a:solidFill>
                <a:srgbClr val="B3A489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77" name="Text Box 76" descr="{&quot;isTemplate&quot;:true,&quot;type&quot;:&quot;text&quot;}"/>
          <p:cNvSpPr txBox="1"/>
          <p:nvPr/>
        </p:nvSpPr>
        <p:spPr>
          <a:xfrm>
            <a:off x="1343025" y="2152650"/>
            <a:ext cx="1028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072F35"/>
                </a:solidFill>
                <a:latin typeface="Songti SC" panose="02010800040101010101" charset="-122"/>
                <a:ea typeface="Songti SC" panose="02010800040101010101" charset="-122"/>
              </a:rPr>
              <a:t>肖家河闸</a:t>
            </a:r>
            <a:endParaRPr lang="zh-CN" sz="1275" spc="75">
              <a:solidFill>
                <a:srgbClr val="072F35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78" name="Text Box 77" descr="{&quot;isTemplate&quot;:true,&quot;type&quot;:&quot;text&quot;}"/>
          <p:cNvSpPr txBox="1"/>
          <p:nvPr/>
        </p:nvSpPr>
        <p:spPr>
          <a:xfrm>
            <a:off x="2371725" y="2181225"/>
            <a:ext cx="4381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1.6</a:t>
            </a:r>
            <a:r>
              <a:rPr lang="en-US" sz="900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 km</a:t>
            </a:r>
            <a:endParaRPr lang="en-US" sz="900">
              <a:solidFill>
                <a:srgbClr val="8A7A5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9" name="Text Box 78" descr="{&quot;isTemplate&quot;:true,&quot;type&quot;:&quot;text&quot;}"/>
          <p:cNvSpPr txBox="1"/>
          <p:nvPr/>
        </p:nvSpPr>
        <p:spPr>
          <a:xfrm>
            <a:off x="2809875" y="2181225"/>
            <a:ext cx="20097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彩虹桥</a:t>
            </a:r>
            <a:r>
              <a:rPr lang="en-US" sz="90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 · </a:t>
            </a:r>
            <a:r>
              <a:rPr lang="zh-CN" sz="90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河道最曲折</a:t>
            </a:r>
            <a:endParaRPr lang="zh-CN" sz="900">
              <a:solidFill>
                <a:srgbClr val="5C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857250" y="2628900"/>
            <a:ext cx="66675" cy="66675"/>
          </a:xfrm>
          <a:prstGeom prst="roundRect">
            <a:avLst>
              <a:gd name="adj" fmla="val 57143"/>
            </a:avLst>
          </a:prstGeom>
          <a:solidFill>
            <a:srgbClr val="F7F4EC"/>
          </a:solidFill>
          <a:ln w="17780">
            <a:solidFill>
              <a:srgbClr val="7FAEC4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1" name="Text Box 80" descr="{&quot;isTemplate&quot;:true,&quot;type&quot;:&quot;text&quot;}"/>
          <p:cNvSpPr txBox="1"/>
          <p:nvPr/>
        </p:nvSpPr>
        <p:spPr>
          <a:xfrm>
            <a:off x="1076325" y="2590800"/>
            <a:ext cx="266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B3A489"/>
                </a:solidFill>
                <a:latin typeface="Helvetica Neue" panose="02000503000000020004"/>
                <a:ea typeface="Helvetica Neue" panose="02000503000000020004"/>
              </a:rPr>
              <a:t>03</a:t>
            </a:r>
            <a:endParaRPr lang="en-US" sz="900">
              <a:solidFill>
                <a:srgbClr val="B3A489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82" name="Text Box 81" descr="{&quot;isTemplate&quot;:true,&quot;type&quot;:&quot;text&quot;}"/>
          <p:cNvSpPr txBox="1"/>
          <p:nvPr/>
        </p:nvSpPr>
        <p:spPr>
          <a:xfrm>
            <a:off x="1343025" y="2562225"/>
            <a:ext cx="1028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072F35"/>
                </a:solidFill>
                <a:latin typeface="Songti SC" panose="02010800040101010101" charset="-122"/>
                <a:ea typeface="Songti SC" panose="02010800040101010101" charset="-122"/>
              </a:rPr>
              <a:t>树村闸</a:t>
            </a:r>
            <a:endParaRPr lang="zh-CN" sz="1275" spc="75">
              <a:solidFill>
                <a:srgbClr val="072F35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83" name="Text Box 82" descr="{&quot;isTemplate&quot;:true,&quot;type&quot;:&quot;text&quot;}"/>
          <p:cNvSpPr txBox="1"/>
          <p:nvPr/>
        </p:nvSpPr>
        <p:spPr>
          <a:xfrm>
            <a:off x="2371725" y="2590800"/>
            <a:ext cx="4381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1.9</a:t>
            </a:r>
            <a:r>
              <a:rPr lang="en-US" sz="900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 km</a:t>
            </a:r>
            <a:endParaRPr lang="en-US" sz="900">
              <a:solidFill>
                <a:srgbClr val="8A7A5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4" name="Text Box 83" descr="{&quot;isTemplate&quot;:true,&quot;type&quot;:&quot;text&quot;}"/>
          <p:cNvSpPr txBox="1"/>
          <p:nvPr/>
        </p:nvSpPr>
        <p:spPr>
          <a:xfrm>
            <a:off x="2809875" y="2590800"/>
            <a:ext cx="20097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闸上带楼</a:t>
            </a:r>
            <a:r>
              <a:rPr lang="en-US" sz="90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 · </a:t>
            </a:r>
            <a:r>
              <a:rPr lang="zh-CN" sz="90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十闸最美</a:t>
            </a:r>
            <a:endParaRPr lang="zh-CN" sz="900">
              <a:solidFill>
                <a:srgbClr val="5C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857250" y="3038475"/>
            <a:ext cx="66675" cy="66675"/>
          </a:xfrm>
          <a:prstGeom prst="roundRect">
            <a:avLst>
              <a:gd name="adj" fmla="val 57143"/>
            </a:avLst>
          </a:prstGeom>
          <a:solidFill>
            <a:srgbClr val="F7F4EC"/>
          </a:solidFill>
          <a:ln w="17780">
            <a:solidFill>
              <a:srgbClr val="7FAEC4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6" name="Text Box 85" descr="{&quot;isTemplate&quot;:true,&quot;type&quot;:&quot;text&quot;}"/>
          <p:cNvSpPr txBox="1"/>
          <p:nvPr/>
        </p:nvSpPr>
        <p:spPr>
          <a:xfrm>
            <a:off x="1076325" y="3000375"/>
            <a:ext cx="266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B3A489"/>
                </a:solidFill>
                <a:latin typeface="Helvetica Neue" panose="02000503000000020004"/>
                <a:ea typeface="Helvetica Neue" panose="02000503000000020004"/>
              </a:rPr>
              <a:t>04</a:t>
            </a:r>
            <a:endParaRPr lang="en-US" sz="900">
              <a:solidFill>
                <a:srgbClr val="B3A489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87" name="Text Box 86" descr="{&quot;isTemplate&quot;:true,&quot;type&quot;:&quot;text&quot;}"/>
          <p:cNvSpPr txBox="1"/>
          <p:nvPr/>
        </p:nvSpPr>
        <p:spPr>
          <a:xfrm>
            <a:off x="1343025" y="2971800"/>
            <a:ext cx="1028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072F35"/>
                </a:solidFill>
                <a:latin typeface="Songti SC" panose="02010800040101010101" charset="-122"/>
                <a:ea typeface="Songti SC" panose="02010800040101010101" charset="-122"/>
              </a:rPr>
              <a:t>京包闸</a:t>
            </a:r>
            <a:endParaRPr lang="zh-CN" sz="1275" spc="75">
              <a:solidFill>
                <a:srgbClr val="072F35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88" name="Text Box 87" descr="{&quot;isTemplate&quot;:true,&quot;type&quot;:&quot;text&quot;}"/>
          <p:cNvSpPr txBox="1"/>
          <p:nvPr/>
        </p:nvSpPr>
        <p:spPr>
          <a:xfrm>
            <a:off x="2371725" y="3000375"/>
            <a:ext cx="4381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1.7</a:t>
            </a:r>
            <a:r>
              <a:rPr lang="en-US" sz="900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 km</a:t>
            </a:r>
            <a:endParaRPr lang="en-US" sz="900">
              <a:solidFill>
                <a:srgbClr val="8A7A5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9" name="Text Box 88" descr="{&quot;isTemplate&quot;:true,&quot;type&quot;:&quot;text&quot;}"/>
          <p:cNvSpPr txBox="1"/>
          <p:nvPr/>
        </p:nvSpPr>
        <p:spPr>
          <a:xfrm>
            <a:off x="2809875" y="3000375"/>
            <a:ext cx="20097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四线交汇</a:t>
            </a:r>
            <a:r>
              <a:rPr lang="en-US" sz="90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 · </a:t>
            </a:r>
            <a:r>
              <a:rPr lang="zh-CN" sz="90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万泉河口</a:t>
            </a:r>
            <a:endParaRPr lang="zh-CN" sz="900">
              <a:solidFill>
                <a:srgbClr val="5C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857250" y="3448050"/>
            <a:ext cx="66675" cy="66675"/>
          </a:xfrm>
          <a:prstGeom prst="roundRect">
            <a:avLst>
              <a:gd name="adj" fmla="val 57143"/>
            </a:avLst>
          </a:prstGeom>
          <a:solidFill>
            <a:srgbClr val="F7F4EC"/>
          </a:solidFill>
          <a:ln w="17780">
            <a:solidFill>
              <a:srgbClr val="7FAEC4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1" name="Text Box 90" descr="{&quot;isTemplate&quot;:true,&quot;type&quot;:&quot;text&quot;}"/>
          <p:cNvSpPr txBox="1"/>
          <p:nvPr/>
        </p:nvSpPr>
        <p:spPr>
          <a:xfrm>
            <a:off x="1076325" y="3409950"/>
            <a:ext cx="266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B3A489"/>
                </a:solidFill>
                <a:latin typeface="Helvetica Neue" panose="02000503000000020004"/>
                <a:ea typeface="Helvetica Neue" panose="02000503000000020004"/>
              </a:rPr>
              <a:t>05</a:t>
            </a:r>
            <a:endParaRPr lang="en-US" sz="900">
              <a:solidFill>
                <a:srgbClr val="B3A489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92" name="Text Box 91" descr="{&quot;isTemplate&quot;:true,&quot;type&quot;:&quot;text&quot;}"/>
          <p:cNvSpPr txBox="1"/>
          <p:nvPr/>
        </p:nvSpPr>
        <p:spPr>
          <a:xfrm>
            <a:off x="1343025" y="3381375"/>
            <a:ext cx="1028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072F35"/>
                </a:solidFill>
                <a:latin typeface="Songti SC" panose="02010800040101010101" charset="-122"/>
                <a:ea typeface="Songti SC" panose="02010800040101010101" charset="-122"/>
              </a:rPr>
              <a:t>清河闸</a:t>
            </a:r>
            <a:endParaRPr lang="zh-CN" sz="1275" spc="75">
              <a:solidFill>
                <a:srgbClr val="072F35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93" name="Text Box 92" descr="{&quot;isTemplate&quot;:true,&quot;type&quot;:&quot;text&quot;}"/>
          <p:cNvSpPr txBox="1"/>
          <p:nvPr/>
        </p:nvSpPr>
        <p:spPr>
          <a:xfrm>
            <a:off x="2371725" y="3409950"/>
            <a:ext cx="4381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2.4</a:t>
            </a:r>
            <a:r>
              <a:rPr lang="en-US" sz="900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 km</a:t>
            </a:r>
            <a:endParaRPr lang="en-US" sz="900">
              <a:solidFill>
                <a:srgbClr val="8A7A5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4" name="Text Box 93" descr="{&quot;isTemplate&quot;:true,&quot;type&quot;:&quot;text&quot;}"/>
          <p:cNvSpPr txBox="1"/>
          <p:nvPr/>
        </p:nvSpPr>
        <p:spPr>
          <a:xfrm>
            <a:off x="2809875" y="3409950"/>
            <a:ext cx="20097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小月河口</a:t>
            </a:r>
            <a:r>
              <a:rPr lang="en-US" sz="90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 · </a:t>
            </a:r>
            <a:r>
              <a:rPr lang="zh-CN" sz="90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明代广济桥</a:t>
            </a:r>
            <a:endParaRPr lang="zh-CN" sz="900">
              <a:solidFill>
                <a:srgbClr val="5C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5" name="Rounded Rectangle 94"/>
          <p:cNvSpPr/>
          <p:nvPr/>
        </p:nvSpPr>
        <p:spPr>
          <a:xfrm>
            <a:off x="857250" y="3857625"/>
            <a:ext cx="66675" cy="66675"/>
          </a:xfrm>
          <a:prstGeom prst="roundRect">
            <a:avLst>
              <a:gd name="adj" fmla="val 57143"/>
            </a:avLst>
          </a:prstGeom>
          <a:solidFill>
            <a:srgbClr val="F7F4EC"/>
          </a:solidFill>
          <a:ln w="17780">
            <a:solidFill>
              <a:srgbClr val="7FAEC4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6" name="Text Box 95" descr="{&quot;isTemplate&quot;:true,&quot;type&quot;:&quot;text&quot;}"/>
          <p:cNvSpPr txBox="1"/>
          <p:nvPr/>
        </p:nvSpPr>
        <p:spPr>
          <a:xfrm>
            <a:off x="1076325" y="3819525"/>
            <a:ext cx="266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B3A489"/>
                </a:solidFill>
                <a:latin typeface="Helvetica Neue" panose="02000503000000020004"/>
                <a:ea typeface="Helvetica Neue" panose="02000503000000020004"/>
              </a:rPr>
              <a:t>06</a:t>
            </a:r>
            <a:endParaRPr lang="en-US" sz="900">
              <a:solidFill>
                <a:srgbClr val="B3A489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97" name="Text Box 96" descr="{&quot;isTemplate&quot;:true,&quot;type&quot;:&quot;text&quot;}"/>
          <p:cNvSpPr txBox="1"/>
          <p:nvPr/>
        </p:nvSpPr>
        <p:spPr>
          <a:xfrm>
            <a:off x="1343025" y="3790950"/>
            <a:ext cx="1028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072F35"/>
                </a:solidFill>
                <a:latin typeface="Songti SC" panose="02010800040101010101" charset="-122"/>
                <a:ea typeface="Songti SC" panose="02010800040101010101" charset="-122"/>
              </a:rPr>
              <a:t>下清河闸</a:t>
            </a:r>
            <a:endParaRPr lang="zh-CN" sz="1275" spc="75">
              <a:solidFill>
                <a:srgbClr val="072F35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98" name="Text Box 97" descr="{&quot;isTemplate&quot;:true,&quot;type&quot;:&quot;text&quot;}"/>
          <p:cNvSpPr txBox="1"/>
          <p:nvPr/>
        </p:nvSpPr>
        <p:spPr>
          <a:xfrm>
            <a:off x="2371725" y="3819525"/>
            <a:ext cx="4381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2.6</a:t>
            </a:r>
            <a:r>
              <a:rPr lang="en-US" sz="900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 km</a:t>
            </a:r>
            <a:endParaRPr lang="en-US" sz="900">
              <a:solidFill>
                <a:srgbClr val="8A7A5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9" name="Text Box 98" descr="{&quot;isTemplate&quot;:true,&quot;type&quot;:&quot;text&quot;}"/>
          <p:cNvSpPr txBox="1"/>
          <p:nvPr/>
        </p:nvSpPr>
        <p:spPr>
          <a:xfrm>
            <a:off x="2809875" y="3819525"/>
            <a:ext cx="20097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奥森北墙</a:t>
            </a:r>
            <a:r>
              <a:rPr lang="en-US" sz="90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 · </a:t>
            </a:r>
            <a:r>
              <a:rPr lang="zh-CN" sz="90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岸坡转自然</a:t>
            </a:r>
            <a:endParaRPr lang="zh-CN" sz="900">
              <a:solidFill>
                <a:srgbClr val="5C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857250" y="4267200"/>
            <a:ext cx="66675" cy="66675"/>
          </a:xfrm>
          <a:prstGeom prst="roundRect">
            <a:avLst>
              <a:gd name="adj" fmla="val 57143"/>
            </a:avLst>
          </a:prstGeom>
          <a:solidFill>
            <a:srgbClr val="F7F4EC"/>
          </a:solidFill>
          <a:ln w="17780">
            <a:solidFill>
              <a:srgbClr val="7FAEC4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1" name="Text Box 100" descr="{&quot;isTemplate&quot;:true,&quot;type&quot;:&quot;text&quot;}"/>
          <p:cNvSpPr txBox="1"/>
          <p:nvPr/>
        </p:nvSpPr>
        <p:spPr>
          <a:xfrm>
            <a:off x="1076325" y="4229100"/>
            <a:ext cx="266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B3A489"/>
                </a:solidFill>
                <a:latin typeface="Helvetica Neue" panose="02000503000000020004"/>
                <a:ea typeface="Helvetica Neue" panose="02000503000000020004"/>
              </a:rPr>
              <a:t>07</a:t>
            </a:r>
            <a:endParaRPr lang="en-US" sz="900">
              <a:solidFill>
                <a:srgbClr val="B3A489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02" name="Text Box 101" descr="{&quot;isTemplate&quot;:true,&quot;type&quot;:&quot;text&quot;}"/>
          <p:cNvSpPr txBox="1"/>
          <p:nvPr/>
        </p:nvSpPr>
        <p:spPr>
          <a:xfrm>
            <a:off x="1343025" y="4200525"/>
            <a:ext cx="1028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072F35"/>
                </a:solidFill>
                <a:latin typeface="Songti SC" panose="02010800040101010101" charset="-122"/>
                <a:ea typeface="Songti SC" panose="02010800040101010101" charset="-122"/>
              </a:rPr>
              <a:t>羊坊闸</a:t>
            </a:r>
            <a:endParaRPr lang="zh-CN" sz="1275" spc="75">
              <a:solidFill>
                <a:srgbClr val="072F35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103" name="Text Box 102" descr="{&quot;isTemplate&quot;:true,&quot;type&quot;:&quot;text&quot;}"/>
          <p:cNvSpPr txBox="1"/>
          <p:nvPr/>
        </p:nvSpPr>
        <p:spPr>
          <a:xfrm>
            <a:off x="2371725" y="4229100"/>
            <a:ext cx="4381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2.9</a:t>
            </a:r>
            <a:r>
              <a:rPr lang="en-US" sz="900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 km</a:t>
            </a:r>
            <a:endParaRPr lang="en-US" sz="900">
              <a:solidFill>
                <a:srgbClr val="8A7A5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4" name="Text Box 103" descr="{&quot;isTemplate&quot;:true,&quot;type&quot;:&quot;text&quot;}"/>
          <p:cNvSpPr txBox="1"/>
          <p:nvPr/>
        </p:nvSpPr>
        <p:spPr>
          <a:xfrm>
            <a:off x="2809875" y="4229100"/>
            <a:ext cx="20097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土坡之始</a:t>
            </a:r>
            <a:r>
              <a:rPr lang="en-US" sz="90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 · </a:t>
            </a:r>
            <a:r>
              <a:rPr lang="zh-CN" sz="90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清洋河口</a:t>
            </a:r>
            <a:endParaRPr lang="zh-CN" sz="900">
              <a:solidFill>
                <a:srgbClr val="5C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857250" y="4676775"/>
            <a:ext cx="66675" cy="66675"/>
          </a:xfrm>
          <a:prstGeom prst="roundRect">
            <a:avLst>
              <a:gd name="adj" fmla="val 57143"/>
            </a:avLst>
          </a:prstGeom>
          <a:solidFill>
            <a:srgbClr val="F7F4EC"/>
          </a:solidFill>
          <a:ln w="17780">
            <a:solidFill>
              <a:srgbClr val="7FAEC4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6" name="Text Box 105" descr="{&quot;isTemplate&quot;:true,&quot;type&quot;:&quot;text&quot;}"/>
          <p:cNvSpPr txBox="1"/>
          <p:nvPr/>
        </p:nvSpPr>
        <p:spPr>
          <a:xfrm>
            <a:off x="1076325" y="4638675"/>
            <a:ext cx="266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B3A489"/>
                </a:solidFill>
                <a:latin typeface="Helvetica Neue" panose="02000503000000020004"/>
                <a:ea typeface="Helvetica Neue" panose="02000503000000020004"/>
              </a:rPr>
              <a:t>08</a:t>
            </a:r>
            <a:endParaRPr lang="en-US" sz="900">
              <a:solidFill>
                <a:srgbClr val="B3A489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07" name="Text Box 106" descr="{&quot;isTemplate&quot;:true,&quot;type&quot;:&quot;text&quot;}"/>
          <p:cNvSpPr txBox="1"/>
          <p:nvPr/>
        </p:nvSpPr>
        <p:spPr>
          <a:xfrm>
            <a:off x="1343025" y="4610100"/>
            <a:ext cx="1028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072F35"/>
                </a:solidFill>
                <a:latin typeface="Songti SC" panose="02010800040101010101" charset="-122"/>
                <a:ea typeface="Songti SC" panose="02010800040101010101" charset="-122"/>
              </a:rPr>
              <a:t>外环跌水闸</a:t>
            </a:r>
            <a:endParaRPr lang="zh-CN" sz="1275" spc="75">
              <a:solidFill>
                <a:srgbClr val="072F35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108" name="Text Box 107" descr="{&quot;isTemplate&quot;:true,&quot;type&quot;:&quot;text&quot;}"/>
          <p:cNvSpPr txBox="1"/>
          <p:nvPr/>
        </p:nvSpPr>
        <p:spPr>
          <a:xfrm>
            <a:off x="2371725" y="4638675"/>
            <a:ext cx="4381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1.4</a:t>
            </a:r>
            <a:r>
              <a:rPr lang="en-US" sz="900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 km</a:t>
            </a:r>
            <a:endParaRPr lang="en-US" sz="900">
              <a:solidFill>
                <a:srgbClr val="8A7A5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9" name="Text Box 108" descr="{&quot;isTemplate&quot;:true,&quot;type&quot;:&quot;text&quot;}"/>
          <p:cNvSpPr txBox="1"/>
          <p:nvPr/>
        </p:nvSpPr>
        <p:spPr>
          <a:xfrm>
            <a:off x="2809875" y="4638675"/>
            <a:ext cx="20097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十闸唯一拦水坝</a:t>
            </a:r>
            <a:endParaRPr lang="zh-CN" sz="900">
              <a:solidFill>
                <a:srgbClr val="5C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0" name="Rounded Rectangle 109"/>
          <p:cNvSpPr/>
          <p:nvPr/>
        </p:nvSpPr>
        <p:spPr>
          <a:xfrm>
            <a:off x="857250" y="5086350"/>
            <a:ext cx="66675" cy="66675"/>
          </a:xfrm>
          <a:prstGeom prst="roundRect">
            <a:avLst>
              <a:gd name="adj" fmla="val 57143"/>
            </a:avLst>
          </a:prstGeom>
          <a:solidFill>
            <a:srgbClr val="F7F4EC"/>
          </a:solidFill>
          <a:ln w="17780">
            <a:solidFill>
              <a:srgbClr val="7FAEC4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1" name="Text Box 110" descr="{&quot;isTemplate&quot;:true,&quot;type&quot;:&quot;text&quot;}"/>
          <p:cNvSpPr txBox="1"/>
          <p:nvPr/>
        </p:nvSpPr>
        <p:spPr>
          <a:xfrm>
            <a:off x="1076325" y="5048250"/>
            <a:ext cx="266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B3A489"/>
                </a:solidFill>
                <a:latin typeface="Helvetica Neue" panose="02000503000000020004"/>
                <a:ea typeface="Helvetica Neue" panose="02000503000000020004"/>
              </a:rPr>
              <a:t>09</a:t>
            </a:r>
            <a:endParaRPr lang="en-US" sz="900">
              <a:solidFill>
                <a:srgbClr val="B3A489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12" name="Text Box 111" descr="{&quot;isTemplate&quot;:true,&quot;type&quot;:&quot;text&quot;}"/>
          <p:cNvSpPr txBox="1"/>
          <p:nvPr/>
        </p:nvSpPr>
        <p:spPr>
          <a:xfrm>
            <a:off x="1343025" y="5019675"/>
            <a:ext cx="1028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072F35"/>
                </a:solidFill>
                <a:latin typeface="Songti SC" panose="02010800040101010101" charset="-122"/>
                <a:ea typeface="Songti SC" panose="02010800040101010101" charset="-122"/>
              </a:rPr>
              <a:t>沈家闸</a:t>
            </a:r>
            <a:endParaRPr lang="zh-CN" sz="1275" spc="75">
              <a:solidFill>
                <a:srgbClr val="072F35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113" name="Text Box 112" descr="{&quot;isTemplate&quot;:true,&quot;type&quot;:&quot;text&quot;}"/>
          <p:cNvSpPr txBox="1"/>
          <p:nvPr/>
        </p:nvSpPr>
        <p:spPr>
          <a:xfrm>
            <a:off x="2371725" y="5048250"/>
            <a:ext cx="4381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4.3</a:t>
            </a:r>
            <a:r>
              <a:rPr lang="en-US" sz="900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 km</a:t>
            </a:r>
            <a:endParaRPr lang="en-US" sz="900">
              <a:solidFill>
                <a:srgbClr val="8A7A5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4" name="Text Box 113" descr="{&quot;isTemplate&quot;:true,&quot;type&quot;:&quot;text&quot;}"/>
          <p:cNvSpPr txBox="1"/>
          <p:nvPr/>
        </p:nvSpPr>
        <p:spPr>
          <a:xfrm>
            <a:off x="2809875" y="5048250"/>
            <a:ext cx="20097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闸距最远</a:t>
            </a:r>
            <a:r>
              <a:rPr lang="en-US" sz="90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 · </a:t>
            </a:r>
            <a:r>
              <a:rPr lang="zh-CN" sz="90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慢行系统</a:t>
            </a:r>
            <a:endParaRPr lang="zh-CN" sz="900">
              <a:solidFill>
                <a:srgbClr val="5C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5" name="Rounded Rectangle 114"/>
          <p:cNvSpPr/>
          <p:nvPr/>
        </p:nvSpPr>
        <p:spPr>
          <a:xfrm>
            <a:off x="857250" y="5495925"/>
            <a:ext cx="66675" cy="66675"/>
          </a:xfrm>
          <a:prstGeom prst="roundRect">
            <a:avLst>
              <a:gd name="adj" fmla="val 57143"/>
            </a:avLst>
          </a:prstGeom>
          <a:solidFill>
            <a:srgbClr val="F7F4EC"/>
          </a:solidFill>
          <a:ln w="17780">
            <a:solidFill>
              <a:srgbClr val="7FAEC4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6" name="Text Box 115" descr="{&quot;isTemplate&quot;:true,&quot;type&quot;:&quot;text&quot;}"/>
          <p:cNvSpPr txBox="1"/>
          <p:nvPr/>
        </p:nvSpPr>
        <p:spPr>
          <a:xfrm>
            <a:off x="1076325" y="5457825"/>
            <a:ext cx="266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B3A489"/>
                </a:solidFill>
                <a:latin typeface="Helvetica Neue" panose="02000503000000020004"/>
                <a:ea typeface="Helvetica Neue" panose="02000503000000020004"/>
              </a:rPr>
              <a:t>10</a:t>
            </a:r>
            <a:endParaRPr lang="en-US" sz="900">
              <a:solidFill>
                <a:srgbClr val="B3A489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17" name="Text Box 116" descr="{&quot;isTemplate&quot;:true,&quot;type&quot;:&quot;text&quot;}"/>
          <p:cNvSpPr txBox="1"/>
          <p:nvPr/>
        </p:nvSpPr>
        <p:spPr>
          <a:xfrm>
            <a:off x="1343025" y="5429250"/>
            <a:ext cx="1028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072F35"/>
                </a:solidFill>
                <a:latin typeface="Songti SC" panose="02010800040101010101" charset="-122"/>
                <a:ea typeface="Songti SC" panose="02010800040101010101" charset="-122"/>
              </a:rPr>
              <a:t>沙子营闸</a:t>
            </a:r>
            <a:endParaRPr lang="zh-CN" sz="1275" spc="75">
              <a:solidFill>
                <a:srgbClr val="072F35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118" name="Text Box 117" descr="{&quot;isTemplate&quot;:true,&quot;type&quot;:&quot;text&quot;}"/>
          <p:cNvSpPr txBox="1"/>
          <p:nvPr/>
        </p:nvSpPr>
        <p:spPr>
          <a:xfrm>
            <a:off x="2371725" y="5457825"/>
            <a:ext cx="4381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0.3</a:t>
            </a:r>
            <a:r>
              <a:rPr lang="en-US" sz="900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 km</a:t>
            </a:r>
            <a:endParaRPr lang="en-US" sz="900">
              <a:solidFill>
                <a:srgbClr val="8A7A5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9" name="Text Box 118" descr="{&quot;isTemplate&quot;:true,&quot;type&quot;:&quot;text&quot;}"/>
          <p:cNvSpPr txBox="1"/>
          <p:nvPr/>
        </p:nvSpPr>
        <p:spPr>
          <a:xfrm>
            <a:off x="2809875" y="5457825"/>
            <a:ext cx="20097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尾闾</a:t>
            </a:r>
            <a:r>
              <a:rPr lang="en-US" sz="90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 · </a:t>
            </a:r>
            <a:r>
              <a:rPr lang="zh-CN" sz="90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唯一翻板闸</a:t>
            </a:r>
            <a:endParaRPr lang="zh-CN" sz="900">
              <a:solidFill>
                <a:srgbClr val="5C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pic>
        <p:nvPicPr>
          <p:cNvPr id="120" name="Picture 119"/>
          <p:cNvPicPr>
            <a:picLocks noChangeAspect="1"/>
          </p:cNvPicPr>
          <p:nvPr/>
        </p:nvPicPr>
        <p:blipFill>
          <a:blip r:embed="rId1"/>
          <a:srcRect l="8" r="8"/>
          <a:stretch>
            <a:fillRect/>
          </a:stretch>
        </p:blipFill>
        <p:spPr>
          <a:xfrm>
            <a:off x="5391150" y="1600200"/>
            <a:ext cx="2857500" cy="4305300"/>
          </a:xfrm>
          <a:prstGeom prst="rect">
            <a:avLst/>
          </a:prstGeom>
        </p:spPr>
      </p:pic>
      <p:sp>
        <p:nvSpPr>
          <p:cNvPr id="121" name="Text Box 120" descr="{&quot;isTemplate&quot;:true,&quot;type&quot;:&quot;text&quot;}"/>
          <p:cNvSpPr txBox="1"/>
          <p:nvPr/>
        </p:nvSpPr>
        <p:spPr>
          <a:xfrm>
            <a:off x="5391150" y="5981700"/>
            <a:ext cx="28575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护照内页：十站沿水脉排列，一眼看出自己在哪一段</a:t>
            </a:r>
            <a:endParaRPr lang="zh-CN" sz="900">
              <a:solidFill>
                <a:srgbClr val="8A7A5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2" name="Text Box 121" descr="{&quot;isTemplate&quot;:true,&quot;type&quot;:&quot;text&quot;}"/>
          <p:cNvSpPr txBox="1"/>
          <p:nvPr/>
        </p:nvSpPr>
        <p:spPr>
          <a:xfrm>
            <a:off x="8629650" y="1638300"/>
            <a:ext cx="2857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113">
                <a:solidFill>
                  <a:srgbClr val="072F35"/>
                </a:solidFill>
                <a:latin typeface="Songti SC" panose="02010800040101010101" charset="-122"/>
                <a:ea typeface="Songti SC" panose="02010800040101010101" charset="-122"/>
              </a:rPr>
              <a:t>四类知识域</a:t>
            </a:r>
            <a:endParaRPr lang="zh-CN" sz="1500" spc="113">
              <a:solidFill>
                <a:srgbClr val="072F35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8629650" y="2000250"/>
            <a:ext cx="438150" cy="9525"/>
          </a:xfrm>
          <a:prstGeom prst="rect">
            <a:avLst/>
          </a:prstGeom>
          <a:solidFill>
            <a:srgbClr val="C9A24B">
              <a:alpha val="55000"/>
            </a:srgbClr>
          </a:solidFill>
        </p:spPr>
        <p:txBody>
          <a:bodyPr/>
          <a:p/>
        </p:txBody>
      </p:sp>
      <p:sp>
        <p:nvSpPr>
          <p:cNvPr id="124" name="Text Box 123" descr="{&quot;isTemplate&quot;:true,&quot;type&quot;:&quot;text&quot;}"/>
          <p:cNvSpPr txBox="1"/>
          <p:nvPr/>
        </p:nvSpPr>
        <p:spPr>
          <a:xfrm>
            <a:off x="8629650" y="2181225"/>
            <a:ext cx="2857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072F35"/>
                </a:solidFill>
                <a:latin typeface="PingFang SC" panose="020B0400000000000000" charset="-122"/>
                <a:ea typeface="PingFang SC" panose="020B0400000000000000" charset="-122"/>
              </a:rPr>
              <a:t>水闸工程</a:t>
            </a:r>
            <a:endParaRPr lang="zh-CN" sz="1125" spc="75">
              <a:solidFill>
                <a:srgbClr val="072F3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5" name="Text Box 124" descr="{&quot;isTemplate&quot;:true,&quot;type&quot;:&quot;text&quot;}"/>
          <p:cNvSpPr txBox="1"/>
          <p:nvPr/>
        </p:nvSpPr>
        <p:spPr>
          <a:xfrm>
            <a:off x="8629650" y="2381250"/>
            <a:ext cx="2857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4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双孔钢闸、卷扬启闭、翻板坝</a:t>
            </a:r>
            <a:endParaRPr lang="zh-CN" sz="940">
              <a:solidFill>
                <a:srgbClr val="5C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6" name="Text Box 125" descr="{&quot;isTemplate&quot;:true,&quot;type&quot;:&quot;text&quot;}"/>
          <p:cNvSpPr txBox="1"/>
          <p:nvPr/>
        </p:nvSpPr>
        <p:spPr>
          <a:xfrm>
            <a:off x="8629650" y="2762250"/>
            <a:ext cx="2857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072F35"/>
                </a:solidFill>
                <a:latin typeface="PingFang SC" panose="020B0400000000000000" charset="-122"/>
                <a:ea typeface="PingFang SC" panose="020B0400000000000000" charset="-122"/>
              </a:rPr>
              <a:t>历史遗产</a:t>
            </a:r>
            <a:endParaRPr lang="zh-CN" sz="1125" spc="75">
              <a:solidFill>
                <a:srgbClr val="072F3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7" name="Text Box 126" descr="{&quot;isTemplate&quot;:true,&quot;type&quot;:&quot;text&quot;}"/>
          <p:cNvSpPr txBox="1"/>
          <p:nvPr/>
        </p:nvSpPr>
        <p:spPr>
          <a:xfrm>
            <a:off x="8629650" y="2962275"/>
            <a:ext cx="2857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4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广济桥、古城遗址、清河车站</a:t>
            </a:r>
            <a:endParaRPr lang="zh-CN" sz="940">
              <a:solidFill>
                <a:srgbClr val="5C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8" name="Text Box 127" descr="{&quot;isTemplate&quot;:true,&quot;type&quot;:&quot;text&quot;}"/>
          <p:cNvSpPr txBox="1"/>
          <p:nvPr/>
        </p:nvSpPr>
        <p:spPr>
          <a:xfrm>
            <a:off x="8629650" y="3343275"/>
            <a:ext cx="2857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072F35"/>
                </a:solidFill>
                <a:latin typeface="PingFang SC" panose="020B0400000000000000" charset="-122"/>
                <a:ea typeface="PingFang SC" panose="020B0400000000000000" charset="-122"/>
              </a:rPr>
              <a:t>三山五园</a:t>
            </a:r>
            <a:endParaRPr lang="zh-CN" sz="1125" spc="75">
              <a:solidFill>
                <a:srgbClr val="072F3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9" name="Text Box 128" descr="{&quot;isTemplate&quot;:true,&quot;type&quot;:&quot;text&quot;}"/>
          <p:cNvSpPr txBox="1"/>
          <p:nvPr/>
        </p:nvSpPr>
        <p:spPr>
          <a:xfrm>
            <a:off x="8629650" y="3543300"/>
            <a:ext cx="2857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4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颐和园北、圆明园正北的水系</a:t>
            </a:r>
            <a:endParaRPr lang="zh-CN" sz="940">
              <a:solidFill>
                <a:srgbClr val="5C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0" name="Text Box 129" descr="{&quot;isTemplate&quot;:true,&quot;type&quot;:&quot;text&quot;}"/>
          <p:cNvSpPr txBox="1"/>
          <p:nvPr/>
        </p:nvSpPr>
        <p:spPr>
          <a:xfrm>
            <a:off x="8629650" y="3924300"/>
            <a:ext cx="2857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072F35"/>
                </a:solidFill>
                <a:latin typeface="PingFang SC" panose="020B0400000000000000" charset="-122"/>
                <a:ea typeface="PingFang SC" panose="020B0400000000000000" charset="-122"/>
              </a:rPr>
              <a:t>生态科普</a:t>
            </a:r>
            <a:endParaRPr lang="zh-CN" sz="1125" spc="75">
              <a:solidFill>
                <a:srgbClr val="072F3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1" name="Text Box 130" descr="{&quot;isTemplate&quot;:true,&quot;type&quot;:&quot;text&quot;}"/>
          <p:cNvSpPr txBox="1"/>
          <p:nvPr/>
        </p:nvSpPr>
        <p:spPr>
          <a:xfrm>
            <a:off x="8629650" y="4124325"/>
            <a:ext cx="2857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4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挺水植物、指示物种、岸线软化</a:t>
            </a:r>
            <a:endParaRPr lang="zh-CN" sz="940">
              <a:solidFill>
                <a:srgbClr val="5C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2" name="Text Box 131" descr="{&quot;isTemplate&quot;:true,&quot;type&quot;:&quot;text&quot;}"/>
          <p:cNvSpPr txBox="1"/>
          <p:nvPr/>
        </p:nvSpPr>
        <p:spPr>
          <a:xfrm>
            <a:off x="723900" y="6438900"/>
            <a:ext cx="19907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13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小小河工</a:t>
            </a:r>
            <a:r>
              <a:rPr lang="en-US" sz="900" spc="113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 · AI+ </a:t>
            </a:r>
            <a:r>
              <a:rPr lang="zh-CN" sz="900" spc="113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公民河流教育计划</a:t>
            </a:r>
            <a:endParaRPr lang="zh-CN" sz="900" spc="113">
              <a:solidFill>
                <a:srgbClr val="8A7A5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3" name="Text Box 132" descr="{&quot;isTemplate&quot;:true,&quot;type&quot;:&quot;text&quot;}"/>
          <p:cNvSpPr txBox="1"/>
          <p:nvPr/>
        </p:nvSpPr>
        <p:spPr>
          <a:xfrm>
            <a:off x="10668000" y="6438900"/>
            <a:ext cx="504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13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03 / 06</a:t>
            </a:r>
            <a:endParaRPr lang="en-US" sz="900" spc="113">
              <a:solidFill>
                <a:srgbClr val="8A7A5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2F35"/>
          </a:solidFill>
        </p:spPr>
        <p:txBody>
          <a:bodyPr/>
          <a:p/>
        </p:txBody>
      </p:sp>
      <p:sp>
        <p:nvSpPr>
          <p:cNvPr id="136" name="Text Box 135" descr="{&quot;isTemplate&quot;:true,&quot;type&quot;:&quot;text&quot;}"/>
          <p:cNvSpPr txBox="1"/>
          <p:nvPr/>
        </p:nvSpPr>
        <p:spPr>
          <a:xfrm>
            <a:off x="723900" y="400050"/>
            <a:ext cx="228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300">
                <a:solidFill>
                  <a:srgbClr val="C9A24B"/>
                </a:solidFill>
                <a:latin typeface="PingFang SC" panose="020B0400000000000000" charset="-122"/>
                <a:ea typeface="PingFang SC" panose="020B0400000000000000" charset="-122"/>
              </a:rPr>
              <a:t>04</a:t>
            </a:r>
            <a:endParaRPr lang="en-US" sz="975" spc="300">
              <a:solidFill>
                <a:srgbClr val="C9A2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7" name="Text Box 136" descr="{&quot;isTemplate&quot;:true,&quot;type&quot;:&quot;text&quot;}"/>
          <p:cNvSpPr txBox="1"/>
          <p:nvPr/>
        </p:nvSpPr>
        <p:spPr>
          <a:xfrm>
            <a:off x="1123950" y="361950"/>
            <a:ext cx="42291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spc="225">
                <a:solidFill>
                  <a:srgbClr val="F7F4EC"/>
                </a:solidFill>
                <a:latin typeface="Songti SC" panose="02010800040101010101" charset="-122"/>
                <a:ea typeface="Songti SC" panose="02010800040101010101" charset="-122"/>
              </a:rPr>
              <a:t>一个孩子走一趟，是这样的</a:t>
            </a:r>
            <a:endParaRPr lang="zh-CN" sz="2550" spc="225">
              <a:solidFill>
                <a:srgbClr val="F7F4EC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723900" y="876300"/>
            <a:ext cx="514350" cy="9525"/>
          </a:xfrm>
          <a:prstGeom prst="rect">
            <a:avLst/>
          </a:prstGeom>
          <a:solidFill>
            <a:srgbClr val="C9A24B">
              <a:alpha val="55000"/>
            </a:srgbClr>
          </a:solidFill>
        </p:spPr>
        <p:txBody>
          <a:bodyPr/>
          <a:p/>
        </p:txBody>
      </p:sp>
      <p:sp>
        <p:nvSpPr>
          <p:cNvPr id="139" name="Text Box 138" descr="{&quot;isTemplate&quot;:true,&quot;type&quot;:&quot;text&quot;}"/>
          <p:cNvSpPr txBox="1"/>
          <p:nvPr/>
        </p:nvSpPr>
        <p:spPr>
          <a:xfrm>
            <a:off x="723900" y="1009650"/>
            <a:ext cx="74295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不是「一个</a:t>
            </a:r>
            <a:r>
              <a:rPr lang="en-US" sz="1125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 App </a:t>
            </a:r>
            <a:r>
              <a:rPr lang="zh-CN" sz="1125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三种用法」，而是一段有顺序的路：先看见河，再领护照，然后自己选去哪。下面四张都是真机界面。</a:t>
            </a:r>
            <a:endParaRPr lang="zh-CN" sz="1125">
              <a:solidFill>
                <a:srgbClr val="8FB0AE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0" name="Rectangle 139"/>
          <p:cNvSpPr/>
          <p:nvPr>
            <p:custDataLst>
              <p:tags r:id="rId1"/>
            </p:custDataLst>
          </p:nvPr>
        </p:nvSpPr>
        <p:spPr>
          <a:xfrm>
            <a:off x="723900" y="1695450"/>
            <a:ext cx="2495550" cy="2971800"/>
          </a:xfrm>
          <a:prstGeom prst="rect">
            <a:avLst/>
          </a:prstGeom>
          <a:solidFill>
            <a:srgbClr val="0B474E"/>
          </a:solidFill>
          <a:ln w="12700">
            <a:solidFill>
              <a:srgbClr val="C9A24B">
                <a:alpha val="6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41" name="Picture 14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3088" b="3088"/>
          <a:stretch>
            <a:fillRect/>
          </a:stretch>
        </p:blipFill>
        <p:spPr>
          <a:xfrm>
            <a:off x="723900" y="1695450"/>
            <a:ext cx="2495550" cy="2971800"/>
          </a:xfrm>
          <a:prstGeom prst="rect">
            <a:avLst/>
          </a:prstGeom>
        </p:spPr>
      </p:pic>
      <p:sp>
        <p:nvSpPr>
          <p:cNvPr id="142" name="Text Box 141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723900" y="4800600"/>
            <a:ext cx="1333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C9A24B"/>
                </a:solidFill>
                <a:latin typeface="Helvetica Neue" panose="02000503000000020004"/>
                <a:ea typeface="Helvetica Neue" panose="02000503000000020004"/>
              </a:rPr>
              <a:t>01</a:t>
            </a:r>
            <a:endParaRPr lang="en-US" sz="900">
              <a:solidFill>
                <a:srgbClr val="C9A24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43" name="Text Box 142" descr="{&quot;isTemplate&quot;:true,&quot;type&quot;:&quot;text&quot;}"/>
          <p:cNvSpPr txBox="1"/>
          <p:nvPr>
            <p:custDataLst>
              <p:tags r:id="rId5"/>
            </p:custDataLst>
          </p:nvPr>
        </p:nvSpPr>
        <p:spPr>
          <a:xfrm>
            <a:off x="942975" y="4800600"/>
            <a:ext cx="98107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spc="113">
                <a:solidFill>
                  <a:srgbClr val="F7F4EC"/>
                </a:solidFill>
                <a:latin typeface="Songti SC" panose="02010800040101010101" charset="-122"/>
                <a:ea typeface="Songti SC" panose="02010800040101010101" charset="-122"/>
              </a:rPr>
              <a:t>看见一条河</a:t>
            </a:r>
            <a:endParaRPr lang="zh-CN" sz="1425" spc="113">
              <a:solidFill>
                <a:srgbClr val="F7F4EC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144" name="Text Box 143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723900" y="5076825"/>
            <a:ext cx="249555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封面之后先进「认河」：水墨长卷铺开，小天鹅从安河闸游到温榆河口，十座闸依次亮起。</a:t>
            </a:r>
            <a:endParaRPr lang="zh-CN" sz="900">
              <a:solidFill>
                <a:srgbClr val="8FB0AE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5" name="Rectangle 144"/>
          <p:cNvSpPr/>
          <p:nvPr>
            <p:custDataLst>
              <p:tags r:id="rId7"/>
            </p:custDataLst>
          </p:nvPr>
        </p:nvSpPr>
        <p:spPr>
          <a:xfrm>
            <a:off x="3476625" y="1695450"/>
            <a:ext cx="2495550" cy="2971800"/>
          </a:xfrm>
          <a:prstGeom prst="rect">
            <a:avLst/>
          </a:prstGeom>
          <a:solidFill>
            <a:srgbClr val="0B474E"/>
          </a:solidFill>
          <a:ln w="12700">
            <a:solidFill>
              <a:srgbClr val="C9A24B">
                <a:alpha val="1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46" name="Picture 14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t="22486" b="22486"/>
          <a:stretch>
            <a:fillRect/>
          </a:stretch>
        </p:blipFill>
        <p:spPr>
          <a:xfrm>
            <a:off x="3476625" y="1695450"/>
            <a:ext cx="2495550" cy="2971800"/>
          </a:xfrm>
          <a:prstGeom prst="rect">
            <a:avLst/>
          </a:prstGeom>
        </p:spPr>
      </p:pic>
      <p:sp>
        <p:nvSpPr>
          <p:cNvPr id="147" name="Text Box 146" descr="{&quot;isTemplate&quot;:true,&quot;type&quot;:&quot;text&quot;}"/>
          <p:cNvSpPr txBox="1"/>
          <p:nvPr>
            <p:custDataLst>
              <p:tags r:id="rId10"/>
            </p:custDataLst>
          </p:nvPr>
        </p:nvSpPr>
        <p:spPr>
          <a:xfrm>
            <a:off x="3476625" y="4800600"/>
            <a:ext cx="1333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C9A24B"/>
                </a:solidFill>
                <a:latin typeface="Helvetica Neue" panose="02000503000000020004"/>
                <a:ea typeface="Helvetica Neue" panose="02000503000000020004"/>
              </a:rPr>
              <a:t>02</a:t>
            </a:r>
            <a:endParaRPr lang="en-US" sz="900">
              <a:solidFill>
                <a:srgbClr val="C9A24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48" name="Text Box 147" descr="{&quot;isTemplate&quot;:true,&quot;type&quot;:&quot;text&quot;}"/>
          <p:cNvSpPr txBox="1"/>
          <p:nvPr>
            <p:custDataLst>
              <p:tags r:id="rId11"/>
            </p:custDataLst>
          </p:nvPr>
        </p:nvSpPr>
        <p:spPr>
          <a:xfrm>
            <a:off x="3695700" y="4800600"/>
            <a:ext cx="98107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spc="113">
                <a:solidFill>
                  <a:srgbClr val="F7F4EC"/>
                </a:solidFill>
                <a:latin typeface="Songti SC" panose="02010800040101010101" charset="-122"/>
                <a:ea typeface="Songti SC" panose="02010800040101010101" charset="-122"/>
              </a:rPr>
              <a:t>领一本护照</a:t>
            </a:r>
            <a:endParaRPr lang="zh-CN" sz="1425" spc="113">
              <a:solidFill>
                <a:srgbClr val="F7F4EC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149" name="Text Box 148" descr="{&quot;isTemplate&quot;:true,&quot;type&quot;:&quot;text&quot;}"/>
          <p:cNvSpPr txBox="1"/>
          <p:nvPr>
            <p:custDataLst>
              <p:tags r:id="rId12"/>
            </p:custDataLst>
          </p:nvPr>
        </p:nvSpPr>
        <p:spPr>
          <a:xfrm>
            <a:off x="3476625" y="5076825"/>
            <a:ext cx="249555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姓名、编号、站点落在纸面上。护照里就是刚才那条河，十站竖排。</a:t>
            </a:r>
            <a:endParaRPr lang="zh-CN" sz="900">
              <a:solidFill>
                <a:srgbClr val="8FB0AE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0" name="Rectangle 149"/>
          <p:cNvSpPr/>
          <p:nvPr>
            <p:custDataLst>
              <p:tags r:id="rId13"/>
            </p:custDataLst>
          </p:nvPr>
        </p:nvSpPr>
        <p:spPr>
          <a:xfrm>
            <a:off x="6229350" y="1695450"/>
            <a:ext cx="2495550" cy="2971800"/>
          </a:xfrm>
          <a:prstGeom prst="rect">
            <a:avLst/>
          </a:prstGeom>
          <a:solidFill>
            <a:srgbClr val="0B474E"/>
          </a:solidFill>
          <a:ln w="12700">
            <a:solidFill>
              <a:srgbClr val="C9A24B">
                <a:alpha val="1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51" name="Picture 150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rcRect t="22486" b="22486"/>
          <a:stretch>
            <a:fillRect/>
          </a:stretch>
        </p:blipFill>
        <p:spPr>
          <a:xfrm>
            <a:off x="6229350" y="1695450"/>
            <a:ext cx="2495550" cy="2971800"/>
          </a:xfrm>
          <a:prstGeom prst="rect">
            <a:avLst/>
          </a:prstGeom>
        </p:spPr>
      </p:pic>
      <p:sp>
        <p:nvSpPr>
          <p:cNvPr id="152" name="Text Box 151" descr="{&quot;isTemplate&quot;:true,&quot;type&quot;:&quot;text&quot;}"/>
          <p:cNvSpPr txBox="1"/>
          <p:nvPr>
            <p:custDataLst>
              <p:tags r:id="rId16"/>
            </p:custDataLst>
          </p:nvPr>
        </p:nvSpPr>
        <p:spPr>
          <a:xfrm>
            <a:off x="6229350" y="4800600"/>
            <a:ext cx="1333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C9A24B"/>
                </a:solidFill>
                <a:latin typeface="Helvetica Neue" panose="02000503000000020004"/>
                <a:ea typeface="Helvetica Neue" panose="02000503000000020004"/>
              </a:rPr>
              <a:t>03</a:t>
            </a:r>
            <a:endParaRPr lang="en-US" sz="900">
              <a:solidFill>
                <a:srgbClr val="C9A24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53" name="Text Box 152" descr="{&quot;isTemplate&quot;:true,&quot;type&quot;:&quot;text&quot;}"/>
          <p:cNvSpPr txBox="1"/>
          <p:nvPr>
            <p:custDataLst>
              <p:tags r:id="rId17"/>
            </p:custDataLst>
          </p:nvPr>
        </p:nvSpPr>
        <p:spPr>
          <a:xfrm>
            <a:off x="6448425" y="4800600"/>
            <a:ext cx="98107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spc="113">
                <a:solidFill>
                  <a:srgbClr val="F7F4EC"/>
                </a:solidFill>
                <a:latin typeface="Songti SC" panose="02010800040101010101" charset="-122"/>
                <a:ea typeface="Songti SC" panose="02010800040101010101" charset="-122"/>
              </a:rPr>
              <a:t>自己选去哪</a:t>
            </a:r>
            <a:endParaRPr lang="zh-CN" sz="1425" spc="113">
              <a:solidFill>
                <a:srgbClr val="F7F4EC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154" name="Text Box 153" descr="{&quot;isTemplate&quot;:true,&quot;type&quot;:&quot;text&quot;}"/>
          <p:cNvSpPr txBox="1"/>
          <p:nvPr>
            <p:custDataLst>
              <p:tags r:id="rId18"/>
            </p:custDataLst>
          </p:nvPr>
        </p:nvSpPr>
        <p:spPr>
          <a:xfrm>
            <a:off x="6229350" y="5076825"/>
            <a:ext cx="249555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两条路并列：上岗培训（听老周讲河、答六道题），或拓印体验（现在就印一张）。</a:t>
            </a:r>
            <a:endParaRPr lang="zh-CN" sz="900">
              <a:solidFill>
                <a:srgbClr val="8FB0AE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5" name="Rectangle 154"/>
          <p:cNvSpPr/>
          <p:nvPr>
            <p:custDataLst>
              <p:tags r:id="rId19"/>
            </p:custDataLst>
          </p:nvPr>
        </p:nvSpPr>
        <p:spPr>
          <a:xfrm>
            <a:off x="8982075" y="1695450"/>
            <a:ext cx="2495550" cy="2971800"/>
          </a:xfrm>
          <a:prstGeom prst="rect">
            <a:avLst/>
          </a:prstGeom>
          <a:solidFill>
            <a:srgbClr val="0B474E"/>
          </a:solidFill>
          <a:ln w="12700">
            <a:solidFill>
              <a:srgbClr val="C9A24B">
                <a:alpha val="1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56" name="Picture 155" descr="/Users/carachen/Desktop/11.jpg11"/>
          <p:cNvPicPr/>
          <p:nvPr>
            <p:custDataLst>
              <p:tags r:id="rId20"/>
            </p:custDataLst>
          </p:nvPr>
        </p:nvPicPr>
        <p:blipFill>
          <a:blip r:embed="rId21"/>
          <a:srcRect t="12621" b="12621"/>
          <a:stretch>
            <a:fillRect/>
          </a:stretch>
        </p:blipFill>
        <p:spPr>
          <a:xfrm>
            <a:off x="8982075" y="1695450"/>
            <a:ext cx="2495550" cy="2971800"/>
          </a:xfrm>
          <a:prstGeom prst="rect">
            <a:avLst/>
          </a:prstGeom>
        </p:spPr>
      </p:pic>
      <p:sp>
        <p:nvSpPr>
          <p:cNvPr id="157" name="Text Box 156" descr="{&quot;isTemplate&quot;:true,&quot;type&quot;:&quot;text&quot;}"/>
          <p:cNvSpPr txBox="1"/>
          <p:nvPr>
            <p:custDataLst>
              <p:tags r:id="rId22"/>
            </p:custDataLst>
          </p:nvPr>
        </p:nvSpPr>
        <p:spPr>
          <a:xfrm>
            <a:off x="8982075" y="4800600"/>
            <a:ext cx="1333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C9A24B"/>
                </a:solidFill>
                <a:latin typeface="Helvetica Neue" panose="02000503000000020004"/>
                <a:ea typeface="Helvetica Neue" panose="02000503000000020004"/>
              </a:rPr>
              <a:t>04</a:t>
            </a:r>
            <a:endParaRPr lang="en-US" sz="900">
              <a:solidFill>
                <a:srgbClr val="C9A24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58" name="Text Box 157" descr="{&quot;isTemplate&quot;:true,&quot;type&quot;:&quot;text&quot;}"/>
          <p:cNvSpPr txBox="1"/>
          <p:nvPr>
            <p:custDataLst>
              <p:tags r:id="rId23"/>
            </p:custDataLst>
          </p:nvPr>
        </p:nvSpPr>
        <p:spPr>
          <a:xfrm>
            <a:off x="9201150" y="4800600"/>
            <a:ext cx="98107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spc="113">
                <a:solidFill>
                  <a:srgbClr val="F7F4EC"/>
                </a:solidFill>
                <a:latin typeface="Songti SC" panose="02010800040101010101" charset="-122"/>
                <a:ea typeface="Songti SC" panose="02010800040101010101" charset="-122"/>
              </a:rPr>
              <a:t>去做一件事</a:t>
            </a:r>
            <a:endParaRPr lang="zh-CN" sz="1425" spc="113">
              <a:solidFill>
                <a:srgbClr val="F7F4EC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159" name="Text Box 158" descr="{&quot;isTemplate&quot;:true,&quot;type&quot;:&quot;text&quot;}"/>
          <p:cNvSpPr txBox="1"/>
          <p:nvPr>
            <p:custDataLst>
              <p:tags r:id="rId24"/>
            </p:custDataLst>
          </p:nvPr>
        </p:nvSpPr>
        <p:spPr>
          <a:xfrm>
            <a:off x="8982075" y="5076825"/>
            <a:ext cx="249555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现场记录、四宫格寻宝、或者拍一张印成拓印卡。都进同一本护照。</a:t>
            </a:r>
            <a:endParaRPr lang="zh-CN" sz="900">
              <a:solidFill>
                <a:srgbClr val="8FB0AE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0" name="Freeform 159"/>
          <p:cNvSpPr/>
          <p:nvPr/>
        </p:nvSpPr>
        <p:spPr>
          <a:xfrm>
            <a:off x="723900" y="5715000"/>
            <a:ext cx="4762500" cy="295275"/>
          </a:xfrm>
          <a:custGeom>
            <a:avLst/>
            <a:gdLst/>
            <a:ahLst/>
            <a:cxnLst/>
            <a:pathLst>
              <a:path w="500" h="31">
                <a:moveTo>
                  <a:pt x="0" y="0"/>
                </a:moveTo>
                <a:lnTo>
                  <a:pt x="2" y="0"/>
                </a:lnTo>
                <a:lnTo>
                  <a:pt x="2" y="31"/>
                </a:lnTo>
                <a:lnTo>
                  <a:pt x="0" y="31"/>
                </a:lnTo>
                <a:close/>
              </a:path>
            </a:pathLst>
          </a:custGeom>
          <a:solidFill>
            <a:srgbClr val="C9A24B"/>
          </a:solidFill>
        </p:spPr>
        <p:txBody>
          <a:bodyPr/>
          <a:p/>
        </p:txBody>
      </p:sp>
      <p:sp>
        <p:nvSpPr>
          <p:cNvPr id="161" name="Text Box 160" descr="{&quot;isTemplate&quot;:true,&quot;type&quot;:&quot;text&quot;}"/>
          <p:cNvSpPr txBox="1"/>
          <p:nvPr/>
        </p:nvSpPr>
        <p:spPr>
          <a:xfrm>
            <a:off x="876300" y="5715000"/>
            <a:ext cx="46101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F7F4EC"/>
                </a:solidFill>
                <a:latin typeface="Songti SC" panose="02010800040101010101" charset="-122"/>
                <a:ea typeface="Songti SC" panose="02010800040101010101" charset="-122"/>
              </a:rPr>
              <a:t>护照不是奖励，是通行证——它证明你来过这条河。</a:t>
            </a:r>
            <a:endParaRPr lang="zh-CN" sz="1200">
              <a:solidFill>
                <a:srgbClr val="F7F4EC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162" name="Text Box 161" descr="{&quot;isTemplate&quot;:true,&quot;type&quot;:&quot;text&quot;}"/>
          <p:cNvSpPr txBox="1"/>
          <p:nvPr/>
        </p:nvSpPr>
        <p:spPr>
          <a:xfrm>
            <a:off x="6096000" y="5734050"/>
            <a:ext cx="5372100" cy="22860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70000"/>
              </a:lnSpc>
            </a:pPr>
            <a:r>
              <a:rPr lang="zh-CN" sz="865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上岗培训　</a:t>
            </a:r>
            <a:r>
              <a:rPr lang="en-US" sz="865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6 </a:t>
            </a:r>
            <a:r>
              <a:rPr lang="zh-CN" sz="865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题答对</a:t>
            </a:r>
            <a:r>
              <a:rPr lang="en-US" sz="865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 4 </a:t>
            </a:r>
            <a:r>
              <a:rPr lang="zh-CN" sz="865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题即过，卡住可点「给点提示」　·　拓印体验　每张</a:t>
            </a:r>
            <a:r>
              <a:rPr lang="en-US" sz="865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 50 </a:t>
            </a:r>
            <a:r>
              <a:rPr lang="zh-CN" sz="865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积分，生成成功才扣</a:t>
            </a:r>
            <a:endParaRPr lang="zh-CN" sz="865">
              <a:solidFill>
                <a:srgbClr val="8FB0AE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3" name="Text Box 162" descr="{&quot;isTemplate&quot;:true,&quot;type&quot;:&quot;text&quot;}"/>
          <p:cNvSpPr txBox="1"/>
          <p:nvPr/>
        </p:nvSpPr>
        <p:spPr>
          <a:xfrm>
            <a:off x="723900" y="6591300"/>
            <a:ext cx="19907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13">
                <a:solidFill>
                  <a:srgbClr val="4E7476"/>
                </a:solidFill>
                <a:latin typeface="PingFang SC" panose="020B0400000000000000" charset="-122"/>
                <a:ea typeface="PingFang SC" panose="020B0400000000000000" charset="-122"/>
              </a:rPr>
              <a:t>小小河工</a:t>
            </a:r>
            <a:r>
              <a:rPr lang="en-US" sz="900" spc="113">
                <a:solidFill>
                  <a:srgbClr val="4E7476"/>
                </a:solidFill>
                <a:latin typeface="PingFang SC" panose="020B0400000000000000" charset="-122"/>
                <a:ea typeface="PingFang SC" panose="020B0400000000000000" charset="-122"/>
              </a:rPr>
              <a:t> · AI+ </a:t>
            </a:r>
            <a:r>
              <a:rPr lang="zh-CN" sz="900" spc="113">
                <a:solidFill>
                  <a:srgbClr val="4E7476"/>
                </a:solidFill>
                <a:latin typeface="PingFang SC" panose="020B0400000000000000" charset="-122"/>
                <a:ea typeface="PingFang SC" panose="020B0400000000000000" charset="-122"/>
              </a:rPr>
              <a:t>公民河流教育计划</a:t>
            </a:r>
            <a:endParaRPr lang="zh-CN" sz="900" spc="113">
              <a:solidFill>
                <a:srgbClr val="4E747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4" name="Text Box 163" descr="{&quot;isTemplate&quot;:true,&quot;type&quot;:&quot;text&quot;}"/>
          <p:cNvSpPr txBox="1"/>
          <p:nvPr/>
        </p:nvSpPr>
        <p:spPr>
          <a:xfrm>
            <a:off x="10668000" y="6591300"/>
            <a:ext cx="504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13">
                <a:solidFill>
                  <a:srgbClr val="4E7476"/>
                </a:solidFill>
                <a:latin typeface="PingFang SC" panose="020B0400000000000000" charset="-122"/>
                <a:ea typeface="PingFang SC" panose="020B0400000000000000" charset="-122"/>
              </a:rPr>
              <a:t>04 / 06</a:t>
            </a:r>
            <a:endParaRPr lang="en-US" sz="900" spc="113">
              <a:solidFill>
                <a:srgbClr val="4E747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pic>
        <p:nvPicPr>
          <p:cNvPr id="1" name="Picture 0" descr="6477cf16baf18232904e7588b433bd45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982075" y="1695450"/>
            <a:ext cx="250317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</p:spPr>
        <p:txBody>
          <a:bodyPr/>
          <a:p/>
        </p:txBody>
      </p:sp>
      <p:sp>
        <p:nvSpPr>
          <p:cNvPr id="167" name="Text Box 166" descr="{&quot;isTemplate&quot;:true,&quot;type&quot;:&quot;text&quot;}"/>
          <p:cNvSpPr txBox="1"/>
          <p:nvPr/>
        </p:nvSpPr>
        <p:spPr>
          <a:xfrm>
            <a:off x="723900" y="438150"/>
            <a:ext cx="228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300">
                <a:solidFill>
                  <a:srgbClr val="C9A24B"/>
                </a:solidFill>
                <a:latin typeface="PingFang SC" panose="020B0400000000000000" charset="-122"/>
                <a:ea typeface="PingFang SC" panose="020B0400000000000000" charset="-122"/>
              </a:rPr>
              <a:t>05</a:t>
            </a:r>
            <a:endParaRPr lang="en-US" sz="975" spc="300">
              <a:solidFill>
                <a:srgbClr val="C9A2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8" name="Text Box 167" descr="{&quot;isTemplate&quot;:true,&quot;type&quot;:&quot;text&quot;}"/>
          <p:cNvSpPr txBox="1"/>
          <p:nvPr/>
        </p:nvSpPr>
        <p:spPr>
          <a:xfrm>
            <a:off x="1123950" y="400050"/>
            <a:ext cx="317182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spc="225">
                <a:solidFill>
                  <a:srgbClr val="072F35"/>
                </a:solidFill>
                <a:latin typeface="Songti SC" panose="02010800040101010101" charset="-122"/>
                <a:ea typeface="Songti SC" panose="02010800040101010101" charset="-122"/>
              </a:rPr>
              <a:t>一条记录，长什么样</a:t>
            </a:r>
            <a:endParaRPr lang="zh-CN" sz="2550" spc="225">
              <a:solidFill>
                <a:srgbClr val="072F35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723900" y="914400"/>
            <a:ext cx="514350" cy="9525"/>
          </a:xfrm>
          <a:prstGeom prst="rect">
            <a:avLst/>
          </a:prstGeom>
          <a:solidFill>
            <a:srgbClr val="C9A24B">
              <a:alpha val="55000"/>
            </a:srgbClr>
          </a:solidFill>
        </p:spPr>
        <p:txBody>
          <a:bodyPr/>
          <a:p/>
        </p:txBody>
      </p:sp>
      <p:sp>
        <p:nvSpPr>
          <p:cNvPr id="170" name="Text Box 169" descr="{&quot;isTemplate&quot;:true,&quot;type&quot;:&quot;text&quot;}"/>
          <p:cNvSpPr txBox="1"/>
          <p:nvPr/>
        </p:nvSpPr>
        <p:spPr>
          <a:xfrm>
            <a:off x="723900" y="1028700"/>
            <a:ext cx="85725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孩子以为在盖章，其实在给这条河建档。下面这些字段，是按研究机构能直接用的格式设计的。</a:t>
            </a:r>
            <a:endParaRPr lang="zh-CN" sz="1125">
              <a:solidFill>
                <a:srgbClr val="5C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1" name="Freeform 170"/>
          <p:cNvSpPr/>
          <p:nvPr/>
        </p:nvSpPr>
        <p:spPr>
          <a:xfrm>
            <a:off x="723900" y="1600200"/>
            <a:ext cx="6667500" cy="238125"/>
          </a:xfrm>
          <a:custGeom>
            <a:avLst/>
            <a:gdLst/>
            <a:ahLst/>
            <a:cxnLst/>
            <a:pathLst>
              <a:path w="700" h="25">
                <a:moveTo>
                  <a:pt x="0" y="24"/>
                </a:moveTo>
                <a:lnTo>
                  <a:pt x="700" y="24"/>
                </a:lnTo>
                <a:lnTo>
                  <a:pt x="700" y="25"/>
                </a:lnTo>
                <a:lnTo>
                  <a:pt x="0" y="25"/>
                </a:lnTo>
                <a:close/>
              </a:path>
            </a:pathLst>
          </a:custGeom>
          <a:solidFill>
            <a:srgbClr val="C9A24B">
              <a:alpha val="40000"/>
            </a:srgbClr>
          </a:solidFill>
        </p:spPr>
        <p:txBody>
          <a:bodyPr/>
          <a:p/>
        </p:txBody>
      </p:sp>
      <p:sp>
        <p:nvSpPr>
          <p:cNvPr id="172" name="Text Box 171" descr="{&quot;isTemplate&quot;:true,&quot;type&quot;:&quot;text&quot;}"/>
          <p:cNvSpPr txBox="1"/>
          <p:nvPr/>
        </p:nvSpPr>
        <p:spPr>
          <a:xfrm>
            <a:off x="723900" y="1600200"/>
            <a:ext cx="9144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13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字段</a:t>
            </a:r>
            <a:endParaRPr lang="zh-CN" sz="900" spc="113">
              <a:solidFill>
                <a:srgbClr val="8A7A5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3" name="Text Box 172" descr="{&quot;isTemplate&quot;:true,&quot;type&quot;:&quot;text&quot;}"/>
          <p:cNvSpPr txBox="1"/>
          <p:nvPr/>
        </p:nvSpPr>
        <p:spPr>
          <a:xfrm>
            <a:off x="1638300" y="1600200"/>
            <a:ext cx="23431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13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示例</a:t>
            </a:r>
            <a:endParaRPr lang="zh-CN" sz="900" spc="113">
              <a:solidFill>
                <a:srgbClr val="8A7A5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4" name="Text Box 173" descr="{&quot;isTemplate&quot;:true,&quot;type&quot;:&quot;text&quot;}"/>
          <p:cNvSpPr txBox="1"/>
          <p:nvPr/>
        </p:nvSpPr>
        <p:spPr>
          <a:xfrm>
            <a:off x="3981450" y="1600200"/>
            <a:ext cx="34099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13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为什么这么设计</a:t>
            </a:r>
            <a:endParaRPr lang="zh-CN" sz="900" spc="113">
              <a:solidFill>
                <a:srgbClr val="8A7A5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5" name="Freeform 174"/>
          <p:cNvSpPr/>
          <p:nvPr/>
        </p:nvSpPr>
        <p:spPr>
          <a:xfrm>
            <a:off x="723900" y="1828800"/>
            <a:ext cx="6667500" cy="381000"/>
          </a:xfrm>
          <a:custGeom>
            <a:avLst/>
            <a:gdLst/>
            <a:ahLst/>
            <a:cxnLst/>
            <a:pathLst>
              <a:path w="700" h="40">
                <a:moveTo>
                  <a:pt x="0" y="39"/>
                </a:moveTo>
                <a:lnTo>
                  <a:pt x="700" y="39"/>
                </a:lnTo>
                <a:lnTo>
                  <a:pt x="700" y="40"/>
                </a:lnTo>
                <a:lnTo>
                  <a:pt x="0" y="40"/>
                </a:lnTo>
                <a:close/>
              </a:path>
            </a:pathLst>
          </a:custGeom>
          <a:solidFill>
            <a:srgbClr val="072F35">
              <a:alpha val="8000"/>
            </a:srgbClr>
          </a:solidFill>
        </p:spPr>
        <p:txBody>
          <a:bodyPr/>
          <a:p/>
        </p:txBody>
      </p:sp>
      <p:sp>
        <p:nvSpPr>
          <p:cNvPr id="176" name="Text Box 175" descr="{&quot;isTemplate&quot;:true,&quot;type&quot;:&quot;text&quot;}"/>
          <p:cNvSpPr txBox="1"/>
          <p:nvPr/>
        </p:nvSpPr>
        <p:spPr>
          <a:xfrm>
            <a:off x="723900" y="1924050"/>
            <a:ext cx="91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072F35"/>
                </a:solidFill>
                <a:latin typeface="Songti SC" panose="02010800040101010101" charset="-122"/>
                <a:ea typeface="Songti SC" panose="02010800040101010101" charset="-122"/>
              </a:rPr>
              <a:t>点位</a:t>
            </a:r>
            <a:endParaRPr lang="zh-CN" sz="1200" spc="75">
              <a:solidFill>
                <a:srgbClr val="072F35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177" name="Text Box 176" descr="{&quot;isTemplate&quot;:true,&quot;type&quot;:&quot;text&quot;}"/>
          <p:cNvSpPr txBox="1"/>
          <p:nvPr/>
        </p:nvSpPr>
        <p:spPr>
          <a:xfrm>
            <a:off x="1638300" y="1933575"/>
            <a:ext cx="23431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清河闸</a:t>
            </a:r>
            <a:r>
              <a:rPr lang="en-US" sz="1015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 · </a:t>
            </a:r>
            <a:r>
              <a:rPr lang="zh-CN" sz="1015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点位</a:t>
            </a:r>
            <a:r>
              <a:rPr lang="en-US" sz="1015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 05</a:t>
            </a:r>
            <a:endParaRPr lang="en-US" sz="1015">
              <a:solidFill>
                <a:srgbClr val="5C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8" name="Text Box 177" descr="{&quot;isTemplate&quot;:true,&quot;type&quot;:&quot;text&quot;}"/>
          <p:cNvSpPr txBox="1"/>
          <p:nvPr/>
        </p:nvSpPr>
        <p:spPr>
          <a:xfrm>
            <a:off x="3981450" y="1943100"/>
            <a:ext cx="34099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空间可比：同一处才谈得上变化</a:t>
            </a:r>
            <a:endParaRPr lang="zh-CN" sz="940">
              <a:solidFill>
                <a:srgbClr val="8A7A5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9" name="Freeform 178"/>
          <p:cNvSpPr/>
          <p:nvPr/>
        </p:nvSpPr>
        <p:spPr>
          <a:xfrm>
            <a:off x="723900" y="2209800"/>
            <a:ext cx="6667500" cy="381000"/>
          </a:xfrm>
          <a:custGeom>
            <a:avLst/>
            <a:gdLst/>
            <a:ahLst/>
            <a:cxnLst/>
            <a:pathLst>
              <a:path w="700" h="40">
                <a:moveTo>
                  <a:pt x="0" y="39"/>
                </a:moveTo>
                <a:lnTo>
                  <a:pt x="700" y="39"/>
                </a:lnTo>
                <a:lnTo>
                  <a:pt x="700" y="40"/>
                </a:lnTo>
                <a:lnTo>
                  <a:pt x="0" y="40"/>
                </a:lnTo>
                <a:close/>
              </a:path>
            </a:pathLst>
          </a:custGeom>
          <a:solidFill>
            <a:srgbClr val="072F35">
              <a:alpha val="8000"/>
            </a:srgbClr>
          </a:solidFill>
        </p:spPr>
        <p:txBody>
          <a:bodyPr/>
          <a:p/>
        </p:txBody>
      </p:sp>
      <p:sp>
        <p:nvSpPr>
          <p:cNvPr id="180" name="Text Box 179" descr="{&quot;isTemplate&quot;:true,&quot;type&quot;:&quot;text&quot;}"/>
          <p:cNvSpPr txBox="1"/>
          <p:nvPr/>
        </p:nvSpPr>
        <p:spPr>
          <a:xfrm>
            <a:off x="723900" y="2305050"/>
            <a:ext cx="91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072F35"/>
                </a:solidFill>
                <a:latin typeface="Songti SC" panose="02010800040101010101" charset="-122"/>
                <a:ea typeface="Songti SC" panose="02010800040101010101" charset="-122"/>
              </a:rPr>
              <a:t>时间</a:t>
            </a:r>
            <a:endParaRPr lang="zh-CN" sz="1200" spc="75">
              <a:solidFill>
                <a:srgbClr val="072F35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181" name="Text Box 180" descr="{&quot;isTemplate&quot;:true,&quot;type&quot;:&quot;text&quot;}"/>
          <p:cNvSpPr txBox="1"/>
          <p:nvPr/>
        </p:nvSpPr>
        <p:spPr>
          <a:xfrm>
            <a:off x="1638300" y="2314575"/>
            <a:ext cx="23431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5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10-22 14:32</a:t>
            </a:r>
            <a:endParaRPr lang="en-US" sz="1015">
              <a:solidFill>
                <a:srgbClr val="5C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2" name="Text Box 181" descr="{&quot;isTemplate&quot;:true,&quot;type&quot;:&quot;text&quot;}"/>
          <p:cNvSpPr txBox="1"/>
          <p:nvPr/>
        </p:nvSpPr>
        <p:spPr>
          <a:xfrm>
            <a:off x="3981450" y="2324100"/>
            <a:ext cx="34099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时间序列：单次记录没有意义</a:t>
            </a:r>
            <a:endParaRPr lang="zh-CN" sz="940">
              <a:solidFill>
                <a:srgbClr val="8A7A5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3" name="Freeform 182"/>
          <p:cNvSpPr/>
          <p:nvPr/>
        </p:nvSpPr>
        <p:spPr>
          <a:xfrm>
            <a:off x="723900" y="2590800"/>
            <a:ext cx="6667500" cy="381000"/>
          </a:xfrm>
          <a:custGeom>
            <a:avLst/>
            <a:gdLst/>
            <a:ahLst/>
            <a:cxnLst/>
            <a:pathLst>
              <a:path w="700" h="40">
                <a:moveTo>
                  <a:pt x="0" y="39"/>
                </a:moveTo>
                <a:lnTo>
                  <a:pt x="700" y="39"/>
                </a:lnTo>
                <a:lnTo>
                  <a:pt x="700" y="40"/>
                </a:lnTo>
                <a:lnTo>
                  <a:pt x="0" y="40"/>
                </a:lnTo>
                <a:close/>
              </a:path>
            </a:pathLst>
          </a:custGeom>
          <a:solidFill>
            <a:srgbClr val="072F35">
              <a:alpha val="8000"/>
            </a:srgbClr>
          </a:solidFill>
        </p:spPr>
        <p:txBody>
          <a:bodyPr/>
          <a:p/>
        </p:txBody>
      </p:sp>
      <p:sp>
        <p:nvSpPr>
          <p:cNvPr id="184" name="Text Box 183" descr="{&quot;isTemplate&quot;:true,&quot;type&quot;:&quot;text&quot;}"/>
          <p:cNvSpPr txBox="1"/>
          <p:nvPr/>
        </p:nvSpPr>
        <p:spPr>
          <a:xfrm>
            <a:off x="723900" y="2686050"/>
            <a:ext cx="91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072F35"/>
                </a:solidFill>
                <a:latin typeface="Songti SC" panose="02010800040101010101" charset="-122"/>
                <a:ea typeface="Songti SC" panose="02010800040101010101" charset="-122"/>
              </a:rPr>
              <a:t>类型</a:t>
            </a:r>
            <a:endParaRPr lang="zh-CN" sz="1200" spc="75">
              <a:solidFill>
                <a:srgbClr val="072F35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185" name="Text Box 184" descr="{&quot;isTemplate&quot;:true,&quot;type&quot;:&quot;text&quot;}"/>
          <p:cNvSpPr txBox="1"/>
          <p:nvPr/>
        </p:nvSpPr>
        <p:spPr>
          <a:xfrm>
            <a:off x="1638300" y="2695575"/>
            <a:ext cx="23431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水文</a:t>
            </a:r>
            <a:r>
              <a:rPr lang="en-US" sz="1015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 / </a:t>
            </a:r>
            <a:r>
              <a:rPr lang="zh-CN" sz="1015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物种</a:t>
            </a:r>
            <a:r>
              <a:rPr lang="en-US" sz="1015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 / </a:t>
            </a:r>
            <a:r>
              <a:rPr lang="zh-CN" sz="1015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岸线</a:t>
            </a:r>
            <a:r>
              <a:rPr lang="en-US" sz="1015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 / </a:t>
            </a:r>
            <a:r>
              <a:rPr lang="zh-CN" sz="1015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异常</a:t>
            </a:r>
            <a:endParaRPr lang="zh-CN" sz="1015">
              <a:solidFill>
                <a:srgbClr val="5C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6" name="Text Box 185" descr="{&quot;isTemplate&quot;:true,&quot;type&quot;:&quot;text&quot;}"/>
          <p:cNvSpPr txBox="1"/>
          <p:nvPr/>
        </p:nvSpPr>
        <p:spPr>
          <a:xfrm>
            <a:off x="3981450" y="2705100"/>
            <a:ext cx="34099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决定这条记录该给谁看</a:t>
            </a:r>
            <a:endParaRPr lang="zh-CN" sz="940">
              <a:solidFill>
                <a:srgbClr val="8A7A5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7" name="Freeform 186"/>
          <p:cNvSpPr/>
          <p:nvPr/>
        </p:nvSpPr>
        <p:spPr>
          <a:xfrm>
            <a:off x="723900" y="2971800"/>
            <a:ext cx="6667500" cy="381000"/>
          </a:xfrm>
          <a:custGeom>
            <a:avLst/>
            <a:gdLst/>
            <a:ahLst/>
            <a:cxnLst/>
            <a:pathLst>
              <a:path w="700" h="40">
                <a:moveTo>
                  <a:pt x="0" y="39"/>
                </a:moveTo>
                <a:lnTo>
                  <a:pt x="700" y="39"/>
                </a:lnTo>
                <a:lnTo>
                  <a:pt x="700" y="40"/>
                </a:lnTo>
                <a:lnTo>
                  <a:pt x="0" y="40"/>
                </a:lnTo>
                <a:close/>
              </a:path>
            </a:pathLst>
          </a:custGeom>
          <a:solidFill>
            <a:srgbClr val="072F35">
              <a:alpha val="8000"/>
            </a:srgbClr>
          </a:solidFill>
        </p:spPr>
        <p:txBody>
          <a:bodyPr/>
          <a:p/>
        </p:txBody>
      </p:sp>
      <p:sp>
        <p:nvSpPr>
          <p:cNvPr id="188" name="Text Box 187" descr="{&quot;isTemplate&quot;:true,&quot;type&quot;:&quot;text&quot;}"/>
          <p:cNvSpPr txBox="1"/>
          <p:nvPr/>
        </p:nvSpPr>
        <p:spPr>
          <a:xfrm>
            <a:off x="723900" y="3067050"/>
            <a:ext cx="91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072F35"/>
                </a:solidFill>
                <a:latin typeface="Songti SC" panose="02010800040101010101" charset="-122"/>
                <a:ea typeface="Songti SC" panose="02010800040101010101" charset="-122"/>
              </a:rPr>
              <a:t>观测</a:t>
            </a:r>
            <a:endParaRPr lang="zh-CN" sz="1200" spc="75">
              <a:solidFill>
                <a:srgbClr val="072F35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189" name="Text Box 188" descr="{&quot;isTemplate&quot;:true,&quot;type&quot;:&quot;text&quot;}"/>
          <p:cNvSpPr txBox="1"/>
          <p:nvPr/>
        </p:nvSpPr>
        <p:spPr>
          <a:xfrm>
            <a:off x="1638300" y="3076575"/>
            <a:ext cx="23431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透明度：低；白鹭</a:t>
            </a:r>
            <a:r>
              <a:rPr lang="en-US" sz="1015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 ×2</a:t>
            </a:r>
            <a:endParaRPr lang="en-US" sz="1015">
              <a:solidFill>
                <a:srgbClr val="5C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0" name="Text Box 189" descr="{&quot;isTemplate&quot;:true,&quot;type&quot;:&quot;text&quot;}"/>
          <p:cNvSpPr txBox="1"/>
          <p:nvPr/>
        </p:nvSpPr>
        <p:spPr>
          <a:xfrm>
            <a:off x="3981450" y="3086100"/>
            <a:ext cx="34099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有数值才能统计、作图</a:t>
            </a:r>
            <a:endParaRPr lang="zh-CN" sz="940">
              <a:solidFill>
                <a:srgbClr val="8A7A5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1" name="Freeform 190"/>
          <p:cNvSpPr/>
          <p:nvPr/>
        </p:nvSpPr>
        <p:spPr>
          <a:xfrm>
            <a:off x="723900" y="3352800"/>
            <a:ext cx="6667500" cy="381000"/>
          </a:xfrm>
          <a:custGeom>
            <a:avLst/>
            <a:gdLst/>
            <a:ahLst/>
            <a:cxnLst/>
            <a:pathLst>
              <a:path w="700" h="40">
                <a:moveTo>
                  <a:pt x="0" y="39"/>
                </a:moveTo>
                <a:lnTo>
                  <a:pt x="700" y="39"/>
                </a:lnTo>
                <a:lnTo>
                  <a:pt x="700" y="40"/>
                </a:lnTo>
                <a:lnTo>
                  <a:pt x="0" y="40"/>
                </a:lnTo>
                <a:close/>
              </a:path>
            </a:pathLst>
          </a:custGeom>
          <a:solidFill>
            <a:srgbClr val="072F35">
              <a:alpha val="8000"/>
            </a:srgbClr>
          </a:solidFill>
        </p:spPr>
        <p:txBody>
          <a:bodyPr/>
          <a:p/>
        </p:txBody>
      </p:sp>
      <p:sp>
        <p:nvSpPr>
          <p:cNvPr id="192" name="Text Box 191" descr="{&quot;isTemplate&quot;:true,&quot;type&quot;:&quot;text&quot;}"/>
          <p:cNvSpPr txBox="1"/>
          <p:nvPr/>
        </p:nvSpPr>
        <p:spPr>
          <a:xfrm>
            <a:off x="723900" y="3448050"/>
            <a:ext cx="91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072F35"/>
                </a:solidFill>
                <a:latin typeface="Songti SC" panose="02010800040101010101" charset="-122"/>
                <a:ea typeface="Songti SC" panose="02010800040101010101" charset="-122"/>
              </a:rPr>
              <a:t>证据</a:t>
            </a:r>
            <a:endParaRPr lang="zh-CN" sz="1200" spc="75">
              <a:solidFill>
                <a:srgbClr val="072F35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193" name="Text Box 192" descr="{&quot;isTemplate&quot;:true,&quot;type&quot;:&quot;text&quot;}"/>
          <p:cNvSpPr txBox="1"/>
          <p:nvPr/>
        </p:nvSpPr>
        <p:spPr>
          <a:xfrm>
            <a:off x="1638300" y="3457575"/>
            <a:ext cx="23431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照片</a:t>
            </a:r>
            <a:r>
              <a:rPr lang="en-US" sz="1015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 1 </a:t>
            </a:r>
            <a:r>
              <a:rPr lang="zh-CN" sz="1015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张</a:t>
            </a:r>
            <a:endParaRPr lang="zh-CN" sz="1015">
              <a:solidFill>
                <a:srgbClr val="5C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4" name="Text Box 193" descr="{&quot;isTemplate&quot;:true,&quot;type&quot;:&quot;text&quot;}"/>
          <p:cNvSpPr txBox="1"/>
          <p:nvPr/>
        </p:nvSpPr>
        <p:spPr>
          <a:xfrm>
            <a:off x="3981450" y="3467100"/>
            <a:ext cx="34099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可复核：能回看当时的样子</a:t>
            </a:r>
            <a:endParaRPr lang="zh-CN" sz="940">
              <a:solidFill>
                <a:srgbClr val="8A7A5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5" name="Freeform 194"/>
          <p:cNvSpPr/>
          <p:nvPr/>
        </p:nvSpPr>
        <p:spPr>
          <a:xfrm>
            <a:off x="723900" y="3733800"/>
            <a:ext cx="6667500" cy="381000"/>
          </a:xfrm>
          <a:custGeom>
            <a:avLst/>
            <a:gdLst/>
            <a:ahLst/>
            <a:cxnLst/>
            <a:pathLst>
              <a:path w="700" h="40">
                <a:moveTo>
                  <a:pt x="0" y="39"/>
                </a:moveTo>
                <a:lnTo>
                  <a:pt x="700" y="39"/>
                </a:lnTo>
                <a:lnTo>
                  <a:pt x="700" y="40"/>
                </a:lnTo>
                <a:lnTo>
                  <a:pt x="0" y="40"/>
                </a:lnTo>
                <a:close/>
              </a:path>
            </a:pathLst>
          </a:custGeom>
          <a:solidFill>
            <a:srgbClr val="072F35">
              <a:alpha val="8000"/>
            </a:srgbClr>
          </a:solidFill>
        </p:spPr>
        <p:txBody>
          <a:bodyPr/>
          <a:p/>
        </p:txBody>
      </p:sp>
      <p:sp>
        <p:nvSpPr>
          <p:cNvPr id="196" name="Text Box 195" descr="{&quot;isTemplate&quot;:true,&quot;type&quot;:&quot;text&quot;}"/>
          <p:cNvSpPr txBox="1"/>
          <p:nvPr/>
        </p:nvSpPr>
        <p:spPr>
          <a:xfrm>
            <a:off x="723900" y="3829050"/>
            <a:ext cx="91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072F35"/>
                </a:solidFill>
                <a:latin typeface="Songti SC" panose="02010800040101010101" charset="-122"/>
                <a:ea typeface="Songti SC" panose="02010800040101010101" charset="-122"/>
              </a:rPr>
              <a:t>观察者</a:t>
            </a:r>
            <a:endParaRPr lang="zh-CN" sz="1200" spc="75">
              <a:solidFill>
                <a:srgbClr val="072F35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197" name="Text Box 196" descr="{&quot;isTemplate&quot;:true,&quot;type&quot;:&quot;text&quot;}"/>
          <p:cNvSpPr txBox="1"/>
          <p:nvPr/>
        </p:nvSpPr>
        <p:spPr>
          <a:xfrm>
            <a:off x="1638300" y="3838575"/>
            <a:ext cx="23431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5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NO.057 · </a:t>
            </a:r>
            <a:r>
              <a:rPr lang="zh-CN" sz="1015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巡河员</a:t>
            </a:r>
            <a:endParaRPr lang="zh-CN" sz="1015">
              <a:solidFill>
                <a:srgbClr val="5C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8" name="Text Box 197" descr="{&quot;isTemplate&quot;:true,&quot;type&quot;:&quot;text&quot;}"/>
          <p:cNvSpPr txBox="1"/>
          <p:nvPr/>
        </p:nvSpPr>
        <p:spPr>
          <a:xfrm>
            <a:off x="3981450" y="3848100"/>
            <a:ext cx="34099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可信度加权：级别即数据权重</a:t>
            </a:r>
            <a:endParaRPr lang="zh-CN" sz="940">
              <a:solidFill>
                <a:srgbClr val="8A7A5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9" name="Freeform 198"/>
          <p:cNvSpPr/>
          <p:nvPr/>
        </p:nvSpPr>
        <p:spPr>
          <a:xfrm>
            <a:off x="723900" y="4114800"/>
            <a:ext cx="6667500" cy="381000"/>
          </a:xfrm>
          <a:custGeom>
            <a:avLst/>
            <a:gdLst/>
            <a:ahLst/>
            <a:cxnLst/>
            <a:pathLst>
              <a:path w="700" h="40">
                <a:moveTo>
                  <a:pt x="0" y="39"/>
                </a:moveTo>
                <a:lnTo>
                  <a:pt x="700" y="39"/>
                </a:lnTo>
                <a:lnTo>
                  <a:pt x="700" y="40"/>
                </a:lnTo>
                <a:lnTo>
                  <a:pt x="0" y="40"/>
                </a:lnTo>
                <a:close/>
              </a:path>
            </a:pathLst>
          </a:custGeom>
          <a:solidFill>
            <a:srgbClr val="072F35">
              <a:alpha val="8000"/>
            </a:srgbClr>
          </a:solidFill>
        </p:spPr>
        <p:txBody>
          <a:bodyPr/>
          <a:p/>
        </p:txBody>
      </p:sp>
      <p:sp>
        <p:nvSpPr>
          <p:cNvPr id="200" name="Text Box 199" descr="{&quot;isTemplate&quot;:true,&quot;type&quot;:&quot;text&quot;}"/>
          <p:cNvSpPr txBox="1"/>
          <p:nvPr/>
        </p:nvSpPr>
        <p:spPr>
          <a:xfrm>
            <a:off x="723900" y="4210050"/>
            <a:ext cx="91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072F35"/>
                </a:solidFill>
                <a:latin typeface="Songti SC" panose="02010800040101010101" charset="-122"/>
                <a:ea typeface="Songti SC" panose="02010800040101010101" charset="-122"/>
              </a:rPr>
              <a:t>环境</a:t>
            </a:r>
            <a:endParaRPr lang="zh-CN" sz="1200" spc="75">
              <a:solidFill>
                <a:srgbClr val="072F35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201" name="Text Box 200" descr="{&quot;isTemplate&quot;:true,&quot;type&quot;:&quot;text&quot;}"/>
          <p:cNvSpPr txBox="1"/>
          <p:nvPr/>
        </p:nvSpPr>
        <p:spPr>
          <a:xfrm>
            <a:off x="1638300" y="4219575"/>
            <a:ext cx="23431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天气</a:t>
            </a:r>
            <a:r>
              <a:rPr lang="en-US" sz="1015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 / </a:t>
            </a:r>
            <a:r>
              <a:rPr lang="zh-CN" sz="1015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水位</a:t>
            </a:r>
            <a:r>
              <a:rPr lang="en-US" sz="1015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 / </a:t>
            </a:r>
            <a:r>
              <a:rPr lang="zh-CN" sz="1015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时段</a:t>
            </a:r>
            <a:endParaRPr lang="zh-CN" sz="1015">
              <a:solidFill>
                <a:srgbClr val="5C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2" name="Text Box 201" descr="{&quot;isTemplate&quot;:true,&quot;type&quot;:&quot;text&quot;}"/>
          <p:cNvSpPr txBox="1"/>
          <p:nvPr/>
        </p:nvSpPr>
        <p:spPr>
          <a:xfrm>
            <a:off x="3981450" y="4229100"/>
            <a:ext cx="34099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排除干扰：阴天的水色不算异常</a:t>
            </a:r>
            <a:endParaRPr lang="zh-CN" sz="940">
              <a:solidFill>
                <a:srgbClr val="8A7A5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3" name="Freeform 202"/>
          <p:cNvSpPr/>
          <p:nvPr/>
        </p:nvSpPr>
        <p:spPr>
          <a:xfrm>
            <a:off x="723900" y="4495800"/>
            <a:ext cx="6667500" cy="381000"/>
          </a:xfrm>
          <a:custGeom>
            <a:avLst/>
            <a:gdLst/>
            <a:ahLst/>
            <a:cxnLst/>
            <a:pathLst>
              <a:path w="700" h="40">
                <a:moveTo>
                  <a:pt x="0" y="39"/>
                </a:moveTo>
                <a:lnTo>
                  <a:pt x="700" y="39"/>
                </a:lnTo>
                <a:lnTo>
                  <a:pt x="700" y="40"/>
                </a:lnTo>
                <a:lnTo>
                  <a:pt x="0" y="40"/>
                </a:lnTo>
                <a:close/>
              </a:path>
            </a:pathLst>
          </a:custGeom>
          <a:solidFill>
            <a:srgbClr val="072F35">
              <a:alpha val="8000"/>
            </a:srgbClr>
          </a:solidFill>
        </p:spPr>
        <p:txBody>
          <a:bodyPr/>
          <a:p/>
        </p:txBody>
      </p:sp>
      <p:sp>
        <p:nvSpPr>
          <p:cNvPr id="204" name="Text Box 203" descr="{&quot;isTemplate&quot;:true,&quot;type&quot;:&quot;text&quot;}"/>
          <p:cNvSpPr txBox="1"/>
          <p:nvPr/>
        </p:nvSpPr>
        <p:spPr>
          <a:xfrm>
            <a:off x="723900" y="4591050"/>
            <a:ext cx="91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072F35"/>
                </a:solidFill>
                <a:latin typeface="Songti SC" panose="02010800040101010101" charset="-122"/>
                <a:ea typeface="Songti SC" panose="02010800040101010101" charset="-122"/>
              </a:rPr>
              <a:t>许可</a:t>
            </a:r>
            <a:endParaRPr lang="zh-CN" sz="1200" spc="75">
              <a:solidFill>
                <a:srgbClr val="072F35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205" name="Text Box 204" descr="{&quot;isTemplate&quot;:true,&quot;type&quot;:&quot;text&quot;}"/>
          <p:cNvSpPr txBox="1"/>
          <p:nvPr/>
        </p:nvSpPr>
        <p:spPr>
          <a:xfrm>
            <a:off x="1638300" y="4600575"/>
            <a:ext cx="23431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5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CC BY-NC 4.0 · </a:t>
            </a:r>
            <a:r>
              <a:rPr lang="zh-CN" sz="1015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匿名</a:t>
            </a:r>
            <a:endParaRPr lang="zh-CN" sz="1015">
              <a:solidFill>
                <a:srgbClr val="5C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6" name="Text Box 205" descr="{&quot;isTemplate&quot;:true,&quot;type&quot;:&quot;text&quot;}"/>
          <p:cNvSpPr txBox="1"/>
          <p:nvPr/>
        </p:nvSpPr>
        <p:spPr>
          <a:xfrm>
            <a:off x="3981450" y="4610100"/>
            <a:ext cx="34099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机构敢用：授权先写清楚</a:t>
            </a:r>
            <a:endParaRPr lang="zh-CN" sz="940">
              <a:solidFill>
                <a:srgbClr val="8A7A5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7" name="Text Box 206" descr="{&quot;isTemplate&quot;:true,&quot;type&quot;:&quot;text&quot;}"/>
          <p:cNvSpPr txBox="1"/>
          <p:nvPr/>
        </p:nvSpPr>
        <p:spPr>
          <a:xfrm>
            <a:off x="7810500" y="1600200"/>
            <a:ext cx="3676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113">
                <a:solidFill>
                  <a:srgbClr val="072F35"/>
                </a:solidFill>
                <a:latin typeface="Songti SC" panose="02010800040101010101" charset="-122"/>
                <a:ea typeface="Songti SC" panose="02010800040101010101" charset="-122"/>
              </a:rPr>
              <a:t>四种人，各取所需</a:t>
            </a:r>
            <a:endParaRPr lang="zh-CN" sz="1500" spc="113">
              <a:solidFill>
                <a:srgbClr val="072F35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208" name="Rectangle 207"/>
          <p:cNvSpPr/>
          <p:nvPr/>
        </p:nvSpPr>
        <p:spPr>
          <a:xfrm>
            <a:off x="7810500" y="1943100"/>
            <a:ext cx="438150" cy="9525"/>
          </a:xfrm>
          <a:prstGeom prst="rect">
            <a:avLst/>
          </a:prstGeom>
          <a:solidFill>
            <a:srgbClr val="C9A24B">
              <a:alpha val="55000"/>
            </a:srgbClr>
          </a:solidFill>
        </p:spPr>
        <p:txBody>
          <a:bodyPr/>
          <a:p/>
        </p:txBody>
      </p:sp>
      <p:sp>
        <p:nvSpPr>
          <p:cNvPr id="209" name="Text Box 208" descr="{&quot;isTemplate&quot;:true,&quot;type&quot;:&quot;text&quot;}"/>
          <p:cNvSpPr txBox="1"/>
          <p:nvPr/>
        </p:nvSpPr>
        <p:spPr>
          <a:xfrm>
            <a:off x="7810500" y="2105025"/>
            <a:ext cx="36766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90" spc="60">
                <a:solidFill>
                  <a:srgbClr val="072F35"/>
                </a:solidFill>
                <a:latin typeface="PingFang SC" panose="020B0400000000000000" charset="-122"/>
                <a:ea typeface="PingFang SC" panose="020B0400000000000000" charset="-122"/>
              </a:rPr>
              <a:t>孩子与家庭</a:t>
            </a:r>
            <a:endParaRPr lang="zh-CN" sz="1090" spc="60">
              <a:solidFill>
                <a:srgbClr val="072F3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0" name="Text Box 209" descr="{&quot;isTemplate&quot;:true,&quot;type&quot;:&quot;text&quot;}"/>
          <p:cNvSpPr txBox="1"/>
          <p:nvPr/>
        </p:nvSpPr>
        <p:spPr>
          <a:xfrm>
            <a:off x="7810500" y="2305050"/>
            <a:ext cx="36766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4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一个身份、一本护照、一条写进成长档案的巡河线</a:t>
            </a:r>
            <a:endParaRPr lang="zh-CN" sz="940">
              <a:solidFill>
                <a:srgbClr val="5C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1" name="Text Box 210" descr="{&quot;isTemplate&quot;:true,&quot;type&quot;:&quot;text&quot;}"/>
          <p:cNvSpPr txBox="1"/>
          <p:nvPr/>
        </p:nvSpPr>
        <p:spPr>
          <a:xfrm>
            <a:off x="7810500" y="2686050"/>
            <a:ext cx="36766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90" spc="60">
                <a:solidFill>
                  <a:srgbClr val="072F35"/>
                </a:solidFill>
                <a:latin typeface="PingFang SC" panose="020B0400000000000000" charset="-122"/>
                <a:ea typeface="PingFang SC" panose="020B0400000000000000" charset="-122"/>
              </a:rPr>
              <a:t>公园与文旅</a:t>
            </a:r>
            <a:endParaRPr lang="zh-CN" sz="1090" spc="60">
              <a:solidFill>
                <a:srgbClr val="072F3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2" name="Text Box 211" descr="{&quot;isTemplate&quot;:true,&quot;type&quot;:&quot;text&quot;}"/>
          <p:cNvSpPr txBox="1"/>
          <p:nvPr/>
        </p:nvSpPr>
        <p:spPr>
          <a:xfrm>
            <a:off x="7810500" y="2886075"/>
            <a:ext cx="36766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4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一套四季更新的内容资产，和十个到访理由</a:t>
            </a:r>
            <a:endParaRPr lang="zh-CN" sz="940">
              <a:solidFill>
                <a:srgbClr val="5C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3" name="Text Box 212" descr="{&quot;isTemplate&quot;:true,&quot;type&quot;:&quot;text&quot;}"/>
          <p:cNvSpPr txBox="1"/>
          <p:nvPr/>
        </p:nvSpPr>
        <p:spPr>
          <a:xfrm>
            <a:off x="7810500" y="3267075"/>
            <a:ext cx="36766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90" spc="60">
                <a:solidFill>
                  <a:srgbClr val="072F35"/>
                </a:solidFill>
                <a:latin typeface="PingFang SC" panose="020B0400000000000000" charset="-122"/>
                <a:ea typeface="PingFang SC" panose="020B0400000000000000" charset="-122"/>
              </a:rPr>
              <a:t>河长办</a:t>
            </a:r>
            <a:r>
              <a:rPr lang="en-US" sz="1090" spc="60">
                <a:solidFill>
                  <a:srgbClr val="072F35"/>
                </a:solidFill>
                <a:latin typeface="PingFang SC" panose="020B0400000000000000" charset="-122"/>
                <a:ea typeface="PingFang SC" panose="020B0400000000000000" charset="-122"/>
              </a:rPr>
              <a:t> / </a:t>
            </a:r>
            <a:r>
              <a:rPr lang="zh-CN" sz="1090" spc="60">
                <a:solidFill>
                  <a:srgbClr val="072F35"/>
                </a:solidFill>
                <a:latin typeface="PingFang SC" panose="020B0400000000000000" charset="-122"/>
                <a:ea typeface="PingFang SC" panose="020B0400000000000000" charset="-122"/>
              </a:rPr>
              <a:t>研究机构</a:t>
            </a:r>
            <a:endParaRPr lang="zh-CN" sz="1090" spc="60">
              <a:solidFill>
                <a:srgbClr val="072F3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4" name="Text Box 213" descr="{&quot;isTemplate&quot;:true,&quot;type&quot;:&quot;text&quot;}"/>
          <p:cNvSpPr txBox="1"/>
          <p:nvPr/>
        </p:nvSpPr>
        <p:spPr>
          <a:xfrm>
            <a:off x="7810500" y="3467100"/>
            <a:ext cx="36766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4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高密度、低成本、可比对的观察网络，补专业巡测的空档</a:t>
            </a:r>
            <a:endParaRPr lang="zh-CN" sz="940">
              <a:solidFill>
                <a:srgbClr val="5C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5" name="Text Box 214" descr="{&quot;isTemplate&quot;:true,&quot;type&quot;:&quot;text&quot;}"/>
          <p:cNvSpPr txBox="1"/>
          <p:nvPr/>
        </p:nvSpPr>
        <p:spPr>
          <a:xfrm>
            <a:off x="7810500" y="3848100"/>
            <a:ext cx="36766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90" spc="60">
                <a:solidFill>
                  <a:srgbClr val="072F35"/>
                </a:solidFill>
                <a:latin typeface="PingFang SC" panose="020B0400000000000000" charset="-122"/>
                <a:ea typeface="PingFang SC" panose="020B0400000000000000" charset="-122"/>
              </a:rPr>
              <a:t>资助方</a:t>
            </a:r>
            <a:r>
              <a:rPr lang="en-US" sz="1090" spc="60">
                <a:solidFill>
                  <a:srgbClr val="072F35"/>
                </a:solidFill>
                <a:latin typeface="PingFang SC" panose="020B0400000000000000" charset="-122"/>
                <a:ea typeface="PingFang SC" panose="020B0400000000000000" charset="-122"/>
              </a:rPr>
              <a:t> / </a:t>
            </a:r>
            <a:r>
              <a:rPr lang="zh-CN" sz="1090" spc="60">
                <a:solidFill>
                  <a:srgbClr val="072F35"/>
                </a:solidFill>
                <a:latin typeface="PingFang SC" panose="020B0400000000000000" charset="-122"/>
                <a:ea typeface="PingFang SC" panose="020B0400000000000000" charset="-122"/>
              </a:rPr>
              <a:t>品牌</a:t>
            </a:r>
            <a:endParaRPr lang="zh-CN" sz="1090" spc="60">
              <a:solidFill>
                <a:srgbClr val="072F3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6" name="Text Box 215" descr="{&quot;isTemplate&quot;:true,&quot;type&quot;:&quot;text&quot;}"/>
          <p:cNvSpPr txBox="1"/>
          <p:nvPr/>
        </p:nvSpPr>
        <p:spPr>
          <a:xfrm>
            <a:off x="7810500" y="4048125"/>
            <a:ext cx="36766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40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可追溯、可引用的公益成果，而不是一张活动照片</a:t>
            </a:r>
            <a:endParaRPr lang="zh-CN" sz="940">
              <a:solidFill>
                <a:srgbClr val="5C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7" name="Rectangle 216"/>
          <p:cNvSpPr/>
          <p:nvPr/>
        </p:nvSpPr>
        <p:spPr>
          <a:xfrm>
            <a:off x="7829550" y="4495800"/>
            <a:ext cx="3676650" cy="1009650"/>
          </a:xfrm>
          <a:prstGeom prst="rect">
            <a:avLst/>
          </a:prstGeom>
          <a:solidFill>
            <a:srgbClr val="072F35">
              <a:alpha val="4500"/>
            </a:srgbClr>
          </a:solidFill>
        </p:spPr>
        <p:txBody>
          <a:bodyPr/>
          <a:p/>
        </p:txBody>
      </p:sp>
      <p:sp>
        <p:nvSpPr>
          <p:cNvPr id="218" name="Freeform 217"/>
          <p:cNvSpPr/>
          <p:nvPr/>
        </p:nvSpPr>
        <p:spPr>
          <a:xfrm>
            <a:off x="7810500" y="4495800"/>
            <a:ext cx="3695700" cy="1009650"/>
          </a:xfrm>
          <a:custGeom>
            <a:avLst/>
            <a:gdLst/>
            <a:ahLst/>
            <a:cxnLst/>
            <a:pathLst>
              <a:path w="388" h="106">
                <a:moveTo>
                  <a:pt x="0" y="0"/>
                </a:moveTo>
                <a:lnTo>
                  <a:pt x="2" y="0"/>
                </a:lnTo>
                <a:lnTo>
                  <a:pt x="2" y="106"/>
                </a:lnTo>
                <a:lnTo>
                  <a:pt x="0" y="106"/>
                </a:lnTo>
                <a:close/>
              </a:path>
            </a:pathLst>
          </a:custGeom>
          <a:solidFill>
            <a:srgbClr val="C9A24B"/>
          </a:solidFill>
        </p:spPr>
        <p:txBody>
          <a:bodyPr/>
          <a:p/>
        </p:txBody>
      </p:sp>
      <p:sp>
        <p:nvSpPr>
          <p:cNvPr id="219" name="Text Box 218" descr="{&quot;isTemplate&quot;:true,&quot;type&quot;:&quot;text&quot;}"/>
          <p:cNvSpPr txBox="1"/>
          <p:nvPr/>
        </p:nvSpPr>
        <p:spPr>
          <a:xfrm>
            <a:off x="7981950" y="4629150"/>
            <a:ext cx="457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072F35"/>
                </a:solidFill>
                <a:latin typeface="Songti SC" panose="02010800040101010101" charset="-122"/>
                <a:ea typeface="Songti SC" panose="02010800040101010101" charset="-122"/>
              </a:rPr>
              <a:t>树村闸</a:t>
            </a:r>
            <a:endParaRPr lang="zh-CN" sz="1125" spc="75">
              <a:solidFill>
                <a:srgbClr val="072F35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220" name="Text Box 219" descr="{&quot;isTemplate&quot;:true,&quot;type&quot;:&quot;text&quot;}"/>
          <p:cNvSpPr txBox="1"/>
          <p:nvPr/>
        </p:nvSpPr>
        <p:spPr>
          <a:xfrm>
            <a:off x="8534400" y="4629150"/>
            <a:ext cx="10572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90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点位</a:t>
            </a:r>
            <a:r>
              <a:rPr lang="en-US" sz="825" spc="90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 03 · </a:t>
            </a:r>
            <a:r>
              <a:rPr lang="zh-CN" sz="825" spc="90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物种观察</a:t>
            </a:r>
            <a:endParaRPr lang="zh-CN" sz="825" spc="90">
              <a:solidFill>
                <a:srgbClr val="8A7A5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1" name="Text Box 220" descr="{&quot;isTemplate&quot;:true,&quot;type&quot;:&quot;text&quot;}"/>
          <p:cNvSpPr txBox="1"/>
          <p:nvPr/>
        </p:nvSpPr>
        <p:spPr>
          <a:xfrm>
            <a:off x="11115675" y="4629150"/>
            <a:ext cx="2190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90" spc="75">
                <a:solidFill>
                  <a:srgbClr val="B5432F"/>
                </a:solidFill>
                <a:latin typeface="PingFang SC" panose="020B0400000000000000" charset="-122"/>
                <a:ea typeface="PingFang SC" panose="020B0400000000000000" charset="-122"/>
              </a:rPr>
              <a:t>实测</a:t>
            </a:r>
            <a:endParaRPr lang="zh-CN" sz="790" spc="75">
              <a:solidFill>
                <a:srgbClr val="B5432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2" name="Text Box 221" descr="{&quot;isTemplate&quot;:true,&quot;type&quot;:&quot;text&quot;}"/>
          <p:cNvSpPr txBox="1"/>
          <p:nvPr/>
        </p:nvSpPr>
        <p:spPr>
          <a:xfrm>
            <a:off x="7981950" y="4867275"/>
            <a:ext cx="33528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072F35"/>
                </a:solidFill>
                <a:latin typeface="PingFang SC" panose="020B0400000000000000" charset="-122"/>
                <a:ea typeface="PingFang SC" panose="020B0400000000000000" charset="-122"/>
              </a:rPr>
              <a:t>水很清，能看见底下的石头。一只鸳鸯在水面游，头顶红褐色。</a:t>
            </a:r>
            <a:endParaRPr lang="zh-CN" sz="900">
              <a:solidFill>
                <a:srgbClr val="072F35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3" name="Text Box 222" descr="{&quot;isTemplate&quot;:true,&quot;type&quot;:&quot;text&quot;}"/>
          <p:cNvSpPr txBox="1"/>
          <p:nvPr/>
        </p:nvSpPr>
        <p:spPr>
          <a:xfrm>
            <a:off x="7981950" y="5162550"/>
            <a:ext cx="33528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25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水鸟</a:t>
            </a:r>
            <a:r>
              <a:rPr lang="en-US" sz="825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 = 1 </a:t>
            </a:r>
            <a:r>
              <a:rPr lang="zh-CN" sz="825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只　·　有照片　·　</a:t>
            </a:r>
            <a:r>
              <a:rPr lang="en-US" sz="825">
                <a:solidFill>
                  <a:srgbClr val="5C6B6B"/>
                </a:solidFill>
                <a:latin typeface="PingFang SC" panose="020B0400000000000000" charset="-122"/>
                <a:ea typeface="PingFang SC" panose="020B0400000000000000" charset="-122"/>
              </a:rPr>
              <a:t>10-24 14:48</a:t>
            </a:r>
            <a:endParaRPr lang="en-US" sz="825">
              <a:solidFill>
                <a:srgbClr val="5C6B6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4" name="Text Box 223" descr="{&quot;isTemplate&quot;:true,&quot;type&quot;:&quot;text&quot;}"/>
          <p:cNvSpPr txBox="1"/>
          <p:nvPr/>
        </p:nvSpPr>
        <p:spPr>
          <a:xfrm>
            <a:off x="7810500" y="5581650"/>
            <a:ext cx="36766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65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产品里与演示数据分开标注，来源可追溯</a:t>
            </a:r>
            <a:endParaRPr lang="zh-CN" sz="865">
              <a:solidFill>
                <a:srgbClr val="8A7A5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5" name="Text Box 224" descr="{&quot;isTemplate&quot;:true,&quot;type&quot;:&quot;text&quot;}"/>
          <p:cNvSpPr txBox="1"/>
          <p:nvPr/>
        </p:nvSpPr>
        <p:spPr>
          <a:xfrm>
            <a:off x="723900" y="6438900"/>
            <a:ext cx="19907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13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小小河工</a:t>
            </a:r>
            <a:r>
              <a:rPr lang="en-US" sz="900" spc="113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 · AI+ </a:t>
            </a:r>
            <a:r>
              <a:rPr lang="zh-CN" sz="900" spc="113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公民河流教育计划</a:t>
            </a:r>
            <a:endParaRPr lang="zh-CN" sz="900" spc="113">
              <a:solidFill>
                <a:srgbClr val="8A7A5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6" name="Text Box 225" descr="{&quot;isTemplate&quot;:true,&quot;type&quot;:&quot;text&quot;}"/>
          <p:cNvSpPr txBox="1"/>
          <p:nvPr/>
        </p:nvSpPr>
        <p:spPr>
          <a:xfrm>
            <a:off x="10668000" y="6438900"/>
            <a:ext cx="504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13">
                <a:solidFill>
                  <a:srgbClr val="8A7A52"/>
                </a:solidFill>
                <a:latin typeface="PingFang SC" panose="020B0400000000000000" charset="-122"/>
                <a:ea typeface="PingFang SC" panose="020B0400000000000000" charset="-122"/>
              </a:rPr>
              <a:t>05 / 06</a:t>
            </a:r>
            <a:endParaRPr lang="en-US" sz="900" spc="113">
              <a:solidFill>
                <a:srgbClr val="8A7A5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angle 2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2F35"/>
          </a:solidFill>
        </p:spPr>
        <p:txBody>
          <a:bodyPr/>
          <a:p/>
        </p:txBody>
      </p:sp>
      <p:sp>
        <p:nvSpPr>
          <p:cNvPr id="229" name="Text Box 228" descr="{&quot;isTemplate&quot;:true,&quot;type&quot;:&quot;text&quot;}"/>
          <p:cNvSpPr txBox="1"/>
          <p:nvPr/>
        </p:nvSpPr>
        <p:spPr>
          <a:xfrm>
            <a:off x="723900" y="438150"/>
            <a:ext cx="228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300">
                <a:solidFill>
                  <a:srgbClr val="C9A24B"/>
                </a:solidFill>
                <a:latin typeface="PingFang SC" panose="020B0400000000000000" charset="-122"/>
                <a:ea typeface="PingFang SC" panose="020B0400000000000000" charset="-122"/>
              </a:rPr>
              <a:t>06</a:t>
            </a:r>
            <a:endParaRPr lang="en-US" sz="975" spc="300">
              <a:solidFill>
                <a:srgbClr val="C9A2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0" name="Text Box 229" descr="{&quot;isTemplate&quot;:true,&quot;type&quot;:&quot;text&quot;}"/>
          <p:cNvSpPr txBox="1"/>
          <p:nvPr/>
        </p:nvSpPr>
        <p:spPr>
          <a:xfrm>
            <a:off x="1123950" y="400050"/>
            <a:ext cx="70485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spc="225">
                <a:solidFill>
                  <a:srgbClr val="F7F4EC"/>
                </a:solidFill>
                <a:latin typeface="Songti SC" panose="02010800040101010101" charset="-122"/>
                <a:ea typeface="Songti SC" panose="02010800040101010101" charset="-122"/>
              </a:rPr>
              <a:t>现在</a:t>
            </a:r>
            <a:endParaRPr lang="zh-CN" sz="2550" spc="225">
              <a:solidFill>
                <a:srgbClr val="F7F4EC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231" name="Rectangle 230"/>
          <p:cNvSpPr/>
          <p:nvPr/>
        </p:nvSpPr>
        <p:spPr>
          <a:xfrm>
            <a:off x="723900" y="914400"/>
            <a:ext cx="514350" cy="9525"/>
          </a:xfrm>
          <a:prstGeom prst="rect">
            <a:avLst/>
          </a:prstGeom>
          <a:solidFill>
            <a:srgbClr val="C9A24B">
              <a:alpha val="55000"/>
            </a:srgbClr>
          </a:solidFill>
        </p:spPr>
        <p:txBody>
          <a:bodyPr/>
          <a:p/>
        </p:txBody>
      </p:sp>
      <p:sp>
        <p:nvSpPr>
          <p:cNvPr id="232" name="Text Box 231" descr="{&quot;isTemplate&quot;:true,&quot;type&quot;:&quot;text&quot;}"/>
          <p:cNvSpPr txBox="1"/>
          <p:nvPr/>
        </p:nvSpPr>
        <p:spPr>
          <a:xfrm>
            <a:off x="723900" y="1123950"/>
            <a:ext cx="6858000" cy="714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3450" spc="150">
                <a:solidFill>
                  <a:srgbClr val="F7F4EC"/>
                </a:solidFill>
                <a:latin typeface="Songti SC" panose="02010800040101010101" charset="-122"/>
                <a:ea typeface="Songti SC" panose="02010800040101010101" charset="-122"/>
              </a:rPr>
              <a:t>不是规划，</a:t>
            </a:r>
            <a:r>
              <a:rPr lang="zh-CN" sz="3450" spc="150">
                <a:solidFill>
                  <a:srgbClr val="F7F4EC"/>
                </a:solidFill>
                <a:latin typeface="Songti SC" panose="02010800040101010101" charset="-122"/>
                <a:ea typeface="Songti SC" panose="02010800040101010101" charset="-122"/>
              </a:rPr>
              <a:t>是已经能打开的东西。</a:t>
            </a:r>
            <a:endParaRPr lang="zh-CN" sz="3450" spc="150">
              <a:solidFill>
                <a:srgbClr val="F7F4EC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233" name="Text Box 232" descr="{&quot;isTemplate&quot;:true,&quot;type&quot;:&quot;text&quot;}"/>
          <p:cNvSpPr txBox="1"/>
          <p:nvPr/>
        </p:nvSpPr>
        <p:spPr>
          <a:xfrm>
            <a:off x="723900" y="2076450"/>
            <a:ext cx="56769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88">
                <a:solidFill>
                  <a:srgbClr val="7E9B9B"/>
                </a:solidFill>
                <a:latin typeface="PingFang SC" panose="020B0400000000000000" charset="-122"/>
                <a:ea typeface="PingFang SC" panose="020B0400000000000000" charset="-122"/>
              </a:rPr>
              <a:t>已</a:t>
            </a:r>
            <a:r>
              <a:rPr lang="en-US" sz="900" spc="188">
                <a:solidFill>
                  <a:srgbClr val="7E9B9B"/>
                </a:solidFill>
                <a:latin typeface="PingFang SC" panose="020B0400000000000000" charset="-122"/>
                <a:ea typeface="PingFang SC" panose="020B0400000000000000" charset="-122"/>
              </a:rPr>
              <a:t> </a:t>
            </a:r>
            <a:r>
              <a:rPr lang="zh-CN" sz="900" spc="188">
                <a:solidFill>
                  <a:srgbClr val="7E9B9B"/>
                </a:solidFill>
                <a:latin typeface="PingFang SC" panose="020B0400000000000000" charset="-122"/>
                <a:ea typeface="PingFang SC" panose="020B0400000000000000" charset="-122"/>
              </a:rPr>
              <a:t>上</a:t>
            </a:r>
            <a:r>
              <a:rPr lang="en-US" sz="900" spc="188">
                <a:solidFill>
                  <a:srgbClr val="7E9B9B"/>
                </a:solidFill>
                <a:latin typeface="PingFang SC" panose="020B0400000000000000" charset="-122"/>
                <a:ea typeface="PingFang SC" panose="020B0400000000000000" charset="-122"/>
              </a:rPr>
              <a:t> </a:t>
            </a:r>
            <a:r>
              <a:rPr lang="zh-CN" sz="900" spc="188">
                <a:solidFill>
                  <a:srgbClr val="7E9B9B"/>
                </a:solidFill>
                <a:latin typeface="PingFang SC" panose="020B0400000000000000" charset="-122"/>
                <a:ea typeface="PingFang SC" panose="020B0400000000000000" charset="-122"/>
              </a:rPr>
              <a:t>线</a:t>
            </a:r>
            <a:endParaRPr lang="zh-CN" sz="900" spc="188">
              <a:solidFill>
                <a:srgbClr val="7E9B9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4" name="Text Box 233" descr="{&quot;isTemplate&quot;:true,&quot;type&quot;:&quot;text&quot;}"/>
          <p:cNvSpPr txBox="1"/>
          <p:nvPr/>
        </p:nvSpPr>
        <p:spPr>
          <a:xfrm>
            <a:off x="723900" y="2352675"/>
            <a:ext cx="266700" cy="409575"/>
          </a:xfrm>
          <a:prstGeom prst="rect">
            <a:avLst/>
          </a:prstGeom>
        </p:spPr>
        <p:txBody>
          <a:bodyPr wrap="none" lIns="0" tIns="21431" rIns="0" bIns="0"/>
          <a:p>
            <a:pPr>
              <a:lnSpc>
                <a:spcPct val="100000"/>
              </a:lnSpc>
            </a:pPr>
            <a:r>
              <a:rPr lang="en-US" sz="865">
                <a:solidFill>
                  <a:srgbClr val="C9A24B"/>
                </a:solidFill>
                <a:latin typeface="Helvetica Neue" panose="02000503000000020004"/>
                <a:ea typeface="Helvetica Neue" panose="02000503000000020004"/>
              </a:rPr>
              <a:t>01</a:t>
            </a:r>
            <a:endParaRPr lang="en-US" sz="865">
              <a:solidFill>
                <a:srgbClr val="C9A24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35" name="Text Box 234" descr="{&quot;isTemplate&quot;:true,&quot;type&quot;:&quot;text&quot;}"/>
          <p:cNvSpPr txBox="1"/>
          <p:nvPr/>
        </p:nvSpPr>
        <p:spPr>
          <a:xfrm>
            <a:off x="990600" y="2352675"/>
            <a:ext cx="5410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90" spc="38">
                <a:solidFill>
                  <a:srgbClr val="F7F4EC"/>
                </a:solidFill>
                <a:latin typeface="PingFang SC" panose="020B0400000000000000" charset="-122"/>
                <a:ea typeface="PingFang SC" panose="020B0400000000000000" charset="-122"/>
              </a:rPr>
              <a:t>四步旅程已跑通</a:t>
            </a:r>
            <a:endParaRPr lang="zh-CN" sz="1090" spc="38">
              <a:solidFill>
                <a:srgbClr val="F7F4E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6" name="Text Box 235" descr="{&quot;isTemplate&quot;:true,&quot;type&quot;:&quot;text&quot;}"/>
          <p:cNvSpPr txBox="1"/>
          <p:nvPr/>
        </p:nvSpPr>
        <p:spPr>
          <a:xfrm>
            <a:off x="990600" y="2552700"/>
            <a:ext cx="5410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65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封面</a:t>
            </a:r>
            <a:r>
              <a:rPr lang="en-US" sz="865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 → </a:t>
            </a:r>
            <a:r>
              <a:rPr lang="zh-CN" sz="865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认河</a:t>
            </a:r>
            <a:r>
              <a:rPr lang="en-US" sz="865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 → </a:t>
            </a:r>
            <a:r>
              <a:rPr lang="zh-CN" sz="865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建档</a:t>
            </a:r>
            <a:r>
              <a:rPr lang="en-US" sz="865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 → </a:t>
            </a:r>
            <a:r>
              <a:rPr lang="zh-CN" sz="865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护照</a:t>
            </a:r>
            <a:r>
              <a:rPr lang="en-US" sz="865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 → </a:t>
            </a:r>
            <a:r>
              <a:rPr lang="zh-CN" sz="865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岔路，全链路线上可走，无需下载</a:t>
            </a:r>
            <a:endParaRPr lang="zh-CN" sz="865">
              <a:solidFill>
                <a:srgbClr val="8FB0AE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7" name="Text Box 236" descr="{&quot;isTemplate&quot;:true,&quot;type&quot;:&quot;text&quot;}"/>
          <p:cNvSpPr txBox="1"/>
          <p:nvPr/>
        </p:nvSpPr>
        <p:spPr>
          <a:xfrm>
            <a:off x="723900" y="2895600"/>
            <a:ext cx="266700" cy="409575"/>
          </a:xfrm>
          <a:prstGeom prst="rect">
            <a:avLst/>
          </a:prstGeom>
        </p:spPr>
        <p:txBody>
          <a:bodyPr wrap="none" lIns="0" tIns="21431" rIns="0" bIns="0"/>
          <a:p>
            <a:pPr>
              <a:lnSpc>
                <a:spcPct val="100000"/>
              </a:lnSpc>
            </a:pPr>
            <a:r>
              <a:rPr lang="en-US" sz="865">
                <a:solidFill>
                  <a:srgbClr val="C9A24B"/>
                </a:solidFill>
                <a:latin typeface="Helvetica Neue" panose="02000503000000020004"/>
                <a:ea typeface="Helvetica Neue" panose="02000503000000020004"/>
              </a:rPr>
              <a:t>02</a:t>
            </a:r>
            <a:endParaRPr lang="en-US" sz="865">
              <a:solidFill>
                <a:srgbClr val="C9A24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38" name="Text Box 237" descr="{&quot;isTemplate&quot;:true,&quot;type&quot;:&quot;text&quot;}"/>
          <p:cNvSpPr txBox="1"/>
          <p:nvPr/>
        </p:nvSpPr>
        <p:spPr>
          <a:xfrm>
            <a:off x="990600" y="2895600"/>
            <a:ext cx="5410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90" spc="38">
                <a:solidFill>
                  <a:srgbClr val="F7F4EC"/>
                </a:solidFill>
                <a:latin typeface="PingFang SC" panose="020B0400000000000000" charset="-122"/>
                <a:ea typeface="PingFang SC" panose="020B0400000000000000" charset="-122"/>
              </a:rPr>
              <a:t>上岗培训已成型</a:t>
            </a:r>
            <a:endParaRPr lang="zh-CN" sz="1090" spc="38">
              <a:solidFill>
                <a:srgbClr val="F7F4E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9" name="Text Box 238" descr="{&quot;isTemplate&quot;:true,&quot;type&quot;:&quot;text&quot;}"/>
          <p:cNvSpPr txBox="1"/>
          <p:nvPr/>
        </p:nvSpPr>
        <p:spPr>
          <a:xfrm>
            <a:off x="990600" y="3095625"/>
            <a:ext cx="5410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65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十座闸的题库，</a:t>
            </a:r>
            <a:r>
              <a:rPr lang="en-US" sz="865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6 </a:t>
            </a:r>
            <a:r>
              <a:rPr lang="zh-CN" sz="865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题答对</a:t>
            </a:r>
            <a:r>
              <a:rPr lang="en-US" sz="865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 4 </a:t>
            </a:r>
            <a:r>
              <a:rPr lang="zh-CN" sz="865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题过关；卡住时可点「给点提示」，看过提示不计连击</a:t>
            </a:r>
            <a:endParaRPr lang="zh-CN" sz="865">
              <a:solidFill>
                <a:srgbClr val="8FB0AE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0" name="Text Box 239" descr="{&quot;isTemplate&quot;:true,&quot;type&quot;:&quot;text&quot;}"/>
          <p:cNvSpPr txBox="1"/>
          <p:nvPr/>
        </p:nvSpPr>
        <p:spPr>
          <a:xfrm>
            <a:off x="723900" y="3438525"/>
            <a:ext cx="266700" cy="409575"/>
          </a:xfrm>
          <a:prstGeom prst="rect">
            <a:avLst/>
          </a:prstGeom>
        </p:spPr>
        <p:txBody>
          <a:bodyPr wrap="none" lIns="0" tIns="21431" rIns="0" bIns="0"/>
          <a:p>
            <a:pPr>
              <a:lnSpc>
                <a:spcPct val="100000"/>
              </a:lnSpc>
            </a:pPr>
            <a:r>
              <a:rPr lang="en-US" sz="865">
                <a:solidFill>
                  <a:srgbClr val="C9A24B"/>
                </a:solidFill>
                <a:latin typeface="Helvetica Neue" panose="02000503000000020004"/>
                <a:ea typeface="Helvetica Neue" panose="02000503000000020004"/>
              </a:rPr>
              <a:t>03</a:t>
            </a:r>
            <a:endParaRPr lang="en-US" sz="865">
              <a:solidFill>
                <a:srgbClr val="C9A24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41" name="Text Box 240" descr="{&quot;isTemplate&quot;:true,&quot;type&quot;:&quot;text&quot;}"/>
          <p:cNvSpPr txBox="1"/>
          <p:nvPr/>
        </p:nvSpPr>
        <p:spPr>
          <a:xfrm>
            <a:off x="990600" y="3438525"/>
            <a:ext cx="5410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90" spc="38">
                <a:solidFill>
                  <a:srgbClr val="F7F4EC"/>
                </a:solidFill>
                <a:latin typeface="PingFang SC" panose="020B0400000000000000" charset="-122"/>
                <a:ea typeface="PingFang SC" panose="020B0400000000000000" charset="-122"/>
              </a:rPr>
              <a:t>拓印卡已可用</a:t>
            </a:r>
            <a:endParaRPr lang="zh-CN" sz="1090" spc="38">
              <a:solidFill>
                <a:srgbClr val="F7F4E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2" name="Text Box 241" descr="{&quot;isTemplate&quot;:true,&quot;type&quot;:&quot;text&quot;}"/>
          <p:cNvSpPr txBox="1"/>
          <p:nvPr/>
        </p:nvSpPr>
        <p:spPr>
          <a:xfrm>
            <a:off x="990600" y="3638550"/>
            <a:ext cx="5410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65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拍照</a:t>
            </a:r>
            <a:r>
              <a:rPr lang="en-US" sz="865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 → </a:t>
            </a:r>
            <a:r>
              <a:rPr lang="zh-CN" sz="865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服务端转绘</a:t>
            </a:r>
            <a:r>
              <a:rPr lang="en-US" sz="865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 → </a:t>
            </a:r>
            <a:r>
              <a:rPr lang="zh-CN" sz="865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印成一张卡。每张</a:t>
            </a:r>
            <a:r>
              <a:rPr lang="en-US" sz="865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 50 </a:t>
            </a:r>
            <a:r>
              <a:rPr lang="zh-CN" sz="865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积分，生成成功才扣</a:t>
            </a:r>
            <a:endParaRPr lang="zh-CN" sz="865">
              <a:solidFill>
                <a:srgbClr val="8FB0AE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3" name="Text Box 242" descr="{&quot;isTemplate&quot;:true,&quot;type&quot;:&quot;text&quot;}"/>
          <p:cNvSpPr txBox="1"/>
          <p:nvPr/>
        </p:nvSpPr>
        <p:spPr>
          <a:xfrm>
            <a:off x="723900" y="3981450"/>
            <a:ext cx="266700" cy="409575"/>
          </a:xfrm>
          <a:prstGeom prst="rect">
            <a:avLst/>
          </a:prstGeom>
        </p:spPr>
        <p:txBody>
          <a:bodyPr wrap="none" lIns="0" tIns="21431" rIns="0" bIns="0"/>
          <a:p>
            <a:pPr>
              <a:lnSpc>
                <a:spcPct val="100000"/>
              </a:lnSpc>
            </a:pPr>
            <a:r>
              <a:rPr lang="en-US" sz="865">
                <a:solidFill>
                  <a:srgbClr val="C9A24B"/>
                </a:solidFill>
                <a:latin typeface="Helvetica Neue" panose="02000503000000020004"/>
                <a:ea typeface="Helvetica Neue" panose="02000503000000020004"/>
              </a:rPr>
              <a:t>04</a:t>
            </a:r>
            <a:endParaRPr lang="en-US" sz="865">
              <a:solidFill>
                <a:srgbClr val="C9A24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44" name="Text Box 243" descr="{&quot;isTemplate&quot;:true,&quot;type&quot;:&quot;text&quot;}"/>
          <p:cNvSpPr txBox="1"/>
          <p:nvPr/>
        </p:nvSpPr>
        <p:spPr>
          <a:xfrm>
            <a:off x="990600" y="3981450"/>
            <a:ext cx="5410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90" spc="38">
                <a:solidFill>
                  <a:srgbClr val="F7F4EC"/>
                </a:solidFill>
                <a:latin typeface="PingFang SC" panose="020B0400000000000000" charset="-122"/>
                <a:ea typeface="PingFang SC" panose="020B0400000000000000" charset="-122"/>
              </a:rPr>
              <a:t>数据链路已打通</a:t>
            </a:r>
            <a:endParaRPr lang="zh-CN" sz="1090" spc="38">
              <a:solidFill>
                <a:srgbClr val="F7F4E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5" name="Text Box 244" descr="{&quot;isTemplate&quot;:true,&quot;type&quot;:&quot;text&quot;}"/>
          <p:cNvSpPr txBox="1"/>
          <p:nvPr/>
        </p:nvSpPr>
        <p:spPr>
          <a:xfrm>
            <a:off x="990600" y="4181475"/>
            <a:ext cx="5410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65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飞书表</a:t>
            </a:r>
            <a:r>
              <a:rPr lang="en-US" sz="865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 → </a:t>
            </a:r>
            <a:r>
              <a:rPr lang="zh-CN" sz="865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构建脚本</a:t>
            </a:r>
            <a:r>
              <a:rPr lang="en-US" sz="865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 → </a:t>
            </a:r>
            <a:r>
              <a:rPr lang="zh-CN" sz="865">
                <a:solidFill>
                  <a:srgbClr val="8FB0AE"/>
                </a:solidFill>
                <a:latin typeface="PingFang SC" panose="020B0400000000000000" charset="-122"/>
                <a:ea typeface="PingFang SC" panose="020B0400000000000000" charset="-122"/>
              </a:rPr>
              <a:t>产品前台，实测与演示数据分开标注</a:t>
            </a:r>
            <a:endParaRPr lang="zh-CN" sz="865">
              <a:solidFill>
                <a:srgbClr val="8FB0AE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6" name="Rectangle 245"/>
          <p:cNvSpPr/>
          <p:nvPr/>
        </p:nvSpPr>
        <p:spPr>
          <a:xfrm>
            <a:off x="6953250" y="2038350"/>
            <a:ext cx="2286000" cy="2209800"/>
          </a:xfrm>
          <a:prstGeom prst="rect">
            <a:avLst/>
          </a:prstGeom>
          <a:ln w="12700">
            <a:solidFill>
              <a:srgbClr val="C9A24B">
                <a:alpha val="2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47" name="Picture 246" descr="/Users/carachen/Downloads/xhg.pngxhg"/>
          <p:cNvPicPr>
            <a:picLocks noChangeAspect="1"/>
          </p:cNvPicPr>
          <p:nvPr/>
        </p:nvPicPr>
        <p:blipFill>
          <a:blip r:embed="rId1"/>
          <a:srcRect t="1667" b="1667"/>
          <a:stretch>
            <a:fillRect/>
          </a:stretch>
        </p:blipFill>
        <p:spPr>
          <a:xfrm>
            <a:off x="7017385" y="2082800"/>
            <a:ext cx="2157730" cy="2086610"/>
          </a:xfrm>
          <a:prstGeom prst="rect">
            <a:avLst/>
          </a:prstGeom>
        </p:spPr>
      </p:pic>
      <p:sp>
        <p:nvSpPr>
          <p:cNvPr id="248" name="Text Box 247" descr="{&quot;isTemplate&quot;:true,&quot;type&quot;:&quot;text&quot;}"/>
          <p:cNvSpPr txBox="1"/>
          <p:nvPr/>
        </p:nvSpPr>
        <p:spPr>
          <a:xfrm>
            <a:off x="9525000" y="2038350"/>
            <a:ext cx="19621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88">
                <a:solidFill>
                  <a:srgbClr val="7E9B9B"/>
                </a:solidFill>
                <a:latin typeface="PingFang SC" panose="020B0400000000000000" charset="-122"/>
                <a:ea typeface="PingFang SC" panose="020B0400000000000000" charset="-122"/>
              </a:rPr>
              <a:t>接</a:t>
            </a:r>
            <a:r>
              <a:rPr lang="en-US" sz="900" spc="188">
                <a:solidFill>
                  <a:srgbClr val="7E9B9B"/>
                </a:solidFill>
                <a:latin typeface="PingFang SC" panose="020B0400000000000000" charset="-122"/>
                <a:ea typeface="PingFang SC" panose="020B0400000000000000" charset="-122"/>
              </a:rPr>
              <a:t> </a:t>
            </a:r>
            <a:r>
              <a:rPr lang="zh-CN" sz="900" spc="188">
                <a:solidFill>
                  <a:srgbClr val="7E9B9B"/>
                </a:solidFill>
                <a:latin typeface="PingFang SC" panose="020B0400000000000000" charset="-122"/>
                <a:ea typeface="PingFang SC" panose="020B0400000000000000" charset="-122"/>
              </a:rPr>
              <a:t>下</a:t>
            </a:r>
            <a:r>
              <a:rPr lang="en-US" sz="900" spc="188">
                <a:solidFill>
                  <a:srgbClr val="7E9B9B"/>
                </a:solidFill>
                <a:latin typeface="PingFang SC" panose="020B0400000000000000" charset="-122"/>
                <a:ea typeface="PingFang SC" panose="020B0400000000000000" charset="-122"/>
              </a:rPr>
              <a:t> </a:t>
            </a:r>
            <a:r>
              <a:rPr lang="zh-CN" sz="900" spc="188">
                <a:solidFill>
                  <a:srgbClr val="7E9B9B"/>
                </a:solidFill>
                <a:latin typeface="PingFang SC" panose="020B0400000000000000" charset="-122"/>
                <a:ea typeface="PingFang SC" panose="020B0400000000000000" charset="-122"/>
              </a:rPr>
              <a:t>来</a:t>
            </a:r>
            <a:r>
              <a:rPr lang="en-US" sz="900" spc="188">
                <a:solidFill>
                  <a:srgbClr val="7E9B9B"/>
                </a:solidFill>
                <a:latin typeface="PingFang SC" panose="020B0400000000000000" charset="-122"/>
                <a:ea typeface="PingFang SC" panose="020B0400000000000000" charset="-122"/>
              </a:rPr>
              <a:t> 9 0 </a:t>
            </a:r>
            <a:r>
              <a:rPr lang="zh-CN" sz="900" spc="188">
                <a:solidFill>
                  <a:srgbClr val="7E9B9B"/>
                </a:solidFill>
                <a:latin typeface="PingFang SC" panose="020B0400000000000000" charset="-122"/>
                <a:ea typeface="PingFang SC" panose="020B0400000000000000" charset="-122"/>
              </a:rPr>
              <a:t>天</a:t>
            </a:r>
            <a:endParaRPr lang="zh-CN" sz="900" spc="188">
              <a:solidFill>
                <a:srgbClr val="7E9B9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9" name="Rectangle 248"/>
          <p:cNvSpPr/>
          <p:nvPr/>
        </p:nvSpPr>
        <p:spPr>
          <a:xfrm>
            <a:off x="9525000" y="2314575"/>
            <a:ext cx="323850" cy="9525"/>
          </a:xfrm>
          <a:prstGeom prst="rect">
            <a:avLst/>
          </a:prstGeom>
          <a:solidFill>
            <a:srgbClr val="C9A24B">
              <a:alpha val="50000"/>
            </a:srgbClr>
          </a:solidFill>
        </p:spPr>
        <p:txBody>
          <a:bodyPr/>
          <a:p/>
        </p:txBody>
      </p:sp>
      <p:sp>
        <p:nvSpPr>
          <p:cNvPr id="250" name="Rounded Rectangle 249"/>
          <p:cNvSpPr/>
          <p:nvPr/>
        </p:nvSpPr>
        <p:spPr>
          <a:xfrm>
            <a:off x="9525000" y="2524125"/>
            <a:ext cx="38100" cy="38100"/>
          </a:xfrm>
          <a:prstGeom prst="roundRect">
            <a:avLst>
              <a:gd name="adj" fmla="val 50000"/>
            </a:avLst>
          </a:prstGeom>
          <a:solidFill>
            <a:srgbClr val="C9A24B"/>
          </a:solidFill>
        </p:spPr>
        <p:txBody>
          <a:bodyPr/>
          <a:p/>
        </p:txBody>
      </p:sp>
      <p:sp>
        <p:nvSpPr>
          <p:cNvPr id="251" name="Text Box 250" descr="{&quot;isTemplate&quot;:true,&quot;type&quot;:&quot;text&quot;}"/>
          <p:cNvSpPr txBox="1"/>
          <p:nvPr/>
        </p:nvSpPr>
        <p:spPr>
          <a:xfrm>
            <a:off x="9648825" y="2447925"/>
            <a:ext cx="18383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75">
                <a:solidFill>
                  <a:srgbClr val="DCE7E4"/>
                </a:solidFill>
                <a:latin typeface="PingFang SC" panose="020B0400000000000000" charset="-122"/>
                <a:ea typeface="PingFang SC" panose="020B0400000000000000" charset="-122"/>
              </a:rPr>
              <a:t>一段河（</a:t>
            </a:r>
            <a:r>
              <a:rPr lang="en-US" sz="975">
                <a:solidFill>
                  <a:srgbClr val="DCE7E4"/>
                </a:solidFill>
                <a:latin typeface="PingFang SC" panose="020B0400000000000000" charset="-122"/>
                <a:ea typeface="PingFang SC" panose="020B0400000000000000" charset="-122"/>
              </a:rPr>
              <a:t>1 </a:t>
            </a:r>
            <a:r>
              <a:rPr lang="zh-CN" sz="975">
                <a:solidFill>
                  <a:srgbClr val="DCE7E4"/>
                </a:solidFill>
                <a:latin typeface="PingFang SC" panose="020B0400000000000000" charset="-122"/>
                <a:ea typeface="PingFang SC" panose="020B0400000000000000" charset="-122"/>
              </a:rPr>
              <a:t>公里）</a:t>
            </a:r>
            <a:endParaRPr lang="zh-CN" sz="975">
              <a:solidFill>
                <a:srgbClr val="DCE7E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52" name="Rounded Rectangle 251"/>
          <p:cNvSpPr/>
          <p:nvPr/>
        </p:nvSpPr>
        <p:spPr>
          <a:xfrm>
            <a:off x="9525000" y="2895600"/>
            <a:ext cx="38100" cy="38100"/>
          </a:xfrm>
          <a:prstGeom prst="roundRect">
            <a:avLst>
              <a:gd name="adj" fmla="val 50000"/>
            </a:avLst>
          </a:prstGeom>
          <a:solidFill>
            <a:srgbClr val="C9A24B"/>
          </a:solidFill>
        </p:spPr>
        <p:txBody>
          <a:bodyPr/>
          <a:p/>
        </p:txBody>
      </p:sp>
      <p:sp>
        <p:nvSpPr>
          <p:cNvPr id="253" name="Text Box 252" descr="{&quot;isTemplate&quot;:true,&quot;type&quot;:&quot;text&quot;}"/>
          <p:cNvSpPr txBox="1"/>
          <p:nvPr/>
        </p:nvSpPr>
        <p:spPr>
          <a:xfrm>
            <a:off x="9648825" y="2819400"/>
            <a:ext cx="18383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75">
                <a:solidFill>
                  <a:srgbClr val="DCE7E4"/>
                </a:solidFill>
                <a:latin typeface="PingFang SC" panose="020B0400000000000000" charset="-122"/>
                <a:ea typeface="PingFang SC" panose="020B0400000000000000" charset="-122"/>
              </a:rPr>
              <a:t>一所学校</a:t>
            </a:r>
            <a:endParaRPr lang="zh-CN" sz="975">
              <a:solidFill>
                <a:srgbClr val="DCE7E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54" name="Rounded Rectangle 253"/>
          <p:cNvSpPr/>
          <p:nvPr/>
        </p:nvSpPr>
        <p:spPr>
          <a:xfrm>
            <a:off x="9525000" y="3267075"/>
            <a:ext cx="38100" cy="38100"/>
          </a:xfrm>
          <a:prstGeom prst="roundRect">
            <a:avLst>
              <a:gd name="adj" fmla="val 50000"/>
            </a:avLst>
          </a:prstGeom>
          <a:solidFill>
            <a:srgbClr val="C9A24B"/>
          </a:solidFill>
        </p:spPr>
        <p:txBody>
          <a:bodyPr/>
          <a:p/>
        </p:txBody>
      </p:sp>
      <p:sp>
        <p:nvSpPr>
          <p:cNvPr id="255" name="Text Box 254" descr="{&quot;isTemplate&quot;:true,&quot;type&quot;:&quot;text&quot;}"/>
          <p:cNvSpPr txBox="1"/>
          <p:nvPr/>
        </p:nvSpPr>
        <p:spPr>
          <a:xfrm>
            <a:off x="9648825" y="3190875"/>
            <a:ext cx="18383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75">
                <a:solidFill>
                  <a:srgbClr val="DCE7E4"/>
                </a:solidFill>
                <a:latin typeface="PingFang SC" panose="020B0400000000000000" charset="-122"/>
                <a:ea typeface="PingFang SC" panose="020B0400000000000000" charset="-122"/>
              </a:rPr>
              <a:t>一份开放的季节数据集</a:t>
            </a:r>
            <a:endParaRPr lang="zh-CN" sz="975">
              <a:solidFill>
                <a:srgbClr val="DCE7E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56" name="Rectangle 255"/>
          <p:cNvSpPr/>
          <p:nvPr/>
        </p:nvSpPr>
        <p:spPr>
          <a:xfrm>
            <a:off x="723900" y="4476750"/>
            <a:ext cx="10744200" cy="9525"/>
          </a:xfrm>
          <a:prstGeom prst="rect">
            <a:avLst/>
          </a:prstGeom>
          <a:solidFill>
            <a:srgbClr val="C9A24B">
              <a:alpha val="24000"/>
            </a:srgbClr>
          </a:solidFill>
        </p:spPr>
        <p:txBody>
          <a:bodyPr/>
          <a:p/>
        </p:txBody>
      </p:sp>
      <p:sp>
        <p:nvSpPr>
          <p:cNvPr id="257" name="Text Box 256" descr="{&quot;isTemplate&quot;:true,&quot;type&quot;:&quot;text&quot;}"/>
          <p:cNvSpPr txBox="1"/>
          <p:nvPr/>
        </p:nvSpPr>
        <p:spPr>
          <a:xfrm>
            <a:off x="723900" y="4610100"/>
            <a:ext cx="7239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865">
                <a:solidFill>
                  <a:srgbClr val="6E8B8B"/>
                </a:solidFill>
                <a:latin typeface="PingFang SC" panose="020B0400000000000000" charset="-122"/>
                <a:ea typeface="PingFang SC" panose="020B0400000000000000" charset="-122"/>
              </a:rPr>
              <a:t>※ </a:t>
            </a:r>
            <a:r>
              <a:rPr lang="zh-CN" sz="865">
                <a:solidFill>
                  <a:srgbClr val="6E8B8B"/>
                </a:solidFill>
                <a:latin typeface="PingFang SC" panose="020B0400000000000000" charset="-122"/>
                <a:ea typeface="PingFang SC" panose="020B0400000000000000" charset="-122"/>
              </a:rPr>
              <a:t>表内</a:t>
            </a:r>
            <a:r>
              <a:rPr lang="en-US" sz="865">
                <a:solidFill>
                  <a:srgbClr val="6E8B8B"/>
                </a:solidFill>
                <a:latin typeface="PingFang SC" panose="020B0400000000000000" charset="-122"/>
                <a:ea typeface="PingFang SC" panose="020B0400000000000000" charset="-122"/>
              </a:rPr>
              <a:t> 6 </a:t>
            </a:r>
            <a:r>
              <a:rPr lang="zh-CN" sz="865">
                <a:solidFill>
                  <a:srgbClr val="6E8B8B"/>
                </a:solidFill>
                <a:latin typeface="PingFang SC" panose="020B0400000000000000" charset="-122"/>
                <a:ea typeface="PingFang SC" panose="020B0400000000000000" charset="-122"/>
              </a:rPr>
              <a:t>条记录的照片为素材占位，用于跑通链路，不作实测证据；真实实测待</a:t>
            </a:r>
            <a:r>
              <a:rPr lang="en-US" sz="865">
                <a:solidFill>
                  <a:srgbClr val="6E8B8B"/>
                </a:solidFill>
                <a:latin typeface="PingFang SC" panose="020B0400000000000000" charset="-122"/>
                <a:ea typeface="PingFang SC" panose="020B0400000000000000" charset="-122"/>
              </a:rPr>
              <a:t> P0 </a:t>
            </a:r>
            <a:r>
              <a:rPr lang="zh-CN" sz="865">
                <a:solidFill>
                  <a:srgbClr val="6E8B8B"/>
                </a:solidFill>
                <a:latin typeface="PingFang SC" panose="020B0400000000000000" charset="-122"/>
                <a:ea typeface="PingFang SC" panose="020B0400000000000000" charset="-122"/>
              </a:rPr>
              <a:t>阶段带孩子到河岸后替换。</a:t>
            </a:r>
            <a:endParaRPr lang="zh-CN" sz="865">
              <a:solidFill>
                <a:srgbClr val="6E8B8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58" name="Text Box 257" descr="{&quot;isTemplate&quot;:true,&quot;type&quot;:&quot;text&quot;}"/>
          <p:cNvSpPr txBox="1"/>
          <p:nvPr/>
        </p:nvSpPr>
        <p:spPr>
          <a:xfrm>
            <a:off x="723900" y="5257800"/>
            <a:ext cx="579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2250" spc="150">
                <a:solidFill>
                  <a:srgbClr val="F7F4EC"/>
                </a:solidFill>
                <a:latin typeface="Songti SC" panose="02010800040101010101" charset="-122"/>
                <a:ea typeface="Songti SC" panose="02010800040101010101" charset="-122"/>
              </a:rPr>
              <a:t>一条河不需要更多赞美。它需要更多记录。</a:t>
            </a:r>
            <a:endParaRPr lang="zh-CN" sz="2250" spc="150">
              <a:solidFill>
                <a:srgbClr val="F7F4EC"/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259" name="Text Box 258" descr="{&quot;isTemplate&quot;:true,&quot;type&quot;:&quot;text&quot;}"/>
          <p:cNvSpPr txBox="1"/>
          <p:nvPr/>
        </p:nvSpPr>
        <p:spPr>
          <a:xfrm>
            <a:off x="723900" y="6591300"/>
            <a:ext cx="31432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13">
                <a:solidFill>
                  <a:srgbClr val="4E7476"/>
                </a:solidFill>
                <a:latin typeface="PingFang SC" panose="020B0400000000000000" charset="-122"/>
                <a:ea typeface="PingFang SC" panose="020B0400000000000000" charset="-122"/>
              </a:rPr>
              <a:t>小小河工</a:t>
            </a:r>
            <a:r>
              <a:rPr lang="en-US" sz="900" spc="113">
                <a:solidFill>
                  <a:srgbClr val="4E7476"/>
                </a:solidFill>
                <a:latin typeface="PingFang SC" panose="020B0400000000000000" charset="-122"/>
                <a:ea typeface="PingFang SC" panose="020B0400000000000000" charset="-122"/>
              </a:rPr>
              <a:t> · AI+ </a:t>
            </a:r>
            <a:r>
              <a:rPr lang="zh-CN" sz="900" spc="113">
                <a:solidFill>
                  <a:srgbClr val="4E7476"/>
                </a:solidFill>
                <a:latin typeface="PingFang SC" panose="020B0400000000000000" charset="-122"/>
                <a:ea typeface="PingFang SC" panose="020B0400000000000000" charset="-122"/>
              </a:rPr>
              <a:t>公民河流教育计划　·　首站</a:t>
            </a:r>
            <a:r>
              <a:rPr lang="en-US" sz="900" spc="113">
                <a:solidFill>
                  <a:srgbClr val="4E7476"/>
                </a:solidFill>
                <a:latin typeface="PingFang SC" panose="020B0400000000000000" charset="-122"/>
                <a:ea typeface="PingFang SC" panose="020B0400000000000000" charset="-122"/>
              </a:rPr>
              <a:t> </a:t>
            </a:r>
            <a:r>
              <a:rPr lang="zh-CN" sz="900" spc="113">
                <a:solidFill>
                  <a:srgbClr val="4E7476"/>
                </a:solidFill>
                <a:latin typeface="PingFang SC" panose="020B0400000000000000" charset="-122"/>
                <a:ea typeface="PingFang SC" panose="020B0400000000000000" charset="-122"/>
              </a:rPr>
              <a:t>北京清河</a:t>
            </a:r>
            <a:endParaRPr lang="zh-CN" sz="900" spc="113">
              <a:solidFill>
                <a:srgbClr val="4E747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60" name="Text Box 259" descr="{&quot;isTemplate&quot;:true,&quot;type&quot;:&quot;text&quot;}"/>
          <p:cNvSpPr txBox="1"/>
          <p:nvPr/>
        </p:nvSpPr>
        <p:spPr>
          <a:xfrm>
            <a:off x="10668000" y="6591300"/>
            <a:ext cx="504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13">
                <a:solidFill>
                  <a:srgbClr val="4E7476"/>
                </a:solidFill>
                <a:latin typeface="PingFang SC" panose="020B0400000000000000" charset="-122"/>
                <a:ea typeface="PingFang SC" panose="020B0400000000000000" charset="-122"/>
              </a:rPr>
              <a:t>06 / 06</a:t>
            </a:r>
            <a:endParaRPr lang="en-US" sz="900" spc="113">
              <a:solidFill>
                <a:srgbClr val="4E747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" name="Text Box 1" descr="{&quot;isTemplate&quot;:true,&quot;type&quot;:&quot;text&quot;}"/>
          <p:cNvSpPr txBox="1"/>
          <p:nvPr/>
        </p:nvSpPr>
        <p:spPr>
          <a:xfrm>
            <a:off x="9525000" y="3907155"/>
            <a:ext cx="18383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altLang="zh-CN" sz="975">
                <a:solidFill>
                  <a:srgbClr val="DCE7E4"/>
                </a:solidFill>
                <a:latin typeface="PingFang SC" panose="020B0400000000000000" charset="-122"/>
                <a:ea typeface="PingFang SC" panose="020B0400000000000000" charset="-122"/>
              </a:rPr>
              <a:t>&lt; &lt; </a:t>
            </a:r>
            <a:r>
              <a:rPr lang="zh-CN" altLang="en-US" sz="975">
                <a:solidFill>
                  <a:srgbClr val="DCE7E4"/>
                </a:solidFill>
                <a:latin typeface="PingFang SC" panose="020B0400000000000000" charset="-122"/>
                <a:ea typeface="PingFang SC" panose="020B0400000000000000" charset="-122"/>
              </a:rPr>
              <a:t>扫码</a:t>
            </a:r>
            <a:r>
              <a:rPr lang="zh-CN" altLang="en-US" sz="975">
                <a:solidFill>
                  <a:srgbClr val="DCE7E4"/>
                </a:solidFill>
                <a:latin typeface="PingFang SC" panose="020B0400000000000000" charset="-122"/>
                <a:ea typeface="PingFang SC" panose="020B0400000000000000" charset="-122"/>
              </a:rPr>
              <a:t>体验</a:t>
            </a:r>
            <a:endParaRPr lang="zh-CN" altLang="en-US" sz="975">
              <a:solidFill>
                <a:srgbClr val="DCE7E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1.5,&quot;left&quot;:57,&quot;top&quot;:133.5,&quot;width&quot;:846.75}"/>
</p:tagLst>
</file>

<file path=ppt/tags/tag2.xml><?xml version="1.0" encoding="utf-8"?>
<p:tagLst xmlns:p="http://schemas.openxmlformats.org/presentationml/2006/main">
  <p:tag name="KSO_WM_DIAGRAM_VIRTUALLY_FRAME" val="{&quot;height&quot;:301.5,&quot;left&quot;:57,&quot;top&quot;:133.5,&quot;width&quot;:846.75}"/>
</p:tagLst>
</file>

<file path=ppt/tags/tag3.xml><?xml version="1.0" encoding="utf-8"?>
<p:tagLst xmlns:p="http://schemas.openxmlformats.org/presentationml/2006/main">
  <p:tag name="KSO_WM_DIAGRAM_VIRTUALLY_FRAME" val="{&quot;height&quot;:301.5,&quot;left&quot;:57,&quot;top&quot;:133.5,&quot;width&quot;:846.75}"/>
</p:tagLst>
</file>

<file path=ppt/tags/tag4.xml><?xml version="1.0" encoding="utf-8"?>
<p:tagLst xmlns:p="http://schemas.openxmlformats.org/presentationml/2006/main">
  <p:tag name="KSO_WM_DIAGRAM_VIRTUALLY_FRAME" val="{&quot;height&quot;:301.5,&quot;left&quot;:57,&quot;top&quot;:133.5,&quot;width&quot;:846.75}"/>
</p:tagLst>
</file>

<file path=ppt/tags/tag5.xml><?xml version="1.0" encoding="utf-8"?>
<p:tagLst xmlns:p="http://schemas.openxmlformats.org/presentationml/2006/main">
  <p:tag name="KSO_WM_DIAGRAM_VIRTUALLY_FRAME" val="{&quot;height&quot;:301.5,&quot;left&quot;:57,&quot;top&quot;:133.5,&quot;width&quot;:846.75}"/>
</p:tagLst>
</file>

<file path=ppt/tags/tag6.xml><?xml version="1.0" encoding="utf-8"?>
<p:tagLst xmlns:p="http://schemas.openxmlformats.org/presentationml/2006/main">
  <p:tag name="KSO_WM_DIAGRAM_VIRTUALLY_FRAME" val="{&quot;height&quot;:301.5,&quot;left&quot;:57,&quot;top&quot;:133.5,&quot;width&quot;:846.75}"/>
</p:tagLst>
</file>

<file path=ppt/tags/tag7.xml><?xml version="1.0" encoding="utf-8"?>
<p:tagLst xmlns:p="http://schemas.openxmlformats.org/presentationml/2006/main">
  <p:tag name="KSO_WM_DIAGRAM_VIRTUALLY_FRAME" val="{&quot;height&quot;:301.5,&quot;left&quot;:57,&quot;top&quot;:133.5,&quot;width&quot;:846.75}"/>
</p:tagLst>
</file>

<file path=ppt/tags/tag8.xml><?xml version="1.0" encoding="utf-8"?>
<p:tagLst xmlns:p="http://schemas.openxmlformats.org/presentationml/2006/main">
  <p:tag name="KSO_WM_DIAGRAM_VIRTUALLY_FRAME" val="{&quot;height&quot;:301.5,&quot;left&quot;:57,&quot;top&quot;:133.5,&quot;width&quot;:846.75}"/>
</p:tagLst>
</file>

<file path=ppt/tags/tag9.xml><?xml version="1.0" encoding="utf-8"?>
<p:tagLst xmlns:p="http://schemas.openxmlformats.org/presentationml/2006/main">
  <p:tag name="KSO_WM_DIAGRAM_VIRTUALLY_FRAME" val="{&quot;height&quot;:301.5,&quot;left&quot;:57,&quot;top&quot;:133.5,&quot;width&quot;:846.75}"/>
</p:tagLst>
</file>

<file path=ppt/tags/tag10.xml><?xml version="1.0" encoding="utf-8"?>
<p:tagLst xmlns:p="http://schemas.openxmlformats.org/presentationml/2006/main">
  <p:tag name="KSO_WM_DIAGRAM_VIRTUALLY_FRAME" val="{&quot;height&quot;:301.5,&quot;left&quot;:57,&quot;top&quot;:133.5,&quot;width&quot;:846.75}"/>
</p:tagLst>
</file>

<file path=ppt/tags/tag11.xml><?xml version="1.0" encoding="utf-8"?>
<p:tagLst xmlns:p="http://schemas.openxmlformats.org/presentationml/2006/main">
  <p:tag name="KSO_WM_DIAGRAM_VIRTUALLY_FRAME" val="{&quot;height&quot;:301.5,&quot;left&quot;:57,&quot;top&quot;:133.5,&quot;width&quot;:846.75}"/>
</p:tagLst>
</file>

<file path=ppt/tags/tag12.xml><?xml version="1.0" encoding="utf-8"?>
<p:tagLst xmlns:p="http://schemas.openxmlformats.org/presentationml/2006/main">
  <p:tag name="KSO_WM_DIAGRAM_VIRTUALLY_FRAME" val="{&quot;height&quot;:301.5,&quot;left&quot;:57,&quot;top&quot;:133.5,&quot;width&quot;:846.75}"/>
</p:tagLst>
</file>

<file path=ppt/tags/tag13.xml><?xml version="1.0" encoding="utf-8"?>
<p:tagLst xmlns:p="http://schemas.openxmlformats.org/presentationml/2006/main">
  <p:tag name="KSO_WM_DIAGRAM_VIRTUALLY_FRAME" val="{&quot;height&quot;:301.5,&quot;left&quot;:57,&quot;top&quot;:133.5,&quot;width&quot;:846.75}"/>
</p:tagLst>
</file>

<file path=ppt/tags/tag14.xml><?xml version="1.0" encoding="utf-8"?>
<p:tagLst xmlns:p="http://schemas.openxmlformats.org/presentationml/2006/main">
  <p:tag name="KSO_WM_DIAGRAM_VIRTUALLY_FRAME" val="{&quot;height&quot;:301.5,&quot;left&quot;:57,&quot;top&quot;:133.5,&quot;width&quot;:846.75}"/>
</p:tagLst>
</file>

<file path=ppt/tags/tag15.xml><?xml version="1.0" encoding="utf-8"?>
<p:tagLst xmlns:p="http://schemas.openxmlformats.org/presentationml/2006/main">
  <p:tag name="KSO_WM_DIAGRAM_VIRTUALLY_FRAME" val="{&quot;height&quot;:301.5,&quot;left&quot;:57,&quot;top&quot;:133.5,&quot;width&quot;:846.75}"/>
</p:tagLst>
</file>

<file path=ppt/tags/tag16.xml><?xml version="1.0" encoding="utf-8"?>
<p:tagLst xmlns:p="http://schemas.openxmlformats.org/presentationml/2006/main">
  <p:tag name="KSO_WM_DIAGRAM_VIRTUALLY_FRAME" val="{&quot;height&quot;:301.5,&quot;left&quot;:57,&quot;top&quot;:133.5,&quot;width&quot;:846.75}"/>
</p:tagLst>
</file>

<file path=ppt/tags/tag17.xml><?xml version="1.0" encoding="utf-8"?>
<p:tagLst xmlns:p="http://schemas.openxmlformats.org/presentationml/2006/main">
  <p:tag name="KSO_WM_DIAGRAM_VIRTUALLY_FRAME" val="{&quot;height&quot;:301.5,&quot;left&quot;:57,&quot;top&quot;:133.5,&quot;width&quot;:846.75}"/>
</p:tagLst>
</file>

<file path=ppt/tags/tag18.xml><?xml version="1.0" encoding="utf-8"?>
<p:tagLst xmlns:p="http://schemas.openxmlformats.org/presentationml/2006/main">
  <p:tag name="KSO_WM_DIAGRAM_VIRTUALLY_FRAME" val="{&quot;height&quot;:301.5,&quot;left&quot;:57,&quot;top&quot;:133.5,&quot;width&quot;:846.75}"/>
</p:tagLst>
</file>

<file path=ppt/tags/tag19.xml><?xml version="1.0" encoding="utf-8"?>
<p:tagLst xmlns:p="http://schemas.openxmlformats.org/presentationml/2006/main">
  <p:tag name="KSO_WM_DIAGRAM_VIRTUALLY_FRAME" val="{&quot;height&quot;:301.5,&quot;left&quot;:57,&quot;top&quot;:133.5,&quot;width&quot;:846.75}"/>
</p:tagLst>
</file>

<file path=ppt/tags/tag20.xml><?xml version="1.0" encoding="utf-8"?>
<p:tagLst xmlns:p="http://schemas.openxmlformats.org/presentationml/2006/main">
  <p:tag name="KSO_WM_DIAGRAM_VIRTUALLY_FRAME" val="{&quot;height&quot;:301.5,&quot;left&quot;:57,&quot;top&quot;:133.5,&quot;width&quot;:846.7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2055</Words>
  <Application>WPS Presentation</Application>
  <PresentationFormat/>
  <Paragraphs>359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SimSun</vt:lpstr>
      <vt:lpstr>Wingdings</vt:lpstr>
      <vt:lpstr>PingFang SC</vt:lpstr>
      <vt:lpstr>Songti SC</vt:lpstr>
      <vt:lpstr>Helvetica Neue</vt:lpstr>
      <vt:lpstr>Calibri</vt:lpstr>
      <vt:lpstr>Helvetica Neue</vt:lpstr>
      <vt:lpstr>Arial Unicode MS</vt:lpstr>
      <vt:lpstr>汉仪书宋二KW</vt:lpstr>
      <vt:lpstr>SimSun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庆红</cp:lastModifiedBy>
  <cp:revision>2</cp:revision>
  <dcterms:created xsi:type="dcterms:W3CDTF">2026-10-24T14:54:44Z</dcterms:created>
  <dcterms:modified xsi:type="dcterms:W3CDTF">2026-10-24T14:54:44Z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{"AIGC":{"Label":"1","ContentProducer":"00119111010856365494821B355","ProduceID":"01a16e2ca253759893a3ab62db91423d","ReservedCode1":"","ContentPropagator":"00119111010856365494821B355","PropagateID":"01a16e2ca253759893a3ab62db91423d","ReservedCode2":""}}</vt:lpwstr>
  </property>
  <property fmtid="{D5CDD505-2E9C-101B-9397-08002B2CF9AE}" pid="3" name="KSOProductBuildVer">
    <vt:lpwstr>1033-12.1.25869.25869</vt:lpwstr>
  </property>
  <property fmtid="{D5CDD505-2E9C-101B-9397-08002B2CF9AE}" pid="4" name="ICV">
    <vt:lpwstr>FECA20C5E09FF2CDD2C5DC6A327B4B35_42</vt:lpwstr>
  </property>
</Properties>
</file>