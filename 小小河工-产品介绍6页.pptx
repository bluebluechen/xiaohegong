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363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5836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spc="260">
                <a:solidFill>
                  <a:srgbClr val="D9B96A"/>
                </a:solidFill>
                <a:latin typeface="PingFang SC"/>
                <a:ea typeface="PingFang SC"/>
                <a:cs typeface="PingFang SC"/>
              </a:rPr>
              <a:t>产品介绍　·　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024128"/>
            <a:ext cx="822960" cy="7315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19" y="1280160"/>
            <a:ext cx="8229600" cy="137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800" b="0" spc="400">
                <a:solidFill>
                  <a:srgbClr val="F3F0E7"/>
                </a:solidFill>
                <a:latin typeface="Songti SC"/>
                <a:ea typeface="Songti SC"/>
                <a:cs typeface="Songti SC"/>
              </a:rPr>
              <a:t>小小河工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761488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0" spc="320">
                <a:solidFill>
                  <a:srgbClr val="D9B96A"/>
                </a:solidFill>
                <a:latin typeface="Songti SC"/>
                <a:ea typeface="Songti SC"/>
                <a:cs typeface="Songti SC"/>
              </a:rPr>
              <a:t>AI+ 公民河流教育计划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611880"/>
            <a:ext cx="7680960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3F0E7"/>
                </a:solidFill>
                <a:latin typeface="PingFang SC"/>
                <a:ea typeface="PingFang SC"/>
                <a:cs typeface="PingFang SC"/>
              </a:rPr>
              <a:t>一条河不需要更多赞美。</a:t>
            </a:r>
            <a:r>
              <a:rPr sz="1700" b="0">
                <a:solidFill>
                  <a:srgbClr val="D9B96A"/>
                </a:solidFill>
                <a:latin typeface="Songti SC"/>
                <a:ea typeface="Songti SC"/>
                <a:cs typeface="Songti SC"/>
              </a:rPr>
              <a:t>它需要更多记录。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053328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spc="220">
                <a:solidFill>
                  <a:srgbClr val="7FA6A4"/>
                </a:solidFill>
                <a:latin typeface="PingFang SC"/>
                <a:ea typeface="PingFang SC"/>
                <a:cs typeface="PingFang SC"/>
              </a:rPr>
              <a:t>首站　·　北京清河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966960" y="320040"/>
            <a:ext cx="1463040" cy="11887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0" b="0">
                <a:solidFill>
                  <a:srgbClr val="E9E4D6"/>
                </a:solidFill>
                <a:latin typeface="Songti SC"/>
                <a:ea typeface="Songti SC"/>
                <a:cs typeface="Songti SC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5486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spc="160">
                <a:solidFill>
                  <a:srgbClr val="9A7A2E"/>
                </a:solidFill>
                <a:latin typeface="PingFang SC"/>
                <a:ea typeface="PingFang SC"/>
                <a:cs typeface="PingFang SC"/>
              </a:rPr>
              <a:t>01</a:t>
            </a:r>
            <a:r>
              <a:rPr sz="1050" b="0">
                <a:solidFill>
                  <a:srgbClr val="1B2A2A"/>
                </a:solidFill>
                <a:latin typeface="PingFang SC"/>
                <a:ea typeface="PingFang SC"/>
                <a:cs typeface="PingFang SC"/>
              </a:rPr>
              <a:t>   </a:t>
            </a:r>
            <a:r>
              <a:rPr sz="1050" b="0" spc="240">
                <a:solidFill>
                  <a:srgbClr val="8B9998"/>
                </a:solidFill>
                <a:latin typeface="PingFang SC"/>
                <a:ea typeface="PingFang SC"/>
                <a:cs typeface="PingFang SC"/>
              </a:rPr>
              <a:t>这条河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41248"/>
            <a:ext cx="1060704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300" b="0">
                <a:solidFill>
                  <a:srgbClr val="1B2A2A"/>
                </a:solidFill>
                <a:latin typeface="Songti SC"/>
                <a:ea typeface="Songti SC"/>
                <a:cs typeface="Songti SC"/>
              </a:rPr>
              <a:t>一条河的六十年，</a:t>
            </a:r>
            <a:r>
              <a:rPr sz="3300" b="0">
                <a:solidFill>
                  <a:srgbClr val="0E5C63"/>
                </a:solidFill>
                <a:latin typeface="Songti SC"/>
                <a:ea typeface="Songti SC"/>
                <a:cs typeface="Songti SC"/>
              </a:rPr>
              <a:t>和它的 23.6 公里。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517904"/>
            <a:ext cx="10424160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4A5A59"/>
                </a:solidFill>
                <a:latin typeface="PingFang SC"/>
                <a:ea typeface="PingFang SC"/>
                <a:cs typeface="PingFang SC"/>
              </a:rPr>
              <a:t>1965 年，安河闸建成，清河的起点从西山脚下挪到了京密引水渠东岸。六十年后，水回到了 III 类，鸟回来了九十余种，沿岸长出了十座公园。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139696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0E5C63"/>
                </a:solidFill>
                <a:latin typeface="PingFang SC"/>
                <a:ea typeface="PingFang SC"/>
                <a:cs typeface="PingFang SC"/>
              </a:rPr>
              <a:t>可关于这条河的记录，仍然只来自少数几次取样——两次取样之间的汛期、藻华、鸟群过境，大多没有留下痕迹。</a:t>
            </a:r>
          </a:p>
        </p:txBody>
      </p:sp>
      <p:pic>
        <p:nvPicPr>
          <p:cNvPr id="8" name="Picture 7" descr="deck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432304"/>
            <a:ext cx="10634472" cy="203827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4507153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spc="120">
                <a:solidFill>
                  <a:srgbClr val="8B9998"/>
                </a:solidFill>
                <a:latin typeface="PingFang SC"/>
                <a:ea typeface="PingFang SC"/>
                <a:cs typeface="PingFang SC"/>
              </a:rPr>
              <a:t>西起西山碧云寺 · 东至温榆河口 · 沿线十座水闸 · 四条支流汇入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138928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0E5C63"/>
                </a:solidFill>
                <a:latin typeface="Songti SC"/>
                <a:ea typeface="Songti SC"/>
                <a:cs typeface="Songti SC"/>
              </a:rPr>
              <a:t>23.6</a:t>
            </a:r>
            <a:r>
              <a:rPr sz="900" b="0">
                <a:solidFill>
                  <a:srgbClr val="8B9998"/>
                </a:solidFill>
                <a:latin typeface="PingFang SC"/>
                <a:ea typeface="PingFang SC"/>
                <a:cs typeface="PingFang SC"/>
              </a:rPr>
              <a:t>公里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59612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spc="140">
                <a:solidFill>
                  <a:srgbClr val="8B9998"/>
                </a:solidFill>
                <a:latin typeface="PingFang SC"/>
                <a:ea typeface="PingFang SC"/>
                <a:cs typeface="PingFang SC"/>
              </a:rPr>
              <a:t>干流长度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47288" y="5138928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0E5C63"/>
                </a:solidFill>
                <a:latin typeface="Songti SC"/>
                <a:ea typeface="Songti SC"/>
                <a:cs typeface="Songti SC"/>
              </a:rPr>
              <a:t>10</a:t>
            </a:r>
            <a:r>
              <a:rPr sz="900" b="0">
                <a:solidFill>
                  <a:srgbClr val="8B9998"/>
                </a:solidFill>
                <a:latin typeface="PingFang SC"/>
                <a:ea typeface="PingFang SC"/>
                <a:cs typeface="PingFang SC"/>
              </a:rPr>
              <a:t>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47288" y="559612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spc="140">
                <a:solidFill>
                  <a:srgbClr val="8B9998"/>
                </a:solidFill>
                <a:latin typeface="PingFang SC"/>
                <a:ea typeface="PingFang SC"/>
                <a:cs typeface="PingFang SC"/>
              </a:rPr>
              <a:t>水闸分十段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17336" y="5138928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0E5C63"/>
                </a:solidFill>
                <a:latin typeface="Songti SC"/>
                <a:ea typeface="Songti SC"/>
                <a:cs typeface="Songti SC"/>
              </a:rPr>
              <a:t>6</a:t>
            </a:r>
            <a:r>
              <a:rPr sz="900" b="0">
                <a:solidFill>
                  <a:srgbClr val="8B9998"/>
                </a:solidFill>
                <a:latin typeface="PingFang SC"/>
                <a:ea typeface="PingFang SC"/>
                <a:cs typeface="PingFang SC"/>
              </a:rPr>
              <a:t>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17336" y="559612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spc="140">
                <a:solidFill>
                  <a:srgbClr val="8B9998"/>
                </a:solidFill>
                <a:latin typeface="PingFang SC"/>
                <a:ea typeface="PingFang SC"/>
                <a:cs typeface="PingFang SC"/>
              </a:rPr>
              <a:t>沿岸古迹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87384" y="5138928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0E5C63"/>
                </a:solidFill>
                <a:latin typeface="Songti SC"/>
                <a:ea typeface="Songti SC"/>
                <a:cs typeface="Songti SC"/>
              </a:rPr>
              <a:t>90+</a:t>
            </a:r>
            <a:r>
              <a:rPr sz="900" b="0">
                <a:solidFill>
                  <a:srgbClr val="8B9998"/>
                </a:solidFill>
                <a:latin typeface="PingFang SC"/>
                <a:ea typeface="PingFang SC"/>
                <a:cs typeface="PingFang SC"/>
              </a:rPr>
              <a:t>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87384" y="559612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spc="140">
                <a:solidFill>
                  <a:srgbClr val="8B9998"/>
                </a:solidFill>
                <a:latin typeface="PingFang SC"/>
                <a:ea typeface="PingFang SC"/>
                <a:cs typeface="PingFang SC"/>
              </a:rPr>
              <a:t>观察到的鸟类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5029200"/>
            <a:ext cx="10637215" cy="7315"/>
          </a:xfrm>
          <a:prstGeom prst="rect">
            <a:avLst/>
          </a:prstGeom>
          <a:solidFill>
            <a:srgbClr val="E4E0D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6464808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spc="60">
                <a:solidFill>
                  <a:srgbClr val="8B9998"/>
                </a:solidFill>
                <a:latin typeface="PingFang SC"/>
                <a:ea typeface="PingFang SC"/>
                <a:cs typeface="PingFang SC"/>
              </a:rPr>
              <a:t>小小河工 · AI+ 公民河流教育计划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6464808"/>
            <a:ext cx="2999232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spc="120">
                <a:solidFill>
                  <a:srgbClr val="8B9998"/>
                </a:solidFill>
                <a:latin typeface="PingFang SC"/>
                <a:ea typeface="PingFang SC"/>
                <a:cs typeface="PingFang SC"/>
              </a:rPr>
              <a:t>02 / 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966960" y="320040"/>
            <a:ext cx="1463040" cy="11887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0" b="0">
                <a:solidFill>
                  <a:srgbClr val="E9E4D6"/>
                </a:solidFill>
                <a:latin typeface="Songti SC"/>
                <a:ea typeface="Songti SC"/>
                <a:cs typeface="Songti SC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5486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spc="160">
                <a:solidFill>
                  <a:srgbClr val="9A7A2E"/>
                </a:solidFill>
                <a:latin typeface="PingFang SC"/>
                <a:ea typeface="PingFang SC"/>
                <a:cs typeface="PingFang SC"/>
              </a:rPr>
              <a:t>02</a:t>
            </a:r>
            <a:r>
              <a:rPr sz="1050" b="0">
                <a:solidFill>
                  <a:srgbClr val="1B2A2A"/>
                </a:solidFill>
                <a:latin typeface="PingFang SC"/>
                <a:ea typeface="PingFang SC"/>
                <a:cs typeface="PingFang SC"/>
              </a:rPr>
              <a:t>   </a:t>
            </a:r>
            <a:r>
              <a:rPr sz="1050" b="0" spc="240">
                <a:solidFill>
                  <a:srgbClr val="8B9998"/>
                </a:solidFill>
                <a:latin typeface="PingFang SC"/>
                <a:ea typeface="PingFang SC"/>
                <a:cs typeface="PingFang SC"/>
              </a:rPr>
              <a:t>内容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41248"/>
            <a:ext cx="1060704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300" b="0">
                <a:solidFill>
                  <a:srgbClr val="1B2A2A"/>
                </a:solidFill>
                <a:latin typeface="Songti SC"/>
                <a:ea typeface="Songti SC"/>
                <a:cs typeface="Songti SC"/>
              </a:rPr>
              <a:t>十座闸，</a:t>
            </a:r>
            <a:r>
              <a:rPr sz="3300" b="0">
                <a:solidFill>
                  <a:srgbClr val="0E5C63"/>
                </a:solidFill>
                <a:latin typeface="Songti SC"/>
                <a:ea typeface="Songti SC"/>
                <a:cs typeface="Songti SC"/>
              </a:rPr>
              <a:t>就是一条河的十节课。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4A5A59"/>
                </a:solidFill>
                <a:latin typeface="PingFang SC"/>
                <a:ea typeface="PingFang SC"/>
                <a:cs typeface="PingFang SC"/>
              </a:rPr>
              <a:t>每一座闸都有名字、年份、闸型和一段自己的故事。这是孩子上岗前要认下的东西，也是这套内容最难被复制的地方。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084831"/>
            <a:ext cx="457200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spc="80">
                <a:solidFill>
                  <a:srgbClr val="9A7A2E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084831"/>
            <a:ext cx="1325880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B2A2A"/>
                </a:solidFill>
                <a:latin typeface="PingFang SC"/>
                <a:ea typeface="PingFang SC"/>
                <a:cs typeface="PingFang SC"/>
              </a:rPr>
              <a:t>安河闸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51760" y="2084831"/>
            <a:ext cx="1005840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B9998"/>
                </a:solidFill>
                <a:latin typeface="PingFang SC"/>
                <a:ea typeface="PingFang SC"/>
                <a:cs typeface="PingFang SC"/>
              </a:rPr>
              <a:t>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2084831"/>
            <a:ext cx="7680960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60" b="0">
                <a:solidFill>
                  <a:srgbClr val="4A5A59"/>
                </a:solidFill>
                <a:latin typeface="PingFang SC"/>
                <a:ea typeface="PingFang SC"/>
                <a:cs typeface="PingFang SC"/>
              </a:rPr>
              <a:t>京密引水渠东岸，南距颐和园约 1 公里。「清0」起点，1965 年建，双孔钢闸泄洪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436876"/>
            <a:ext cx="10561320" cy="7315"/>
          </a:xfrm>
          <a:prstGeom prst="rect">
            <a:avLst/>
          </a:prstGeom>
          <a:solidFill>
            <a:srgbClr val="EBE6D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464308"/>
            <a:ext cx="457200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spc="80">
                <a:solidFill>
                  <a:srgbClr val="9A7A2E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2464308"/>
            <a:ext cx="1325880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B2A2A"/>
                </a:solidFill>
                <a:latin typeface="PingFang SC"/>
                <a:ea typeface="PingFang SC"/>
                <a:cs typeface="PingFang SC"/>
              </a:rPr>
              <a:t>肖家河闸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51760" y="2464308"/>
            <a:ext cx="1005840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B9998"/>
                </a:solidFill>
                <a:latin typeface="PingFang SC"/>
                <a:ea typeface="PingFang SC"/>
                <a:cs typeface="PingFang SC"/>
              </a:rPr>
              <a:t>1.6 km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03320" y="2464308"/>
            <a:ext cx="7680960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60" b="0">
                <a:solidFill>
                  <a:srgbClr val="4A5A59"/>
                </a:solidFill>
                <a:latin typeface="PingFang SC"/>
                <a:ea typeface="PingFang SC"/>
                <a:cs typeface="PingFang SC"/>
              </a:rPr>
              <a:t>肖家河桥西。彩虹桥地标，安河闸到此处河道最曲折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2816352"/>
            <a:ext cx="10561320" cy="7315"/>
          </a:xfrm>
          <a:prstGeom prst="rect">
            <a:avLst/>
          </a:prstGeom>
          <a:solidFill>
            <a:srgbClr val="EBE6D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2843784"/>
            <a:ext cx="457200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spc="80">
                <a:solidFill>
                  <a:srgbClr val="9A7A2E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2843784"/>
            <a:ext cx="1325880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B2A2A"/>
                </a:solidFill>
                <a:latin typeface="PingFang SC"/>
                <a:ea typeface="PingFang SC"/>
                <a:cs typeface="PingFang SC"/>
              </a:rPr>
              <a:t>树村闸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51760" y="2843784"/>
            <a:ext cx="1005840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B9998"/>
                </a:solidFill>
                <a:latin typeface="PingFang SC"/>
                <a:ea typeface="PingFang SC"/>
                <a:cs typeface="PingFang SC"/>
              </a:rPr>
              <a:t>1.9 km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03320" y="2843784"/>
            <a:ext cx="7680960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60" b="0">
                <a:solidFill>
                  <a:srgbClr val="4A5A59"/>
                </a:solidFill>
                <a:latin typeface="PingFang SC"/>
                <a:ea typeface="PingFang SC"/>
                <a:cs typeface="PingFang SC"/>
              </a:rPr>
              <a:t>圆明园正北。闸上带楼、闸桥一体，十闸中最美的一座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3195828"/>
            <a:ext cx="10561320" cy="7315"/>
          </a:xfrm>
          <a:prstGeom prst="rect">
            <a:avLst/>
          </a:prstGeom>
          <a:solidFill>
            <a:srgbClr val="EBE6D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3223259"/>
            <a:ext cx="457200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spc="80">
                <a:solidFill>
                  <a:srgbClr val="9A7A2E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3223259"/>
            <a:ext cx="1325880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B2A2A"/>
                </a:solidFill>
                <a:latin typeface="PingFang SC"/>
                <a:ea typeface="PingFang SC"/>
                <a:cs typeface="PingFang SC"/>
              </a:rPr>
              <a:t>京包闸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51760" y="3223259"/>
            <a:ext cx="1005840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B9998"/>
                </a:solidFill>
                <a:latin typeface="PingFang SC"/>
                <a:ea typeface="PingFang SC"/>
                <a:cs typeface="PingFang SC"/>
              </a:rPr>
              <a:t>1.7 km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03320" y="3223259"/>
            <a:ext cx="7680960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60" b="0">
                <a:solidFill>
                  <a:srgbClr val="4A5A59"/>
                </a:solidFill>
                <a:latin typeface="PingFang SC"/>
                <a:ea typeface="PingFang SC"/>
                <a:cs typeface="PingFang SC"/>
              </a:rPr>
              <a:t>京包铁路西侧。箭亭立交四线交汇，万泉河在此汇入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" y="3575303"/>
            <a:ext cx="10561320" cy="7315"/>
          </a:xfrm>
          <a:prstGeom prst="rect">
            <a:avLst/>
          </a:prstGeom>
          <a:solidFill>
            <a:srgbClr val="EBE6D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3602735"/>
            <a:ext cx="457200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spc="80">
                <a:solidFill>
                  <a:srgbClr val="9A7A2E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3602735"/>
            <a:ext cx="1325880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B2A2A"/>
                </a:solidFill>
                <a:latin typeface="PingFang SC"/>
                <a:ea typeface="PingFang SC"/>
                <a:cs typeface="PingFang SC"/>
              </a:rPr>
              <a:t>清河闸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51760" y="3602735"/>
            <a:ext cx="1005840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B9998"/>
                </a:solidFill>
                <a:latin typeface="PingFang SC"/>
                <a:ea typeface="PingFang SC"/>
                <a:cs typeface="PingFang SC"/>
              </a:rPr>
              <a:t>2.4 km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03320" y="3602735"/>
            <a:ext cx="7680960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60" b="0">
                <a:solidFill>
                  <a:srgbClr val="4A5A59"/>
                </a:solidFill>
                <a:latin typeface="PingFang SC"/>
                <a:ea typeface="PingFang SC"/>
                <a:cs typeface="PingFang SC"/>
              </a:rPr>
              <a:t>清河大桥西侧。小月河口，旁有明代广济桥与古清真寺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3954779"/>
            <a:ext cx="10561320" cy="7315"/>
          </a:xfrm>
          <a:prstGeom prst="rect">
            <a:avLst/>
          </a:prstGeom>
          <a:solidFill>
            <a:srgbClr val="EBE6D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7240" y="3982211"/>
            <a:ext cx="457200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spc="80">
                <a:solidFill>
                  <a:srgbClr val="9A7A2E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80160" y="3982211"/>
            <a:ext cx="1325880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B2A2A"/>
                </a:solidFill>
                <a:latin typeface="PingFang SC"/>
                <a:ea typeface="PingFang SC"/>
                <a:cs typeface="PingFang SC"/>
              </a:rPr>
              <a:t>下清河闸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651760" y="3982211"/>
            <a:ext cx="1005840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B9998"/>
                </a:solidFill>
                <a:latin typeface="PingFang SC"/>
                <a:ea typeface="PingFang SC"/>
                <a:cs typeface="PingFang SC"/>
              </a:rPr>
              <a:t>2.6 km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703320" y="3982211"/>
            <a:ext cx="7680960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60" b="0">
                <a:solidFill>
                  <a:srgbClr val="4A5A59"/>
                </a:solidFill>
                <a:latin typeface="PingFang SC"/>
                <a:ea typeface="PingFang SC"/>
                <a:cs typeface="PingFang SC"/>
              </a:rPr>
              <a:t>奥森北墙外。闸桥一体，只供步行与骑行；自此岸坡转自然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77240" y="4334255"/>
            <a:ext cx="10561320" cy="7315"/>
          </a:xfrm>
          <a:prstGeom prst="rect">
            <a:avLst/>
          </a:prstGeom>
          <a:solidFill>
            <a:srgbClr val="EBE6D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7240" y="4361688"/>
            <a:ext cx="457200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spc="80">
                <a:solidFill>
                  <a:srgbClr val="9A7A2E"/>
                </a:solidFill>
                <a:latin typeface="PingFang SC"/>
                <a:ea typeface="PingFang SC"/>
                <a:cs typeface="PingFang SC"/>
              </a:rPr>
              <a:t>07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80160" y="4361688"/>
            <a:ext cx="1325880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B2A2A"/>
                </a:solidFill>
                <a:latin typeface="PingFang SC"/>
                <a:ea typeface="PingFang SC"/>
                <a:cs typeface="PingFang SC"/>
              </a:rPr>
              <a:t>羊坊闸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651760" y="4361688"/>
            <a:ext cx="1005840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B9998"/>
                </a:solidFill>
                <a:latin typeface="PingFang SC"/>
                <a:ea typeface="PingFang SC"/>
                <a:cs typeface="PingFang SC"/>
              </a:rPr>
              <a:t>2.9 km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703320" y="4361688"/>
            <a:ext cx="7680960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60" b="0">
                <a:solidFill>
                  <a:srgbClr val="4A5A59"/>
                </a:solidFill>
                <a:latin typeface="PingFang SC"/>
                <a:ea typeface="PingFang SC"/>
                <a:cs typeface="PingFang SC"/>
              </a:rPr>
              <a:t>立水桥西南 600 米。两岸土坡之始，清洋河在此汇入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77240" y="4713731"/>
            <a:ext cx="10561320" cy="7315"/>
          </a:xfrm>
          <a:prstGeom prst="rect">
            <a:avLst/>
          </a:prstGeom>
          <a:solidFill>
            <a:srgbClr val="EBE6D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77240" y="4741164"/>
            <a:ext cx="457200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spc="80">
                <a:solidFill>
                  <a:srgbClr val="9A7A2E"/>
                </a:solidFill>
                <a:latin typeface="PingFang SC"/>
                <a:ea typeface="PingFang SC"/>
                <a:cs typeface="PingFang SC"/>
              </a:rPr>
              <a:t>08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280160" y="4741164"/>
            <a:ext cx="1325880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B2A2A"/>
                </a:solidFill>
                <a:latin typeface="PingFang SC"/>
                <a:ea typeface="PingFang SC"/>
                <a:cs typeface="PingFang SC"/>
              </a:rPr>
              <a:t>外环跌水闸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651760" y="4741164"/>
            <a:ext cx="1005840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B9998"/>
                </a:solidFill>
                <a:latin typeface="PingFang SC"/>
                <a:ea typeface="PingFang SC"/>
                <a:cs typeface="PingFang SC"/>
              </a:rPr>
              <a:t>1.4 km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703320" y="4741164"/>
            <a:ext cx="7680960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60" b="0">
                <a:solidFill>
                  <a:srgbClr val="4A5A59"/>
                </a:solidFill>
                <a:latin typeface="PingFang SC"/>
                <a:ea typeface="PingFang SC"/>
                <a:cs typeface="PingFang SC"/>
              </a:rPr>
              <a:t>地铁 13 号线外 150 米。十闸中唯一的拦水坝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77240" y="5093207"/>
            <a:ext cx="10561320" cy="7315"/>
          </a:xfrm>
          <a:prstGeom prst="rect">
            <a:avLst/>
          </a:prstGeom>
          <a:solidFill>
            <a:srgbClr val="EBE6D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77240" y="5120640"/>
            <a:ext cx="457200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spc="80">
                <a:solidFill>
                  <a:srgbClr val="9A7A2E"/>
                </a:solidFill>
                <a:latin typeface="PingFang SC"/>
                <a:ea typeface="PingFang SC"/>
                <a:cs typeface="PingFang SC"/>
              </a:rPr>
              <a:t>09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280160" y="5120640"/>
            <a:ext cx="1325880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B2A2A"/>
                </a:solidFill>
                <a:latin typeface="PingFang SC"/>
                <a:ea typeface="PingFang SC"/>
                <a:cs typeface="PingFang SC"/>
              </a:rPr>
              <a:t>沈家闸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651760" y="5120640"/>
            <a:ext cx="1005840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B9998"/>
                </a:solidFill>
                <a:latin typeface="PingFang SC"/>
                <a:ea typeface="PingFang SC"/>
                <a:cs typeface="PingFang SC"/>
              </a:rPr>
              <a:t>4.3 km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703320" y="5120640"/>
            <a:ext cx="7680960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60" b="0">
                <a:solidFill>
                  <a:srgbClr val="4A5A59"/>
                </a:solidFill>
                <a:latin typeface="PingFang SC"/>
                <a:ea typeface="PingFang SC"/>
                <a:cs typeface="PingFang SC"/>
              </a:rPr>
              <a:t>温榆河公园西部。闸距最远的一段，进入滨水慢行系统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77240" y="5472683"/>
            <a:ext cx="10561320" cy="7315"/>
          </a:xfrm>
          <a:prstGeom prst="rect">
            <a:avLst/>
          </a:prstGeom>
          <a:solidFill>
            <a:srgbClr val="EBE6D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77240" y="5500116"/>
            <a:ext cx="457200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spc="80">
                <a:solidFill>
                  <a:srgbClr val="9A7A2E"/>
                </a:solidFill>
                <a:latin typeface="PingFang SC"/>
                <a:ea typeface="PingFang SC"/>
                <a:cs typeface="PingFang SC"/>
              </a:rPr>
              <a:t>10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280160" y="5500116"/>
            <a:ext cx="1325880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B2A2A"/>
                </a:solidFill>
                <a:latin typeface="PingFang SC"/>
                <a:ea typeface="PingFang SC"/>
                <a:cs typeface="PingFang SC"/>
              </a:rPr>
              <a:t>沙子营闸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651760" y="5500116"/>
            <a:ext cx="1005840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B9998"/>
                </a:solidFill>
                <a:latin typeface="PingFang SC"/>
                <a:ea typeface="PingFang SC"/>
                <a:cs typeface="PingFang SC"/>
              </a:rPr>
              <a:t>0.3 km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703320" y="5500116"/>
            <a:ext cx="7680960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60" b="0">
                <a:solidFill>
                  <a:srgbClr val="4A5A59"/>
                </a:solidFill>
                <a:latin typeface="PingFang SC"/>
                <a:ea typeface="PingFang SC"/>
                <a:cs typeface="PingFang SC"/>
              </a:rPr>
              <a:t>清河尾端。唯一翻板式钢闸，全开时平卧可当桥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77240" y="5852159"/>
            <a:ext cx="10561320" cy="7315"/>
          </a:xfrm>
          <a:prstGeom prst="rect">
            <a:avLst/>
          </a:prstGeom>
          <a:solidFill>
            <a:srgbClr val="EBE6D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77240" y="6053328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spc="120">
                <a:solidFill>
                  <a:srgbClr val="0E5C63"/>
                </a:solidFill>
                <a:latin typeface="PingFang SC"/>
                <a:ea typeface="PingFang SC"/>
                <a:cs typeface="PingFang SC"/>
              </a:rPr>
              <a:t>四类知识域：水闸工程　·　历史遗产　·　三山五园　·　生态科普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77240" y="6464808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spc="60">
                <a:solidFill>
                  <a:srgbClr val="8B9998"/>
                </a:solidFill>
                <a:latin typeface="PingFang SC"/>
                <a:ea typeface="PingFang SC"/>
                <a:cs typeface="PingFang SC"/>
              </a:rPr>
              <a:t>小小河工 · AI+ 公民河流教育计划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412480" y="6464808"/>
            <a:ext cx="2999232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spc="120">
                <a:solidFill>
                  <a:srgbClr val="8B9998"/>
                </a:solidFill>
                <a:latin typeface="PingFang SC"/>
                <a:ea typeface="PingFang SC"/>
                <a:cs typeface="PingFang SC"/>
              </a:rPr>
              <a:t>03 / 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966960" y="320040"/>
            <a:ext cx="1463040" cy="11887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0" b="0">
                <a:solidFill>
                  <a:srgbClr val="E9E4D6"/>
                </a:solidFill>
                <a:latin typeface="Songti SC"/>
                <a:ea typeface="Songti SC"/>
                <a:cs typeface="Songti SC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5486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spc="160">
                <a:solidFill>
                  <a:srgbClr val="9A7A2E"/>
                </a:solidFill>
                <a:latin typeface="PingFang SC"/>
                <a:ea typeface="PingFang SC"/>
                <a:cs typeface="PingFang SC"/>
              </a:rPr>
              <a:t>03</a:t>
            </a:r>
            <a:r>
              <a:rPr sz="1050" b="0">
                <a:solidFill>
                  <a:srgbClr val="1B2A2A"/>
                </a:solidFill>
                <a:latin typeface="PingFang SC"/>
                <a:ea typeface="PingFang SC"/>
                <a:cs typeface="PingFang SC"/>
              </a:rPr>
              <a:t>   </a:t>
            </a:r>
            <a:r>
              <a:rPr sz="1050" b="0" spc="240">
                <a:solidFill>
                  <a:srgbClr val="8B9998"/>
                </a:solidFill>
                <a:latin typeface="PingFang SC"/>
                <a:ea typeface="PingFang SC"/>
                <a:cs typeface="PingFang SC"/>
              </a:rPr>
              <a:t>产品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41248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300" b="0">
                <a:solidFill>
                  <a:srgbClr val="1B2A2A"/>
                </a:solidFill>
                <a:latin typeface="Songti SC"/>
                <a:ea typeface="Songti SC"/>
                <a:cs typeface="Songti SC"/>
              </a:rPr>
              <a:t>一个 App，</a:t>
            </a:r>
            <a:r>
              <a:rPr sz="3300" b="0">
                <a:solidFill>
                  <a:srgbClr val="0E5C63"/>
                </a:solidFill>
                <a:latin typeface="Songti SC"/>
                <a:ea typeface="Songti SC"/>
                <a:cs typeface="Songti SC"/>
              </a:rPr>
              <a:t>三种用法。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517904"/>
            <a:ext cx="1024128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4A5A59"/>
                </a:solidFill>
                <a:latin typeface="PingFang SC"/>
                <a:ea typeface="PingFang SC"/>
                <a:cs typeface="PingFang SC"/>
              </a:rPr>
              <a:t>线上培训、现场巡河、自由探索——三件事互不打扰，共用一本护照。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1965960"/>
            <a:ext cx="1795272" cy="3657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7620">
            <a:solidFill>
              <a:srgbClr val="DCE3D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8" name="Picture 7" descr="clean-02-巡河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320" y="2011680"/>
            <a:ext cx="1703832" cy="3566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371600" y="5724144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A7A2E"/>
                </a:solidFill>
                <a:latin typeface="Songti SC"/>
                <a:ea typeface="Songti SC"/>
                <a:cs typeface="Songti SC"/>
              </a:rPr>
              <a:t>01</a:t>
            </a:r>
            <a:r>
              <a:rPr sz="1250" b="1">
                <a:solidFill>
                  <a:srgbClr val="1B2A2A"/>
                </a:solidFill>
                <a:latin typeface="PingFang SC"/>
                <a:ea typeface="PingFang SC"/>
                <a:cs typeface="PingFang SC"/>
              </a:rPr>
              <a:t>　巡河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5998464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0E5C63"/>
                </a:solidFill>
                <a:latin typeface="PingFang SC"/>
                <a:ea typeface="PingFang SC"/>
                <a:cs typeface="PingFang SC"/>
              </a:rPr>
              <a:t>要到了才解锁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6236208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8B9998"/>
                </a:solidFill>
                <a:latin typeface="PingFang SC"/>
                <a:ea typeface="PingFang SC"/>
                <a:cs typeface="PingFang SC"/>
              </a:rPr>
              <a:t>到达点位 → 掉落任务 → 拍照记录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17720" y="1965960"/>
            <a:ext cx="1795272" cy="3657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7620">
            <a:solidFill>
              <a:srgbClr val="DCE3D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3" name="Picture 12" descr="clean-02-点位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2011680"/>
            <a:ext cx="1703832" cy="356616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617720" y="5724144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A7A2E"/>
                </a:solidFill>
                <a:latin typeface="Songti SC"/>
                <a:ea typeface="Songti SC"/>
                <a:cs typeface="Songti SC"/>
              </a:rPr>
              <a:t>02</a:t>
            </a:r>
            <a:r>
              <a:rPr sz="1250" b="1">
                <a:solidFill>
                  <a:srgbClr val="1B2A2A"/>
                </a:solidFill>
                <a:latin typeface="PingFang SC"/>
                <a:ea typeface="PingFang SC"/>
                <a:cs typeface="PingFang SC"/>
              </a:rPr>
              <a:t>　记录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5998464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0E5C63"/>
                </a:solidFill>
                <a:latin typeface="PingFang SC"/>
                <a:ea typeface="PingFang SC"/>
                <a:cs typeface="PingFang SC"/>
              </a:rPr>
              <a:t>看所有人的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6236208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8B9998"/>
                </a:solidFill>
                <a:latin typeface="PingFang SC"/>
                <a:ea typeface="PingFang SC"/>
                <a:cs typeface="PingFang SC"/>
              </a:rPr>
              <a:t>按点位排，谁记过什么都在这里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863840" y="1965960"/>
            <a:ext cx="1795272" cy="3657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7620">
            <a:solidFill>
              <a:srgbClr val="DCE3D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8" name="Picture 17" descr="clean-04-探索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9560" y="2011680"/>
            <a:ext cx="1703832" cy="356616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863840" y="5724144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A7A2E"/>
                </a:solidFill>
                <a:latin typeface="Songti SC"/>
                <a:ea typeface="Songti SC"/>
                <a:cs typeface="Songti SC"/>
              </a:rPr>
              <a:t>03</a:t>
            </a:r>
            <a:r>
              <a:rPr sz="1250" b="1">
                <a:solidFill>
                  <a:srgbClr val="1B2A2A"/>
                </a:solidFill>
                <a:latin typeface="PingFang SC"/>
                <a:ea typeface="PingFang SC"/>
                <a:cs typeface="PingFang SC"/>
              </a:rPr>
              <a:t>　探索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5998464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0E5C63"/>
                </a:solidFill>
                <a:latin typeface="PingFang SC"/>
                <a:ea typeface="PingFang SC"/>
                <a:cs typeface="PingFang SC"/>
              </a:rPr>
              <a:t>随手就能用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0" y="6236208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8B9998"/>
                </a:solidFill>
                <a:latin typeface="PingFang SC"/>
                <a:ea typeface="PingFang SC"/>
                <a:cs typeface="PingFang SC"/>
              </a:rPr>
              <a:t>拍一张，听它在系统里干什么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6464808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spc="60">
                <a:solidFill>
                  <a:srgbClr val="8B9998"/>
                </a:solidFill>
                <a:latin typeface="PingFang SC"/>
                <a:ea typeface="PingFang SC"/>
                <a:cs typeface="PingFang SC"/>
              </a:rPr>
              <a:t>小小河工 · AI+ 公民河流教育计划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6464808"/>
            <a:ext cx="2999232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spc="120">
                <a:solidFill>
                  <a:srgbClr val="8B9998"/>
                </a:solidFill>
                <a:latin typeface="PingFang SC"/>
                <a:ea typeface="PingFang SC"/>
                <a:cs typeface="PingFang SC"/>
              </a:rPr>
              <a:t>04 / 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966960" y="320040"/>
            <a:ext cx="1463040" cy="11887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0" b="0">
                <a:solidFill>
                  <a:srgbClr val="E9E4D6"/>
                </a:solidFill>
                <a:latin typeface="Songti SC"/>
                <a:ea typeface="Songti SC"/>
                <a:cs typeface="Songti SC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5486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spc="160">
                <a:solidFill>
                  <a:srgbClr val="9A7A2E"/>
                </a:solidFill>
                <a:latin typeface="PingFang SC"/>
                <a:ea typeface="PingFang SC"/>
                <a:cs typeface="PingFang SC"/>
              </a:rPr>
              <a:t>04</a:t>
            </a:r>
            <a:r>
              <a:rPr sz="1050" b="0">
                <a:solidFill>
                  <a:srgbClr val="1B2A2A"/>
                </a:solidFill>
                <a:latin typeface="PingFang SC"/>
                <a:ea typeface="PingFang SC"/>
                <a:cs typeface="PingFang SC"/>
              </a:rPr>
              <a:t>   </a:t>
            </a:r>
            <a:r>
              <a:rPr sz="1050" b="0" spc="240">
                <a:solidFill>
                  <a:srgbClr val="8B9998"/>
                </a:solidFill>
                <a:latin typeface="PingFang SC"/>
                <a:ea typeface="PingFang SC"/>
                <a:cs typeface="PingFang SC"/>
              </a:rPr>
              <a:t>记录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41248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300" b="0">
                <a:solidFill>
                  <a:srgbClr val="1B2A2A"/>
                </a:solidFill>
                <a:latin typeface="Songti SC"/>
                <a:ea typeface="Songti SC"/>
                <a:cs typeface="Songti SC"/>
              </a:rPr>
              <a:t>一条记录，</a:t>
            </a:r>
            <a:r>
              <a:rPr sz="3300" b="0">
                <a:solidFill>
                  <a:srgbClr val="0E5C63"/>
                </a:solidFill>
                <a:latin typeface="Songti SC"/>
                <a:ea typeface="Songti SC"/>
                <a:cs typeface="Songti SC"/>
              </a:rPr>
              <a:t>长什么样。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517904"/>
            <a:ext cx="1024128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4A5A59"/>
                </a:solidFill>
                <a:latin typeface="PingFang SC"/>
                <a:ea typeface="PingFang SC"/>
                <a:cs typeface="PingFang SC"/>
              </a:rPr>
              <a:t>孩子以为在盖章，其实在给这条河建档——下面这些字段，就是研究机构能直接引用的格式。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084831"/>
            <a:ext cx="137160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9" b="0" spc="120">
                <a:solidFill>
                  <a:srgbClr val="9A7A2E"/>
                </a:solidFill>
                <a:latin typeface="PingFang SC"/>
                <a:ea typeface="PingFang SC"/>
                <a:cs typeface="PingFang SC"/>
              </a:rPr>
              <a:t>点位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48840" y="2084831"/>
            <a:ext cx="320040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1B2A2A"/>
                </a:solidFill>
                <a:latin typeface="PingFang SC"/>
                <a:ea typeface="PingFang SC"/>
                <a:cs typeface="PingFang SC"/>
              </a:rPr>
              <a:t>清河闸 · 点位 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49240" y="2084831"/>
            <a:ext cx="201168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8B9998"/>
                </a:solidFill>
                <a:latin typeface="PingFang SC"/>
                <a:ea typeface="PingFang SC"/>
                <a:cs typeface="PingFang SC"/>
              </a:rPr>
              <a:t>空间可比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2505456"/>
            <a:ext cx="6675120" cy="7315"/>
          </a:xfrm>
          <a:prstGeom prst="rect">
            <a:avLst/>
          </a:prstGeom>
          <a:solidFill>
            <a:srgbClr val="E7E2D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542032"/>
            <a:ext cx="137160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9" b="0" spc="120">
                <a:solidFill>
                  <a:srgbClr val="9A7A2E"/>
                </a:solidFill>
                <a:latin typeface="PingFang SC"/>
                <a:ea typeface="PingFang SC"/>
                <a:cs typeface="PingFang SC"/>
              </a:rPr>
              <a:t>时间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48840" y="2542032"/>
            <a:ext cx="320040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1B2A2A"/>
                </a:solidFill>
                <a:latin typeface="PingFang SC"/>
                <a:ea typeface="PingFang SC"/>
                <a:cs typeface="PingFang SC"/>
              </a:rPr>
              <a:t>10-22 14:32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49240" y="2542032"/>
            <a:ext cx="201168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8B9998"/>
                </a:solidFill>
                <a:latin typeface="PingFang SC"/>
                <a:ea typeface="PingFang SC"/>
                <a:cs typeface="PingFang SC"/>
              </a:rPr>
              <a:t>时间序列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2962656"/>
            <a:ext cx="6675120" cy="7315"/>
          </a:xfrm>
          <a:prstGeom prst="rect">
            <a:avLst/>
          </a:prstGeom>
          <a:solidFill>
            <a:srgbClr val="E7E2D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2999232"/>
            <a:ext cx="137160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9" b="0" spc="120">
                <a:solidFill>
                  <a:srgbClr val="9A7A2E"/>
                </a:solidFill>
                <a:latin typeface="PingFang SC"/>
                <a:ea typeface="PingFang SC"/>
                <a:cs typeface="PingFang SC"/>
              </a:rPr>
              <a:t>类型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48840" y="2999232"/>
            <a:ext cx="320040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1B2A2A"/>
                </a:solidFill>
                <a:latin typeface="PingFang SC"/>
                <a:ea typeface="PingFang SC"/>
                <a:cs typeface="PingFang SC"/>
              </a:rPr>
              <a:t>水文 / 物种 / 岸线 / 异常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49240" y="2999232"/>
            <a:ext cx="201168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8B9998"/>
                </a:solidFill>
                <a:latin typeface="PingFang SC"/>
                <a:ea typeface="PingFang SC"/>
                <a:cs typeface="PingFang SC"/>
              </a:rPr>
              <a:t>决定谁来用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3419856"/>
            <a:ext cx="6675120" cy="7315"/>
          </a:xfrm>
          <a:prstGeom prst="rect">
            <a:avLst/>
          </a:prstGeom>
          <a:solidFill>
            <a:srgbClr val="E7E2D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3456432"/>
            <a:ext cx="137160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9" b="0" spc="120">
                <a:solidFill>
                  <a:srgbClr val="9A7A2E"/>
                </a:solidFill>
                <a:latin typeface="PingFang SC"/>
                <a:ea typeface="PingFang SC"/>
                <a:cs typeface="PingFang SC"/>
              </a:rPr>
              <a:t>观测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48840" y="3456432"/>
            <a:ext cx="320040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1B2A2A"/>
                </a:solidFill>
                <a:latin typeface="PingFang SC"/>
                <a:ea typeface="PingFang SC"/>
                <a:cs typeface="PingFang SC"/>
              </a:rPr>
              <a:t>透明度：低；白鹭 ×2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49240" y="3456432"/>
            <a:ext cx="201168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8B9998"/>
                </a:solidFill>
                <a:latin typeface="PingFang SC"/>
                <a:ea typeface="PingFang SC"/>
                <a:cs typeface="PingFang SC"/>
              </a:rPr>
              <a:t>可统计、可作图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3877056"/>
            <a:ext cx="6675120" cy="7315"/>
          </a:xfrm>
          <a:prstGeom prst="rect">
            <a:avLst/>
          </a:prstGeom>
          <a:solidFill>
            <a:srgbClr val="E7E2D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3913631"/>
            <a:ext cx="137160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9" b="0" spc="120">
                <a:solidFill>
                  <a:srgbClr val="9A7A2E"/>
                </a:solidFill>
                <a:latin typeface="PingFang SC"/>
                <a:ea typeface="PingFang SC"/>
                <a:cs typeface="PingFang SC"/>
              </a:rPr>
              <a:t>证据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48840" y="3913631"/>
            <a:ext cx="320040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1B2A2A"/>
                </a:solidFill>
                <a:latin typeface="PingFang SC"/>
                <a:ea typeface="PingFang SC"/>
                <a:cs typeface="PingFang SC"/>
              </a:rPr>
              <a:t>照片 1 张（剥离位置）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49240" y="3913631"/>
            <a:ext cx="201168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8B9998"/>
                </a:solidFill>
                <a:latin typeface="PingFang SC"/>
                <a:ea typeface="PingFang SC"/>
                <a:cs typeface="PingFang SC"/>
              </a:rPr>
              <a:t>可复核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" y="4334255"/>
            <a:ext cx="6675120" cy="7315"/>
          </a:xfrm>
          <a:prstGeom prst="rect">
            <a:avLst/>
          </a:prstGeom>
          <a:solidFill>
            <a:srgbClr val="E7E2D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4370831"/>
            <a:ext cx="137160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9" b="0" spc="120">
                <a:solidFill>
                  <a:srgbClr val="9A7A2E"/>
                </a:solidFill>
                <a:latin typeface="PingFang SC"/>
                <a:ea typeface="PingFang SC"/>
                <a:cs typeface="PingFang SC"/>
              </a:rPr>
              <a:t>观察者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48840" y="4370831"/>
            <a:ext cx="320040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1B2A2A"/>
                </a:solidFill>
                <a:latin typeface="PingFang SC"/>
                <a:ea typeface="PingFang SC"/>
                <a:cs typeface="PingFang SC"/>
              </a:rPr>
              <a:t>NO.057 · 巡河员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49240" y="4370831"/>
            <a:ext cx="201168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8B9998"/>
                </a:solidFill>
                <a:latin typeface="PingFang SC"/>
                <a:ea typeface="PingFang SC"/>
                <a:cs typeface="PingFang SC"/>
              </a:rPr>
              <a:t>可信度加权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7240" y="4791455"/>
            <a:ext cx="6675120" cy="7315"/>
          </a:xfrm>
          <a:prstGeom prst="rect">
            <a:avLst/>
          </a:prstGeom>
          <a:solidFill>
            <a:srgbClr val="E7E2D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" y="4828031"/>
            <a:ext cx="137160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9" b="0" spc="120">
                <a:solidFill>
                  <a:srgbClr val="9A7A2E"/>
                </a:solidFill>
                <a:latin typeface="PingFang SC"/>
                <a:ea typeface="PingFang SC"/>
                <a:cs typeface="PingFang SC"/>
              </a:rPr>
              <a:t>许可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48840" y="4828031"/>
            <a:ext cx="320040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1B2A2A"/>
                </a:solidFill>
                <a:latin typeface="PingFang SC"/>
                <a:ea typeface="PingFang SC"/>
                <a:cs typeface="PingFang SC"/>
              </a:rPr>
              <a:t>CC BY-NC 4.0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49240" y="4828031"/>
            <a:ext cx="201168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8B9998"/>
                </a:solidFill>
                <a:latin typeface="PingFang SC"/>
                <a:ea typeface="PingFang SC"/>
                <a:cs typeface="PingFang SC"/>
              </a:rPr>
              <a:t>机构能用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" y="5248655"/>
            <a:ext cx="6675120" cy="7315"/>
          </a:xfrm>
          <a:prstGeom prst="rect">
            <a:avLst/>
          </a:prstGeom>
          <a:solidFill>
            <a:srgbClr val="E7E2D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452360" y="2066543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1" spc="120">
                <a:solidFill>
                  <a:srgbClr val="0E5C63"/>
                </a:solidFill>
                <a:latin typeface="PingFang SC"/>
                <a:ea typeface="PingFang SC"/>
                <a:cs typeface="PingFang SC"/>
              </a:rPr>
              <a:t>四种人，各取所需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452360" y="2377440"/>
            <a:ext cx="3959352" cy="7315"/>
          </a:xfrm>
          <a:prstGeom prst="rect">
            <a:avLst/>
          </a:prstGeom>
          <a:solidFill>
            <a:srgbClr val="D8D3C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452360" y="2523744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B2A2A"/>
                </a:solidFill>
                <a:latin typeface="PingFang SC"/>
                <a:ea typeface="PingFang SC"/>
                <a:cs typeface="PingFang SC"/>
              </a:rPr>
              <a:t>孩子与家庭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52360" y="2761487"/>
            <a:ext cx="393192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4A5A59"/>
                </a:solidFill>
                <a:latin typeface="PingFang SC"/>
                <a:ea typeface="PingFang SC"/>
                <a:cs typeface="PingFang SC"/>
              </a:rPr>
              <a:t>一个身份、一本护照、一条写进成长档案的巡河线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52360" y="3246120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B2A2A"/>
                </a:solidFill>
                <a:latin typeface="PingFang SC"/>
                <a:ea typeface="PingFang SC"/>
                <a:cs typeface="PingFang SC"/>
              </a:rPr>
              <a:t>公园与文旅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52360" y="3483863"/>
            <a:ext cx="393192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4A5A59"/>
                </a:solidFill>
                <a:latin typeface="PingFang SC"/>
                <a:ea typeface="PingFang SC"/>
                <a:cs typeface="PingFang SC"/>
              </a:rPr>
              <a:t>一套四季更新、不重复的内容资产，和十个到访理由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52360" y="3968496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B2A2A"/>
                </a:solidFill>
                <a:latin typeface="PingFang SC"/>
                <a:ea typeface="PingFang SC"/>
                <a:cs typeface="PingFang SC"/>
              </a:rPr>
              <a:t>河长办 / 研究机构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52360" y="4206240"/>
            <a:ext cx="393192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4A5A59"/>
                </a:solidFill>
                <a:latin typeface="PingFang SC"/>
                <a:ea typeface="PingFang SC"/>
                <a:cs typeface="PingFang SC"/>
              </a:rPr>
              <a:t>高密度、低成本、可比对的观察网络，补上专业巡测的空档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452360" y="4690872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B2A2A"/>
                </a:solidFill>
                <a:latin typeface="PingFang SC"/>
                <a:ea typeface="PingFang SC"/>
                <a:cs typeface="PingFang SC"/>
              </a:rPr>
              <a:t>资助方 / 品牌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452360" y="4928616"/>
            <a:ext cx="393192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4A5A59"/>
                </a:solidFill>
                <a:latin typeface="PingFang SC"/>
                <a:ea typeface="PingFang SC"/>
                <a:cs typeface="PingFang SC"/>
              </a:rPr>
              <a:t>可追溯、可引用的公益成果，而不是一张活动照片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7240" y="6464808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spc="60">
                <a:solidFill>
                  <a:srgbClr val="8B9998"/>
                </a:solidFill>
                <a:latin typeface="PingFang SC"/>
                <a:ea typeface="PingFang SC"/>
                <a:cs typeface="PingFang SC"/>
              </a:rPr>
              <a:t>小小河工 · AI+ 公民河流教育计划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12480" y="6464808"/>
            <a:ext cx="2999232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spc="120">
                <a:solidFill>
                  <a:srgbClr val="8B9998"/>
                </a:solidFill>
                <a:latin typeface="PingFang SC"/>
                <a:ea typeface="PingFang SC"/>
                <a:cs typeface="PingFang SC"/>
              </a:rPr>
              <a:t>05 / 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363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966960" y="320040"/>
            <a:ext cx="1463040" cy="11887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0" b="0">
                <a:solidFill>
                  <a:srgbClr val="0D484F"/>
                </a:solidFill>
                <a:latin typeface="Songti SC"/>
                <a:ea typeface="Songti SC"/>
                <a:cs typeface="Songti SC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5486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spc="160">
                <a:solidFill>
                  <a:srgbClr val="D9B96A"/>
                </a:solidFill>
                <a:latin typeface="PingFang SC"/>
                <a:ea typeface="PingFang SC"/>
                <a:cs typeface="PingFang SC"/>
              </a:rPr>
              <a:t>05</a:t>
            </a:r>
            <a:r>
              <a:rPr sz="1050" b="0">
                <a:solidFill>
                  <a:srgbClr val="1B2A2A"/>
                </a:solidFill>
                <a:latin typeface="PingFang SC"/>
                <a:ea typeface="PingFang SC"/>
                <a:cs typeface="PingFang SC"/>
              </a:rPr>
              <a:t>   </a:t>
            </a:r>
            <a:r>
              <a:rPr sz="1050" b="0" spc="240">
                <a:solidFill>
                  <a:srgbClr val="8FB0B1"/>
                </a:solidFill>
                <a:latin typeface="PingFang SC"/>
                <a:ea typeface="PingFang SC"/>
                <a:cs typeface="PingFang SC"/>
              </a:rPr>
              <a:t>现在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41248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300" b="0">
                <a:solidFill>
                  <a:srgbClr val="F3F0E7"/>
                </a:solidFill>
                <a:latin typeface="Songti SC"/>
                <a:ea typeface="Songti SC"/>
                <a:cs typeface="Songti SC"/>
              </a:rPr>
              <a:t>现在扫码，</a:t>
            </a:r>
            <a:r>
              <a:rPr sz="3300" b="0">
                <a:solidFill>
                  <a:srgbClr val="D9B96A"/>
                </a:solidFill>
                <a:latin typeface="Songti SC"/>
                <a:ea typeface="Songti SC"/>
                <a:cs typeface="Songti SC"/>
              </a:rPr>
              <a:t>就能走一趟。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517904"/>
            <a:ext cx="768096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C9D8D6"/>
                </a:solidFill>
                <a:latin typeface="PingFang SC"/>
                <a:ea typeface="PingFang SC"/>
                <a:cs typeface="PingFang SC"/>
              </a:rPr>
              <a:t>不是规划，是已经能打开的东西。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048256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spc="100">
                <a:solidFill>
                  <a:srgbClr val="C9A24B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44168" y="2011680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3F0E7"/>
                </a:solidFill>
                <a:latin typeface="PingFang SC"/>
                <a:ea typeface="PingFang SC"/>
                <a:cs typeface="PingFang SC"/>
              </a:rPr>
              <a:t>可交互的 Demo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44168" y="2322576"/>
            <a:ext cx="557784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9C0BE"/>
                </a:solidFill>
                <a:latin typeface="PingFang SC"/>
                <a:ea typeface="PingFang SC"/>
                <a:cs typeface="PingFang SC"/>
              </a:rPr>
              <a:t>扫码即玩、免下载，十站全部开放，水墨路线随进度亮起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889504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spc="100">
                <a:solidFill>
                  <a:srgbClr val="C9A24B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852928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3F0E7"/>
                </a:solidFill>
                <a:latin typeface="PingFang SC"/>
                <a:ea typeface="PingFang SC"/>
                <a:cs typeface="PingFang SC"/>
              </a:rPr>
              <a:t>上岗培训已成型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44168" y="3163824"/>
            <a:ext cx="557784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9C0BE"/>
                </a:solidFill>
                <a:latin typeface="PingFang SC"/>
                <a:ea typeface="PingFang SC"/>
                <a:cs typeface="PingFang SC"/>
              </a:rPr>
              <a:t>十座闸的名字、年份、闸型，一条河的历史与地理都在里头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7307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spc="100">
                <a:solidFill>
                  <a:srgbClr val="C9A24B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44168" y="3694176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3F0E7"/>
                </a:solidFill>
                <a:latin typeface="PingFang SC"/>
                <a:ea typeface="PingFang SC"/>
                <a:cs typeface="PingFang SC"/>
              </a:rPr>
              <a:t>现场出勤已跑通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4005072"/>
            <a:ext cx="557784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9C0BE"/>
                </a:solidFill>
                <a:latin typeface="PingFang SC"/>
                <a:ea typeface="PingFang SC"/>
                <a:cs typeface="PingFang SC"/>
              </a:rPr>
              <a:t>四类任务，每条产出带点位与时间的结构化记录</a:t>
            </a:r>
          </a:p>
        </p:txBody>
      </p:sp>
      <p:pic>
        <p:nvPicPr>
          <p:cNvPr id="16" name="Picture 15" descr="qr_dem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7" y="1993392"/>
            <a:ext cx="1325880" cy="132588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516367" y="3410712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80" b="0" spc="100">
                <a:solidFill>
                  <a:srgbClr val="9FC0C6"/>
                </a:solidFill>
                <a:latin typeface="PingFang SC"/>
                <a:ea typeface="PingFang SC"/>
                <a:cs typeface="PingFang SC"/>
              </a:rPr>
              <a:t>扫码开始巡河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5449824"/>
            <a:ext cx="10637215" cy="7315"/>
          </a:xfrm>
          <a:prstGeom prst="rect">
            <a:avLst/>
          </a:prstGeom>
          <a:solidFill>
            <a:srgbClr val="2A646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557784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spc="200">
                <a:solidFill>
                  <a:srgbClr val="D9B96A"/>
                </a:solidFill>
                <a:latin typeface="PingFang SC"/>
                <a:ea typeface="PingFang SC"/>
                <a:cs typeface="PingFang SC"/>
              </a:rPr>
              <a:t>接下来 90 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68880" y="5559552"/>
            <a:ext cx="950976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8D6"/>
                </a:solidFill>
                <a:latin typeface="PingFang SC"/>
                <a:ea typeface="PingFang SC"/>
                <a:cs typeface="PingFang SC"/>
              </a:rPr>
              <a:t>一段河（1 公里）　·　一所学校　·　一份开放的季节数据集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925312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C9D8D6"/>
                </a:solidFill>
                <a:latin typeface="Songti SC"/>
                <a:ea typeface="Songti SC"/>
                <a:cs typeface="Songti SC"/>
              </a:rPr>
              <a:t>一条河不需要更多赞美。</a:t>
            </a:r>
            <a:r>
              <a:rPr sz="1800" b="0">
                <a:solidFill>
                  <a:srgbClr val="D9B96A"/>
                </a:solidFill>
                <a:latin typeface="Songti SC"/>
                <a:ea typeface="Songti SC"/>
                <a:cs typeface="Songti SC"/>
              </a:rPr>
              <a:t>它需要更多记录。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6464808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spc="60">
                <a:solidFill>
                  <a:srgbClr val="8FB0B1"/>
                </a:solidFill>
                <a:latin typeface="PingFang SC"/>
                <a:ea typeface="PingFang SC"/>
                <a:cs typeface="PingFang SC"/>
              </a:rPr>
              <a:t>小小河工 · AI+ 公民河流教育计划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6464808"/>
            <a:ext cx="2999232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spc="120">
                <a:solidFill>
                  <a:srgbClr val="8FB0B1"/>
                </a:solidFill>
                <a:latin typeface="PingFang SC"/>
                <a:ea typeface="PingFang SC"/>
                <a:cs typeface="PingFang SC"/>
              </a:rPr>
              <a:t>06 / 06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小小河工 · AI+ 公民河流教育计划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